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331" r:id="rId7"/>
  </p:sldIdLst>
  <p:sldSz cx="9906000" cy="6858000" type="A4"/>
  <p:notesSz cx="6786563" cy="99234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092" y="114"/>
      </p:cViewPr>
      <p:guideLst>
        <p:guide orient="horz" pos="2183"/>
        <p:guide pos="316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sz="2400" dirty="0">
                <a:latin typeface="궁서" panose="02030600000101010101" pitchFamily="18" charset="-127"/>
                <a:ea typeface="궁서" panose="02030600000101010101" pitchFamily="18" charset="-127"/>
              </a:rPr>
              <a:t>연도별 </a:t>
            </a:r>
            <a:r>
              <a:rPr 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1</a:t>
            </a:r>
            <a:r>
              <a:rPr lang="ko-KR" sz="2400" dirty="0">
                <a:latin typeface="궁서" panose="02030600000101010101" pitchFamily="18" charset="-127"/>
                <a:ea typeface="궁서" panose="02030600000101010101" pitchFamily="18" charset="-127"/>
              </a:rPr>
              <a:t>인 가구 현황</a:t>
            </a:r>
            <a:r>
              <a:rPr 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(</a:t>
            </a:r>
            <a:r>
              <a:rPr lang="ko-KR" sz="2400" dirty="0">
                <a:latin typeface="궁서" panose="02030600000101010101" pitchFamily="18" charset="-127"/>
                <a:ea typeface="궁서" panose="02030600000101010101" pitchFamily="18" charset="-127"/>
              </a:rPr>
              <a:t>단위</a:t>
            </a:r>
            <a:r>
              <a:rPr 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:</a:t>
            </a:r>
            <a:r>
              <a:rPr lang="ko-KR" alt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십</a:t>
            </a:r>
            <a:r>
              <a:rPr lang="ko-KR" sz="2400" dirty="0">
                <a:latin typeface="궁서" panose="02030600000101010101" pitchFamily="18" charset="-127"/>
                <a:ea typeface="궁서" panose="02030600000101010101" pitchFamily="18" charset="-127"/>
              </a:rPr>
              <a:t>만가구</a:t>
            </a:r>
            <a:r>
              <a:rPr lang="en-US" sz="2400" dirty="0">
                <a:latin typeface="궁서" panose="02030600000101010101" pitchFamily="18" charset="-127"/>
                <a:ea typeface="궁서" panose="02030600000101010101" pitchFamily="18" charset="-127"/>
              </a:rPr>
              <a:t>, %)</a:t>
            </a:r>
            <a:endParaRPr lang="ko-KR" sz="2400" dirty="0"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1인 가구수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858-4A82-929E-AFEB019D37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2018년</c:v>
                </c:pt>
                <c:pt idx="1">
                  <c:v>2019년</c:v>
                </c:pt>
                <c:pt idx="2">
                  <c:v>2020년</c:v>
                </c:pt>
                <c:pt idx="3">
                  <c:v>2021년</c:v>
                </c:pt>
                <c:pt idx="4">
                  <c:v>2022년</c:v>
                </c:pt>
              </c:strCache>
            </c:strRef>
          </c:cat>
          <c:val>
            <c:numRef>
              <c:f>Sheet1!$B$2:$F$2</c:f>
              <c:numCache>
                <c:formatCode>0.0</c:formatCode>
                <c:ptCount val="5"/>
                <c:pt idx="0">
                  <c:v>58.5</c:v>
                </c:pt>
                <c:pt idx="1">
                  <c:v>61.4</c:v>
                </c:pt>
                <c:pt idx="2">
                  <c:v>66.400000000000006</c:v>
                </c:pt>
                <c:pt idx="3">
                  <c:v>71.599999999999994</c:v>
                </c:pt>
                <c:pt idx="4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612160"/>
        <c:axId val="23259968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1인 가구비율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2018년</c:v>
                </c:pt>
                <c:pt idx="1">
                  <c:v>2019년</c:v>
                </c:pt>
                <c:pt idx="2">
                  <c:v>2020년</c:v>
                </c:pt>
                <c:pt idx="3">
                  <c:v>2021년</c:v>
                </c:pt>
                <c:pt idx="4">
                  <c:v>2022년</c:v>
                </c:pt>
              </c:strCache>
            </c:strRef>
          </c:cat>
          <c:val>
            <c:numRef>
              <c:f>Sheet1!$B$3:$F$3</c:f>
              <c:numCache>
                <c:formatCode>0.0</c:formatCode>
                <c:ptCount val="5"/>
                <c:pt idx="0">
                  <c:v>29.3</c:v>
                </c:pt>
                <c:pt idx="1">
                  <c:v>30.2</c:v>
                </c:pt>
                <c:pt idx="2">
                  <c:v>31.7</c:v>
                </c:pt>
                <c:pt idx="3">
                  <c:v>33.4</c:v>
                </c:pt>
                <c:pt idx="4">
                  <c:v>34.5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603520"/>
        <c:axId val="284132080"/>
      </c:lineChart>
      <c:catAx>
        <c:axId val="23261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599680"/>
        <c:crosses val="autoZero"/>
        <c:auto val="1"/>
        <c:lblAlgn val="ctr"/>
        <c:lblOffset val="100"/>
        <c:noMultiLvlLbl val="0"/>
      </c:catAx>
      <c:valAx>
        <c:axId val="232599680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12160"/>
        <c:crosses val="autoZero"/>
        <c:crossBetween val="between"/>
      </c:valAx>
      <c:valAx>
        <c:axId val="284132080"/>
        <c:scaling>
          <c:orientation val="minMax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03520"/>
        <c:crosses val="max"/>
        <c:crossBetween val="between"/>
        <c:majorUnit val="3"/>
      </c:valAx>
      <c:catAx>
        <c:axId val="232603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13208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75F2DC-D13A-4566-8658-DB4DAA45D8C1}" type="doc">
      <dgm:prSet loTypeId="urn:microsoft.com/office/officeart/2005/8/layout/venn3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951DC17-BE2B-4376-BA53-BAEC99C9D0BE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혼밥</a:t>
          </a:r>
        </a:p>
      </dgm:t>
    </dgm:pt>
    <dgm:pt modelId="{5A27EDB2-3225-4ABB-842B-13111192EADF}" type="parTrans" cxnId="{5FF81350-EE54-4C85-BB58-E693D534E7E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7A4746D-8DF1-4E95-B140-31249225EC6F}" type="sibTrans" cxnId="{5FF81350-EE54-4C85-BB58-E693D534E7EC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D4E0806F-A688-4EDA-A5EF-9EB50C438ADF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홈트</a:t>
          </a:r>
        </a:p>
      </dgm:t>
    </dgm:pt>
    <dgm:pt modelId="{611A6B96-ED09-45A8-B375-92DDD82C6C45}" type="parTrans" cxnId="{6FF3C3E0-143B-4807-BE4F-0BAD10CF5384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7654A6B-F703-4F77-A818-DEA941306F09}" type="sibTrans" cxnId="{6FF3C3E0-143B-4807-BE4F-0BAD10CF5384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84B6908-6863-4DAB-9D97-5A78DDB3036A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혼술</a:t>
          </a:r>
        </a:p>
      </dgm:t>
    </dgm:pt>
    <dgm:pt modelId="{789DA321-DDDA-4354-BDDF-4465BC2C26D2}" type="parTrans" cxnId="{97F51D76-CACB-4944-99FD-A106487BBB55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BB21F00-D5E8-4756-83E1-FF8C7AC111C4}" type="sibTrans" cxnId="{97F51D76-CACB-4944-99FD-A106487BBB55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18DE9BB-45D2-41A1-9744-C3C7AA233CC0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혼영</a:t>
          </a:r>
        </a:p>
      </dgm:t>
    </dgm:pt>
    <dgm:pt modelId="{F0B94B17-F2FB-4EEF-8F78-42155375A6F3}" type="parTrans" cxnId="{8830BF6E-D03D-48FD-AAAE-80233308961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87A8A41-B063-412E-AAFC-64941EA65539}" type="sibTrans" cxnId="{8830BF6E-D03D-48FD-AAAE-80233308961F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7794802-09BE-4D4F-A709-4DFE89CF9AF6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혼놀</a:t>
          </a:r>
        </a:p>
      </dgm:t>
    </dgm:pt>
    <dgm:pt modelId="{97B29F40-4954-4CD7-90D6-007DACA5D84F}" type="parTrans" cxnId="{1ED9E560-CC71-45E9-BB4A-2EB795AE49ED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D906D62-513E-4B68-BBA5-8E1F606C8E89}" type="sibTrans" cxnId="{1ED9E560-CC71-45E9-BB4A-2EB795AE49ED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AB73EDD-5DBF-454E-98F7-4C2C4835C5B1}" type="pres">
      <dgm:prSet presAssocID="{0A75F2DC-D13A-4566-8658-DB4DAA45D8C1}" presName="Name0" presStyleCnt="0">
        <dgm:presLayoutVars>
          <dgm:dir/>
          <dgm:resizeHandles val="exact"/>
        </dgm:presLayoutVars>
      </dgm:prSet>
      <dgm:spPr/>
    </dgm:pt>
    <dgm:pt modelId="{49BE9BAC-C3CA-4D92-8364-9ADD9E9F5C00}" type="pres">
      <dgm:prSet presAssocID="{9951DC17-BE2B-4376-BA53-BAEC99C9D0BE}" presName="Name5" presStyleLbl="vennNode1" presStyleIdx="0" presStyleCnt="5">
        <dgm:presLayoutVars>
          <dgm:bulletEnabled val="1"/>
        </dgm:presLayoutVars>
      </dgm:prSet>
      <dgm:spPr/>
    </dgm:pt>
    <dgm:pt modelId="{840297C2-15B9-4439-B881-6A1733343510}" type="pres">
      <dgm:prSet presAssocID="{67A4746D-8DF1-4E95-B140-31249225EC6F}" presName="space" presStyleCnt="0"/>
      <dgm:spPr/>
    </dgm:pt>
    <dgm:pt modelId="{4140169C-CEFB-4BBC-9CFB-FB70AFAC7A6B}" type="pres">
      <dgm:prSet presAssocID="{D4E0806F-A688-4EDA-A5EF-9EB50C438ADF}" presName="Name5" presStyleLbl="vennNode1" presStyleIdx="1" presStyleCnt="5">
        <dgm:presLayoutVars>
          <dgm:bulletEnabled val="1"/>
        </dgm:presLayoutVars>
      </dgm:prSet>
      <dgm:spPr/>
    </dgm:pt>
    <dgm:pt modelId="{A3791515-EA7D-4F4B-BDC3-8F1B09006D7F}" type="pres">
      <dgm:prSet presAssocID="{27654A6B-F703-4F77-A818-DEA941306F09}" presName="space" presStyleCnt="0"/>
      <dgm:spPr/>
    </dgm:pt>
    <dgm:pt modelId="{CE6D4ACD-F1C8-4C48-92C5-5EE2B51931DB}" type="pres">
      <dgm:prSet presAssocID="{384B6908-6863-4DAB-9D97-5A78DDB3036A}" presName="Name5" presStyleLbl="vennNode1" presStyleIdx="2" presStyleCnt="5">
        <dgm:presLayoutVars>
          <dgm:bulletEnabled val="1"/>
        </dgm:presLayoutVars>
      </dgm:prSet>
      <dgm:spPr/>
    </dgm:pt>
    <dgm:pt modelId="{06E3001F-23EB-45D0-A2B8-AFE1BFCEDA1B}" type="pres">
      <dgm:prSet presAssocID="{BBB21F00-D5E8-4756-83E1-FF8C7AC111C4}" presName="space" presStyleCnt="0"/>
      <dgm:spPr/>
    </dgm:pt>
    <dgm:pt modelId="{959C7EC2-7616-4764-998A-18EAEAFBF85B}" type="pres">
      <dgm:prSet presAssocID="{F18DE9BB-45D2-41A1-9744-C3C7AA233CC0}" presName="Name5" presStyleLbl="vennNode1" presStyleIdx="3" presStyleCnt="5">
        <dgm:presLayoutVars>
          <dgm:bulletEnabled val="1"/>
        </dgm:presLayoutVars>
      </dgm:prSet>
      <dgm:spPr/>
    </dgm:pt>
    <dgm:pt modelId="{F322BAE9-2FFD-421C-B5F7-B4C3DAB2ACB1}" type="pres">
      <dgm:prSet presAssocID="{E87A8A41-B063-412E-AAFC-64941EA65539}" presName="space" presStyleCnt="0"/>
      <dgm:spPr/>
    </dgm:pt>
    <dgm:pt modelId="{85D178DE-9BB1-4635-846E-A45EAA398599}" type="pres">
      <dgm:prSet presAssocID="{17794802-09BE-4D4F-A709-4DFE89CF9AF6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58DC7009-859D-468A-BF2E-89F11B156907}" type="presOf" srcId="{9951DC17-BE2B-4376-BA53-BAEC99C9D0BE}" destId="{49BE9BAC-C3CA-4D92-8364-9ADD9E9F5C00}" srcOrd="0" destOrd="0" presId="urn:microsoft.com/office/officeart/2005/8/layout/venn3"/>
    <dgm:cxn modelId="{1ED9E560-CC71-45E9-BB4A-2EB795AE49ED}" srcId="{0A75F2DC-D13A-4566-8658-DB4DAA45D8C1}" destId="{17794802-09BE-4D4F-A709-4DFE89CF9AF6}" srcOrd="4" destOrd="0" parTransId="{97B29F40-4954-4CD7-90D6-007DACA5D84F}" sibTransId="{2D906D62-513E-4B68-BBA5-8E1F606C8E89}"/>
    <dgm:cxn modelId="{8830BF6E-D03D-48FD-AAAE-80233308961F}" srcId="{0A75F2DC-D13A-4566-8658-DB4DAA45D8C1}" destId="{F18DE9BB-45D2-41A1-9744-C3C7AA233CC0}" srcOrd="3" destOrd="0" parTransId="{F0B94B17-F2FB-4EEF-8F78-42155375A6F3}" sibTransId="{E87A8A41-B063-412E-AAFC-64941EA65539}"/>
    <dgm:cxn modelId="{5FF81350-EE54-4C85-BB58-E693D534E7EC}" srcId="{0A75F2DC-D13A-4566-8658-DB4DAA45D8C1}" destId="{9951DC17-BE2B-4376-BA53-BAEC99C9D0BE}" srcOrd="0" destOrd="0" parTransId="{5A27EDB2-3225-4ABB-842B-13111192EADF}" sibTransId="{67A4746D-8DF1-4E95-B140-31249225EC6F}"/>
    <dgm:cxn modelId="{D9552D52-E6AA-4316-857A-1EF0AAF92E04}" type="presOf" srcId="{17794802-09BE-4D4F-A709-4DFE89CF9AF6}" destId="{85D178DE-9BB1-4635-846E-A45EAA398599}" srcOrd="0" destOrd="0" presId="urn:microsoft.com/office/officeart/2005/8/layout/venn3"/>
    <dgm:cxn modelId="{97F51D76-CACB-4944-99FD-A106487BBB55}" srcId="{0A75F2DC-D13A-4566-8658-DB4DAA45D8C1}" destId="{384B6908-6863-4DAB-9D97-5A78DDB3036A}" srcOrd="2" destOrd="0" parTransId="{789DA321-DDDA-4354-BDDF-4465BC2C26D2}" sibTransId="{BBB21F00-D5E8-4756-83E1-FF8C7AC111C4}"/>
    <dgm:cxn modelId="{A42B5E76-5C5D-46D5-ACE6-B0EE6F14F01C}" type="presOf" srcId="{D4E0806F-A688-4EDA-A5EF-9EB50C438ADF}" destId="{4140169C-CEFB-4BBC-9CFB-FB70AFAC7A6B}" srcOrd="0" destOrd="0" presId="urn:microsoft.com/office/officeart/2005/8/layout/venn3"/>
    <dgm:cxn modelId="{82BEF076-6223-4757-8F7B-17EB4165C101}" type="presOf" srcId="{F18DE9BB-45D2-41A1-9744-C3C7AA233CC0}" destId="{959C7EC2-7616-4764-998A-18EAEAFBF85B}" srcOrd="0" destOrd="0" presId="urn:microsoft.com/office/officeart/2005/8/layout/venn3"/>
    <dgm:cxn modelId="{50A255A3-C41B-4452-9FE2-494FF5B6F740}" type="presOf" srcId="{0A75F2DC-D13A-4566-8658-DB4DAA45D8C1}" destId="{CAB73EDD-5DBF-454E-98F7-4C2C4835C5B1}" srcOrd="0" destOrd="0" presId="urn:microsoft.com/office/officeart/2005/8/layout/venn3"/>
    <dgm:cxn modelId="{CB6A68CB-DE26-44E0-9F78-6C3422715D34}" type="presOf" srcId="{384B6908-6863-4DAB-9D97-5A78DDB3036A}" destId="{CE6D4ACD-F1C8-4C48-92C5-5EE2B51931DB}" srcOrd="0" destOrd="0" presId="urn:microsoft.com/office/officeart/2005/8/layout/venn3"/>
    <dgm:cxn modelId="{6FF3C3E0-143B-4807-BE4F-0BAD10CF5384}" srcId="{0A75F2DC-D13A-4566-8658-DB4DAA45D8C1}" destId="{D4E0806F-A688-4EDA-A5EF-9EB50C438ADF}" srcOrd="1" destOrd="0" parTransId="{611A6B96-ED09-45A8-B375-92DDD82C6C45}" sibTransId="{27654A6B-F703-4F77-A818-DEA941306F09}"/>
    <dgm:cxn modelId="{5BF5F2DC-C81F-4C88-9A43-8FEE3D9ECE75}" type="presParOf" srcId="{CAB73EDD-5DBF-454E-98F7-4C2C4835C5B1}" destId="{49BE9BAC-C3CA-4D92-8364-9ADD9E9F5C00}" srcOrd="0" destOrd="0" presId="urn:microsoft.com/office/officeart/2005/8/layout/venn3"/>
    <dgm:cxn modelId="{D97F0F73-3969-450F-A654-17E237783960}" type="presParOf" srcId="{CAB73EDD-5DBF-454E-98F7-4C2C4835C5B1}" destId="{840297C2-15B9-4439-B881-6A1733343510}" srcOrd="1" destOrd="0" presId="urn:microsoft.com/office/officeart/2005/8/layout/venn3"/>
    <dgm:cxn modelId="{7592D5AB-FB96-41B1-95EE-0BD50B9FD6A1}" type="presParOf" srcId="{CAB73EDD-5DBF-454E-98F7-4C2C4835C5B1}" destId="{4140169C-CEFB-4BBC-9CFB-FB70AFAC7A6B}" srcOrd="2" destOrd="0" presId="urn:microsoft.com/office/officeart/2005/8/layout/venn3"/>
    <dgm:cxn modelId="{95563038-4EE7-4655-9A58-926B8BD6946E}" type="presParOf" srcId="{CAB73EDD-5DBF-454E-98F7-4C2C4835C5B1}" destId="{A3791515-EA7D-4F4B-BDC3-8F1B09006D7F}" srcOrd="3" destOrd="0" presId="urn:microsoft.com/office/officeart/2005/8/layout/venn3"/>
    <dgm:cxn modelId="{B9185038-035E-4E1A-AA23-16AA1E3E06C2}" type="presParOf" srcId="{CAB73EDD-5DBF-454E-98F7-4C2C4835C5B1}" destId="{CE6D4ACD-F1C8-4C48-92C5-5EE2B51931DB}" srcOrd="4" destOrd="0" presId="urn:microsoft.com/office/officeart/2005/8/layout/venn3"/>
    <dgm:cxn modelId="{0B25F29B-955E-4282-8380-F23ABD96D527}" type="presParOf" srcId="{CAB73EDD-5DBF-454E-98F7-4C2C4835C5B1}" destId="{06E3001F-23EB-45D0-A2B8-AFE1BFCEDA1B}" srcOrd="5" destOrd="0" presId="urn:microsoft.com/office/officeart/2005/8/layout/venn3"/>
    <dgm:cxn modelId="{578FD9A4-DA01-46F0-9B23-FA8726BA4F34}" type="presParOf" srcId="{CAB73EDD-5DBF-454E-98F7-4C2C4835C5B1}" destId="{959C7EC2-7616-4764-998A-18EAEAFBF85B}" srcOrd="6" destOrd="0" presId="urn:microsoft.com/office/officeart/2005/8/layout/venn3"/>
    <dgm:cxn modelId="{0F33D04F-E15F-4649-A805-5B277B450542}" type="presParOf" srcId="{CAB73EDD-5DBF-454E-98F7-4C2C4835C5B1}" destId="{F322BAE9-2FFD-421C-B5F7-B4C3DAB2ACB1}" srcOrd="7" destOrd="0" presId="urn:microsoft.com/office/officeart/2005/8/layout/venn3"/>
    <dgm:cxn modelId="{A3E04A48-3C35-45BF-A708-05B76E521007}" type="presParOf" srcId="{CAB73EDD-5DBF-454E-98F7-4C2C4835C5B1}" destId="{85D178DE-9BB1-4635-846E-A45EAA398599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FA35EB-8DC1-4DF5-86A1-0BAFC10D0BEF}" type="doc">
      <dgm:prSet loTypeId="urn:microsoft.com/office/officeart/2005/8/layout/matrix2" loCatId="matrix" qsTypeId="urn:microsoft.com/office/officeart/2005/8/quickstyle/3d5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BDA82E48-910E-47FF-9473-49C3DC3AE11A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이웃단절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77F17F9-5AEF-456E-AAD3-1D83943DBE3B}" type="parTrans" cxnId="{5B2583E6-E07E-4B45-8C5C-58546F312A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C46AC127-0E46-4E98-A18B-1118D9D9621E}" type="sibTrans" cxnId="{5B2583E6-E07E-4B45-8C5C-58546F312A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5BE5800C-20E1-4C02-995E-0DCA467A79CF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낮은출산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85B3B885-569B-44B1-B1F0-DC76DB2967B1}" type="parTrans" cxnId="{48137410-E5EB-410B-86C0-429F3B42CC1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B3F2AE9F-C5EA-4D34-A6DD-5AD77C0F6A19}" type="sibTrans" cxnId="{48137410-E5EB-410B-86C0-429F3B42CC1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1B5284D-E633-44AA-B389-1877743B6170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독거노인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346DD0C-45C0-4E0D-BCA4-38750594D4F6}" type="parTrans" cxnId="{0D257775-30B9-40CF-9AE5-08FA798F3448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73B9D079-5F18-4FF6-B7B2-22867637BCA3}" type="sibTrans" cxnId="{0D257775-30B9-40CF-9AE5-08FA798F3448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FB6B1D6-881D-4180-A2E2-0D4A430581DB}">
      <dgm:prSet phldrT="[텍스트]" custT="1"/>
      <dgm:spPr/>
      <dgm:t>
        <a:bodyPr/>
        <a:lstStyle/>
        <a:p>
          <a:pPr latinLnBrk="1"/>
          <a:r>
            <a:rPr lang="ko-KR" altLang="en-US" sz="18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고독감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0670D85-21D4-49ED-8628-379CDA032057}" type="parTrans" cxnId="{9F6F5397-E5CF-4285-9376-FAA2CCB86BC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934CD54-F46B-4553-B6B0-EFA9E18EB4A1}" type="sibTrans" cxnId="{9F6F5397-E5CF-4285-9376-FAA2CCB86BC4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6200147-8E8B-4969-ADF5-2E74142FCD46}" type="pres">
      <dgm:prSet presAssocID="{DBFA35EB-8DC1-4DF5-86A1-0BAFC10D0BEF}" presName="matrix" presStyleCnt="0">
        <dgm:presLayoutVars>
          <dgm:chMax val="1"/>
          <dgm:dir/>
          <dgm:resizeHandles val="exact"/>
        </dgm:presLayoutVars>
      </dgm:prSet>
      <dgm:spPr/>
    </dgm:pt>
    <dgm:pt modelId="{3D5FF66A-3A9A-40AE-8A2A-4480D2A43927}" type="pres">
      <dgm:prSet presAssocID="{DBFA35EB-8DC1-4DF5-86A1-0BAFC10D0BEF}" presName="axisShape" presStyleLbl="bgShp" presStyleIdx="0" presStyleCnt="1"/>
      <dgm:spPr/>
    </dgm:pt>
    <dgm:pt modelId="{D2243E14-F805-448E-8D2A-14167FEB7243}" type="pres">
      <dgm:prSet presAssocID="{DBFA35EB-8DC1-4DF5-86A1-0BAFC10D0BEF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76BD181-3D7C-4F33-BF6D-3FC9AF602E4C}" type="pres">
      <dgm:prSet presAssocID="{DBFA35EB-8DC1-4DF5-86A1-0BAFC10D0BEF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BEF81B6-2E6B-49FF-A3D4-80F2A5EE2AA5}" type="pres">
      <dgm:prSet presAssocID="{DBFA35EB-8DC1-4DF5-86A1-0BAFC10D0BEF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EDC7C24-0A57-4A5F-B1E1-45FE1FD9D7F7}" type="pres">
      <dgm:prSet presAssocID="{DBFA35EB-8DC1-4DF5-86A1-0BAFC10D0BEF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C6DB503-3341-4431-B5F6-5C822D4C82EB}" type="presOf" srcId="{BDA82E48-910E-47FF-9473-49C3DC3AE11A}" destId="{D2243E14-F805-448E-8D2A-14167FEB7243}" srcOrd="0" destOrd="0" presId="urn:microsoft.com/office/officeart/2005/8/layout/matrix2"/>
    <dgm:cxn modelId="{48137410-E5EB-410B-86C0-429F3B42CC14}" srcId="{DBFA35EB-8DC1-4DF5-86A1-0BAFC10D0BEF}" destId="{5BE5800C-20E1-4C02-995E-0DCA467A79CF}" srcOrd="1" destOrd="0" parTransId="{85B3B885-569B-44B1-B1F0-DC76DB2967B1}" sibTransId="{B3F2AE9F-C5EA-4D34-A6DD-5AD77C0F6A19}"/>
    <dgm:cxn modelId="{BD0DA55C-4924-4B36-BF70-11E16A525917}" type="presOf" srcId="{2FB6B1D6-881D-4180-A2E2-0D4A430581DB}" destId="{EEDC7C24-0A57-4A5F-B1E1-45FE1FD9D7F7}" srcOrd="0" destOrd="0" presId="urn:microsoft.com/office/officeart/2005/8/layout/matrix2"/>
    <dgm:cxn modelId="{4725EC74-5C61-402F-98D7-C12AB77E9680}" type="presOf" srcId="{11B5284D-E633-44AA-B389-1877743B6170}" destId="{1BEF81B6-2E6B-49FF-A3D4-80F2A5EE2AA5}" srcOrd="0" destOrd="0" presId="urn:microsoft.com/office/officeart/2005/8/layout/matrix2"/>
    <dgm:cxn modelId="{0D257775-30B9-40CF-9AE5-08FA798F3448}" srcId="{DBFA35EB-8DC1-4DF5-86A1-0BAFC10D0BEF}" destId="{11B5284D-E633-44AA-B389-1877743B6170}" srcOrd="2" destOrd="0" parTransId="{F346DD0C-45C0-4E0D-BCA4-38750594D4F6}" sibTransId="{73B9D079-5F18-4FF6-B7B2-22867637BCA3}"/>
    <dgm:cxn modelId="{EB7E3077-CAFA-42B1-B447-B13690DE6F54}" type="presOf" srcId="{DBFA35EB-8DC1-4DF5-86A1-0BAFC10D0BEF}" destId="{E6200147-8E8B-4969-ADF5-2E74142FCD46}" srcOrd="0" destOrd="0" presId="urn:microsoft.com/office/officeart/2005/8/layout/matrix2"/>
    <dgm:cxn modelId="{6B8BDE90-B4D4-4EEE-9753-DDF03146E90F}" type="presOf" srcId="{5BE5800C-20E1-4C02-995E-0DCA467A79CF}" destId="{B76BD181-3D7C-4F33-BF6D-3FC9AF602E4C}" srcOrd="0" destOrd="0" presId="urn:microsoft.com/office/officeart/2005/8/layout/matrix2"/>
    <dgm:cxn modelId="{9F6F5397-E5CF-4285-9376-FAA2CCB86BC4}" srcId="{DBFA35EB-8DC1-4DF5-86A1-0BAFC10D0BEF}" destId="{2FB6B1D6-881D-4180-A2E2-0D4A430581DB}" srcOrd="3" destOrd="0" parTransId="{A0670D85-21D4-49ED-8628-379CDA032057}" sibTransId="{3934CD54-F46B-4553-B6B0-EFA9E18EB4A1}"/>
    <dgm:cxn modelId="{5B2583E6-E07E-4B45-8C5C-58546F312A8A}" srcId="{DBFA35EB-8DC1-4DF5-86A1-0BAFC10D0BEF}" destId="{BDA82E48-910E-47FF-9473-49C3DC3AE11A}" srcOrd="0" destOrd="0" parTransId="{B77F17F9-5AEF-456E-AAD3-1D83943DBE3B}" sibTransId="{C46AC127-0E46-4E98-A18B-1118D9D9621E}"/>
    <dgm:cxn modelId="{82B46654-333C-46A5-81A7-E81F9F05763C}" type="presParOf" srcId="{E6200147-8E8B-4969-ADF5-2E74142FCD46}" destId="{3D5FF66A-3A9A-40AE-8A2A-4480D2A43927}" srcOrd="0" destOrd="0" presId="urn:microsoft.com/office/officeart/2005/8/layout/matrix2"/>
    <dgm:cxn modelId="{85F6E92C-76D2-4C54-B025-CC9FE9EED002}" type="presParOf" srcId="{E6200147-8E8B-4969-ADF5-2E74142FCD46}" destId="{D2243E14-F805-448E-8D2A-14167FEB7243}" srcOrd="1" destOrd="0" presId="urn:microsoft.com/office/officeart/2005/8/layout/matrix2"/>
    <dgm:cxn modelId="{8666C8BB-EDA4-4681-AEA0-54FC67C78254}" type="presParOf" srcId="{E6200147-8E8B-4969-ADF5-2E74142FCD46}" destId="{B76BD181-3D7C-4F33-BF6D-3FC9AF602E4C}" srcOrd="2" destOrd="0" presId="urn:microsoft.com/office/officeart/2005/8/layout/matrix2"/>
    <dgm:cxn modelId="{75CA0F42-A93C-4CBA-8FA4-1C712F292EC6}" type="presParOf" srcId="{E6200147-8E8B-4969-ADF5-2E74142FCD46}" destId="{1BEF81B6-2E6B-49FF-A3D4-80F2A5EE2AA5}" srcOrd="3" destOrd="0" presId="urn:microsoft.com/office/officeart/2005/8/layout/matrix2"/>
    <dgm:cxn modelId="{568EB2B2-F7EE-4B45-9ABE-1FCF57300A83}" type="presParOf" srcId="{E6200147-8E8B-4969-ADF5-2E74142FCD46}" destId="{EEDC7C24-0A57-4A5F-B1E1-45FE1FD9D7F7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E9BAC-C3CA-4D92-8364-9ADD9E9F5C00}">
      <dsp:nvSpPr>
        <dsp:cNvPr id="0" name=""/>
        <dsp:cNvSpPr/>
      </dsp:nvSpPr>
      <dsp:spPr>
        <a:xfrm>
          <a:off x="302071" y="205"/>
          <a:ext cx="783712" cy="78371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3130" tIns="22860" rIns="4313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혼밥</a:t>
          </a:r>
        </a:p>
      </dsp:txBody>
      <dsp:txXfrm>
        <a:off x="416843" y="114977"/>
        <a:ext cx="554168" cy="554168"/>
      </dsp:txXfrm>
    </dsp:sp>
    <dsp:sp modelId="{4140169C-CEFB-4BBC-9CFB-FB70AFAC7A6B}">
      <dsp:nvSpPr>
        <dsp:cNvPr id="0" name=""/>
        <dsp:cNvSpPr/>
      </dsp:nvSpPr>
      <dsp:spPr>
        <a:xfrm>
          <a:off x="929041" y="205"/>
          <a:ext cx="783712" cy="78371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3130" tIns="22860" rIns="4313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홈트</a:t>
          </a:r>
        </a:p>
      </dsp:txBody>
      <dsp:txXfrm>
        <a:off x="1043813" y="114977"/>
        <a:ext cx="554168" cy="554168"/>
      </dsp:txXfrm>
    </dsp:sp>
    <dsp:sp modelId="{CE6D4ACD-F1C8-4C48-92C5-5EE2B51931DB}">
      <dsp:nvSpPr>
        <dsp:cNvPr id="0" name=""/>
        <dsp:cNvSpPr/>
      </dsp:nvSpPr>
      <dsp:spPr>
        <a:xfrm>
          <a:off x="1556012" y="205"/>
          <a:ext cx="783712" cy="78371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3130" tIns="22860" rIns="4313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혼술</a:t>
          </a:r>
        </a:p>
      </dsp:txBody>
      <dsp:txXfrm>
        <a:off x="1670784" y="114977"/>
        <a:ext cx="554168" cy="554168"/>
      </dsp:txXfrm>
    </dsp:sp>
    <dsp:sp modelId="{959C7EC2-7616-4764-998A-18EAEAFBF85B}">
      <dsp:nvSpPr>
        <dsp:cNvPr id="0" name=""/>
        <dsp:cNvSpPr/>
      </dsp:nvSpPr>
      <dsp:spPr>
        <a:xfrm>
          <a:off x="2182982" y="205"/>
          <a:ext cx="783712" cy="78371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3130" tIns="22860" rIns="4313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혼영</a:t>
          </a:r>
        </a:p>
      </dsp:txBody>
      <dsp:txXfrm>
        <a:off x="2297754" y="114977"/>
        <a:ext cx="554168" cy="554168"/>
      </dsp:txXfrm>
    </dsp:sp>
    <dsp:sp modelId="{85D178DE-9BB1-4635-846E-A45EAA398599}">
      <dsp:nvSpPr>
        <dsp:cNvPr id="0" name=""/>
        <dsp:cNvSpPr/>
      </dsp:nvSpPr>
      <dsp:spPr>
        <a:xfrm>
          <a:off x="2809952" y="205"/>
          <a:ext cx="783712" cy="78371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3130" tIns="22860" rIns="43130" bIns="2286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혼놀</a:t>
          </a:r>
        </a:p>
      </dsp:txBody>
      <dsp:txXfrm>
        <a:off x="2924724" y="114977"/>
        <a:ext cx="554168" cy="5541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FF66A-3A9A-40AE-8A2A-4480D2A43927}">
      <dsp:nvSpPr>
        <dsp:cNvPr id="0" name=""/>
        <dsp:cNvSpPr/>
      </dsp:nvSpPr>
      <dsp:spPr>
        <a:xfrm>
          <a:off x="472726" y="0"/>
          <a:ext cx="1929228" cy="1929228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43E14-F805-448E-8D2A-14167FEB7243}">
      <dsp:nvSpPr>
        <dsp:cNvPr id="0" name=""/>
        <dsp:cNvSpPr/>
      </dsp:nvSpPr>
      <dsp:spPr>
        <a:xfrm>
          <a:off x="598126" y="125399"/>
          <a:ext cx="771691" cy="7716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이웃단절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635797" y="163070"/>
        <a:ext cx="696349" cy="696349"/>
      </dsp:txXfrm>
    </dsp:sp>
    <dsp:sp modelId="{B76BD181-3D7C-4F33-BF6D-3FC9AF602E4C}">
      <dsp:nvSpPr>
        <dsp:cNvPr id="0" name=""/>
        <dsp:cNvSpPr/>
      </dsp:nvSpPr>
      <dsp:spPr>
        <a:xfrm>
          <a:off x="1504863" y="125399"/>
          <a:ext cx="771691" cy="77169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낮은출산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542534" y="163070"/>
        <a:ext cx="696349" cy="696349"/>
      </dsp:txXfrm>
    </dsp:sp>
    <dsp:sp modelId="{1BEF81B6-2E6B-49FF-A3D4-80F2A5EE2AA5}">
      <dsp:nvSpPr>
        <dsp:cNvPr id="0" name=""/>
        <dsp:cNvSpPr/>
      </dsp:nvSpPr>
      <dsp:spPr>
        <a:xfrm>
          <a:off x="598126" y="1032136"/>
          <a:ext cx="771691" cy="77169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독거노인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635797" y="1069807"/>
        <a:ext cx="696349" cy="696349"/>
      </dsp:txXfrm>
    </dsp:sp>
    <dsp:sp modelId="{EEDC7C24-0A57-4A5F-B1E1-45FE1FD9D7F7}">
      <dsp:nvSpPr>
        <dsp:cNvPr id="0" name=""/>
        <dsp:cNvSpPr/>
      </dsp:nvSpPr>
      <dsp:spPr>
        <a:xfrm>
          <a:off x="1504863" y="1032136"/>
          <a:ext cx="771691" cy="77169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고독감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542534" y="1069807"/>
        <a:ext cx="696349" cy="696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4149" y="0"/>
            <a:ext cx="2940844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1239838"/>
            <a:ext cx="48371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657" y="4775666"/>
            <a:ext cx="542925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4149" y="9425568"/>
            <a:ext cx="2940844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8C72-5831-47B0-9DE4-7055291F8DAD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C188C-AEF5-41BA-8BE7-7F8ECDFB9E2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826A9A-0DBE-0ACF-6568-7C9CB550F00C}"/>
              </a:ext>
            </a:extLst>
          </p:cNvPr>
          <p:cNvSpPr/>
          <p:nvPr userDrawn="1"/>
        </p:nvSpPr>
        <p:spPr>
          <a:xfrm>
            <a:off x="0" y="739043"/>
            <a:ext cx="9906000" cy="365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평행 사변형 7">
            <a:extLst>
              <a:ext uri="{FF2B5EF4-FFF2-40B4-BE49-F238E27FC236}">
                <a16:creationId xmlns:a16="http://schemas.microsoft.com/office/drawing/2014/main" id="{D1D77CFF-0BA7-3DB1-B40E-051882735054}"/>
              </a:ext>
            </a:extLst>
          </p:cNvPr>
          <p:cNvSpPr/>
          <p:nvPr userDrawn="1"/>
        </p:nvSpPr>
        <p:spPr>
          <a:xfrm>
            <a:off x="-1" y="0"/>
            <a:ext cx="8543925" cy="108591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8255"/>
            <a:ext cx="8543924" cy="1085913"/>
          </a:xfrm>
          <a:ln>
            <a:noFill/>
          </a:ln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BB48EFA-6B83-4872-83FD-66FA439CB4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6" y="6133833"/>
            <a:ext cx="1801034" cy="61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250B-E19F-4AD1-A4A4-73E4A8648F81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7AB8-4F8C-4926-A5BB-2C5E3940282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EEDB-E755-4516-902E-0E25DD270D2E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8081-4A06-4CEA-97E5-E6F24F2F4F9A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ysClr val="windowText" lastClr="000000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1EB155-9051-42F9-BE13-C437967780C6}"/>
              </a:ext>
            </a:extLst>
          </p:cNvPr>
          <p:cNvSpPr/>
          <p:nvPr userDrawn="1"/>
        </p:nvSpPr>
        <p:spPr>
          <a:xfrm>
            <a:off x="-1" y="710468"/>
            <a:ext cx="9906000" cy="3651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평행 사변형 6">
            <a:extLst>
              <a:ext uri="{FF2B5EF4-FFF2-40B4-BE49-F238E27FC236}">
                <a16:creationId xmlns:a16="http://schemas.microsoft.com/office/drawing/2014/main" id="{75C407BC-D4D7-47AE-B05D-701BC6DFD521}"/>
              </a:ext>
            </a:extLst>
          </p:cNvPr>
          <p:cNvSpPr/>
          <p:nvPr userDrawn="1"/>
        </p:nvSpPr>
        <p:spPr>
          <a:xfrm>
            <a:off x="681037" y="-10321"/>
            <a:ext cx="8543925" cy="1085914"/>
          </a:xfrm>
          <a:prstGeom prst="parallelogram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A04ED2-B503-430D-91B9-B1E724D14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6" y="6133833"/>
            <a:ext cx="1801034" cy="6135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9525"/>
            <a:ext cx="9906000" cy="1066864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2B65-D37D-446A-8B9A-42C33D21C6AF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AB71-5A72-4654-B713-0DA1346CBB5B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3049-CDA3-4553-B447-179E5E1806D0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0516-3FED-4EAF-B3BB-AD3A4F5610B4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8F79-A23E-4707-8772-9ECD61421F5C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97A36-0F3C-4717-B914-DA0EF682EA43}" type="datetime1">
              <a:rPr lang="ko-KR" altLang="en-US" smtClean="0"/>
              <a:t>2024-04-25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문서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5015725" y="1"/>
            <a:ext cx="4890273" cy="6858000"/>
          </a:xfrm>
          <a:prstGeom prst="flowChartDocumen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97A6E0-01CE-4B30-AF99-E26DAF4BD393}"/>
              </a:ext>
            </a:extLst>
          </p:cNvPr>
          <p:cNvSpPr/>
          <p:nvPr/>
        </p:nvSpPr>
        <p:spPr>
          <a:xfrm>
            <a:off x="402893" y="4090483"/>
            <a:ext cx="7449635" cy="1206982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Chevron">
              <a:avLst/>
            </a:prstTxWarp>
            <a:spAutoFit/>
          </a:bodyPr>
          <a:lstStyle/>
          <a:p>
            <a:pPr algn="ctr"/>
            <a:r>
              <a:rPr lang="en-US" altLang="ko-KR" sz="4800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Single-Person Household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BDFEE58-0D2D-4DBB-B2E3-5C1A8FDADE9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76" y="152618"/>
            <a:ext cx="2111189" cy="6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 도형 21">
            <a:extLst>
              <a:ext uri="{FF2B5EF4-FFF2-40B4-BE49-F238E27FC236}">
                <a16:creationId xmlns:a16="http://schemas.microsoft.com/office/drawing/2014/main" id="{0B8CCCD1-16B4-45E5-A6F1-4A96C38E5A92}"/>
              </a:ext>
            </a:extLst>
          </p:cNvPr>
          <p:cNvSpPr/>
          <p:nvPr/>
        </p:nvSpPr>
        <p:spPr>
          <a:xfrm flipH="1">
            <a:off x="3325208" y="3299482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L 도형 22">
            <a:extLst>
              <a:ext uri="{FF2B5EF4-FFF2-40B4-BE49-F238E27FC236}">
                <a16:creationId xmlns:a16="http://schemas.microsoft.com/office/drawing/2014/main" id="{4A362AAE-054D-4822-8E47-15CCFD791A62}"/>
              </a:ext>
            </a:extLst>
          </p:cNvPr>
          <p:cNvSpPr/>
          <p:nvPr/>
        </p:nvSpPr>
        <p:spPr>
          <a:xfrm flipH="1">
            <a:off x="3325208" y="4528657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E08BC4E0-7067-4F1A-9D55-EEADBC07A18C}"/>
              </a:ext>
            </a:extLst>
          </p:cNvPr>
          <p:cNvSpPr/>
          <p:nvPr/>
        </p:nvSpPr>
        <p:spPr>
          <a:xfrm flipH="1">
            <a:off x="3325208" y="5738357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L 도형 4">
            <a:extLst>
              <a:ext uri="{FF2B5EF4-FFF2-40B4-BE49-F238E27FC236}">
                <a16:creationId xmlns:a16="http://schemas.microsoft.com/office/drawing/2014/main" id="{DC25254D-2A2A-475B-2C48-1E7E0EAD0503}"/>
              </a:ext>
            </a:extLst>
          </p:cNvPr>
          <p:cNvSpPr/>
          <p:nvPr/>
        </p:nvSpPr>
        <p:spPr>
          <a:xfrm flipH="1">
            <a:off x="3306524" y="2090097"/>
            <a:ext cx="5575905" cy="365125"/>
          </a:xfrm>
          <a:prstGeom prst="corner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EAE55-1655-B40C-89EC-7F69220F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09708-829D-3478-73EF-54DB9FE8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CFAF51C2-D1D4-0B2D-4E18-056B1548353B}"/>
              </a:ext>
            </a:extLst>
          </p:cNvPr>
          <p:cNvSpPr/>
          <p:nvPr/>
        </p:nvSpPr>
        <p:spPr>
          <a:xfrm>
            <a:off x="3092386" y="1568532"/>
            <a:ext cx="1294244" cy="88669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8BAB1C8F-9CCB-A28A-57D3-798D64491AA1}"/>
              </a:ext>
            </a:extLst>
          </p:cNvPr>
          <p:cNvSpPr/>
          <p:nvPr/>
        </p:nvSpPr>
        <p:spPr>
          <a:xfrm>
            <a:off x="3092386" y="2777917"/>
            <a:ext cx="1294244" cy="88669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BA92389F-9D77-50B9-E45F-8BF5FAAC72A9}"/>
              </a:ext>
            </a:extLst>
          </p:cNvPr>
          <p:cNvSpPr/>
          <p:nvPr/>
        </p:nvSpPr>
        <p:spPr>
          <a:xfrm>
            <a:off x="3092386" y="3995743"/>
            <a:ext cx="1294244" cy="88669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순서도: 수행의 시작/종료 11">
            <a:extLst>
              <a:ext uri="{FF2B5EF4-FFF2-40B4-BE49-F238E27FC236}">
                <a16:creationId xmlns:a16="http://schemas.microsoft.com/office/drawing/2014/main" id="{BBC2AEA2-6AAC-320D-C41F-5195994F916F}"/>
              </a:ext>
            </a:extLst>
          </p:cNvPr>
          <p:cNvSpPr/>
          <p:nvPr/>
        </p:nvSpPr>
        <p:spPr>
          <a:xfrm>
            <a:off x="3092386" y="5209451"/>
            <a:ext cx="1294244" cy="88669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7E565-B194-55DA-736D-BF425178C657}"/>
              </a:ext>
            </a:extLst>
          </p:cNvPr>
          <p:cNvSpPr txBox="1"/>
          <p:nvPr/>
        </p:nvSpPr>
        <p:spPr>
          <a:xfrm>
            <a:off x="4435979" y="1731267"/>
            <a:ext cx="36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인 가구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B09A5-BB51-97A3-B648-D2196249C3B2}"/>
              </a:ext>
            </a:extLst>
          </p:cNvPr>
          <p:cNvSpPr txBox="1"/>
          <p:nvPr/>
        </p:nvSpPr>
        <p:spPr>
          <a:xfrm>
            <a:off x="4435979" y="2954661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인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가구의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장단점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C2F9D-2C44-1A64-4EDC-D8D9022321F5}"/>
              </a:ext>
            </a:extLst>
          </p:cNvPr>
          <p:cNvSpPr txBox="1"/>
          <p:nvPr/>
        </p:nvSpPr>
        <p:spPr>
          <a:xfrm>
            <a:off x="4435979" y="415538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연도별 변화와 추이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7E2FF-F346-CE47-7E23-E7B4194FF9AE}"/>
              </a:ext>
            </a:extLst>
          </p:cNvPr>
          <p:cNvSpPr txBox="1"/>
          <p:nvPr/>
        </p:nvSpPr>
        <p:spPr>
          <a:xfrm>
            <a:off x="4435979" y="5373589"/>
            <a:ext cx="360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2" action="ppaction://hlinksldjump"/>
              </a:rPr>
              <a:t>라이프 스타일과 트렌드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7A3973E-D8A1-453F-ABB5-F0A2C354B3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29" t="65666" r="4038"/>
          <a:stretch/>
        </p:blipFill>
        <p:spPr>
          <a:xfrm>
            <a:off x="588271" y="1616157"/>
            <a:ext cx="1807703" cy="187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3B84-0899-6BFE-5C83-238BBC69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6CFEC-3E57-99FA-AA41-F5A01CE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1. 1</a:t>
            </a:r>
            <a:r>
              <a:rPr lang="ko-KR" altLang="en-US" dirty="0"/>
              <a:t>인 가구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49B15-472C-5861-6849-6327F010EE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9304" y="1381145"/>
            <a:ext cx="8312150" cy="2238375"/>
          </a:xfrm>
        </p:spPr>
        <p:txBody>
          <a:bodyPr>
            <a:noAutofit/>
          </a:bodyPr>
          <a:lstStyle/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Single</a:t>
            </a:r>
            <a:r>
              <a:rPr lang="en-US" altLang="ko-KR" sz="2400" b="1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-person household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It refers to the living unit</a:t>
            </a:r>
            <a:r>
              <a:rPr lang="ko-KR" altLang="en-US" sz="200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00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that makes a living alone</a:t>
            </a: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00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This is a more simplified form of home, where one person lives in one house or one space</a:t>
            </a:r>
          </a:p>
          <a:p>
            <a:pPr marL="809625" lvl="1" indent="-352425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5DB4C9-BFAB-7EBA-9244-28FDB8C19890}"/>
              </a:ext>
            </a:extLst>
          </p:cNvPr>
          <p:cNvSpPr txBox="1">
            <a:spLocks/>
          </p:cNvSpPr>
          <p:nvPr/>
        </p:nvSpPr>
        <p:spPr>
          <a:xfrm>
            <a:off x="669304" y="3746447"/>
            <a:ext cx="6725180" cy="223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인 가구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한 명으로 구성된 생활 단위로</a:t>
            </a: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,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혼자서 생계를 유지하고 있는 단순화된 형태의 가구로 한 집 또는 하나의 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공간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에 </a:t>
            </a: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인이 생활하는 것을 </a:t>
            </a: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의미함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AA71D4BF-A0D1-ED5E-5C9C-F699787832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50235" y="4413951"/>
            <a:ext cx="1787380" cy="13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카드 5">
            <a:extLst>
              <a:ext uri="{FF2B5EF4-FFF2-40B4-BE49-F238E27FC236}">
                <a16:creationId xmlns:a16="http://schemas.microsoft.com/office/drawing/2014/main" id="{166EE601-2246-7167-DCE2-9D5015902333}"/>
              </a:ext>
            </a:extLst>
          </p:cNvPr>
          <p:cNvSpPr/>
          <p:nvPr/>
        </p:nvSpPr>
        <p:spPr>
          <a:xfrm>
            <a:off x="502126" y="2529533"/>
            <a:ext cx="1348510" cy="2272140"/>
          </a:xfrm>
          <a:prstGeom prst="flowChartPunchedCard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장점</a:t>
            </a:r>
          </a:p>
        </p:txBody>
      </p:sp>
      <p:sp>
        <p:nvSpPr>
          <p:cNvPr id="7" name="순서도: 카드 6">
            <a:extLst>
              <a:ext uri="{FF2B5EF4-FFF2-40B4-BE49-F238E27FC236}">
                <a16:creationId xmlns:a16="http://schemas.microsoft.com/office/drawing/2014/main" id="{58BCB60F-9E12-5B78-52FC-3FD724834027}"/>
              </a:ext>
            </a:extLst>
          </p:cNvPr>
          <p:cNvSpPr/>
          <p:nvPr/>
        </p:nvSpPr>
        <p:spPr>
          <a:xfrm>
            <a:off x="502383" y="4802201"/>
            <a:ext cx="1348510" cy="1126310"/>
          </a:xfrm>
          <a:prstGeom prst="flowChartPunchedCard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단점</a:t>
            </a: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A663AF94-7F68-4AA8-8417-5F7D33FA7D6F}"/>
              </a:ext>
            </a:extLst>
          </p:cNvPr>
          <p:cNvSpPr/>
          <p:nvPr/>
        </p:nvSpPr>
        <p:spPr>
          <a:xfrm flipH="1">
            <a:off x="1842025" y="1635513"/>
            <a:ext cx="2430000" cy="900000"/>
          </a:xfrm>
          <a:prstGeom prst="snip1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사다리꼴 9">
            <a:extLst>
              <a:ext uri="{FF2B5EF4-FFF2-40B4-BE49-F238E27FC236}">
                <a16:creationId xmlns:a16="http://schemas.microsoft.com/office/drawing/2014/main" id="{EFC4D75C-26F8-F756-665D-01C1805E2BF8}"/>
              </a:ext>
            </a:extLst>
          </p:cNvPr>
          <p:cNvSpPr/>
          <p:nvPr/>
        </p:nvSpPr>
        <p:spPr>
          <a:xfrm>
            <a:off x="1842025" y="1635513"/>
            <a:ext cx="2430000" cy="900000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경제적 측면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585E4FAD-79CF-2030-AFFA-6BA7BB9FFA5F}"/>
              </a:ext>
            </a:extLst>
          </p:cNvPr>
          <p:cNvSpPr/>
          <p:nvPr/>
        </p:nvSpPr>
        <p:spPr>
          <a:xfrm flipH="1">
            <a:off x="4272161" y="1635513"/>
            <a:ext cx="2660400" cy="900000"/>
          </a:xfrm>
          <a:prstGeom prst="snip1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9A85E24D-FFDE-02B6-0A1A-509049CA026A}"/>
              </a:ext>
            </a:extLst>
          </p:cNvPr>
          <p:cNvSpPr/>
          <p:nvPr/>
        </p:nvSpPr>
        <p:spPr>
          <a:xfrm flipH="1">
            <a:off x="6930255" y="1635513"/>
            <a:ext cx="2498400" cy="900000"/>
          </a:xfrm>
          <a:prstGeom prst="snip1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436BD869-B344-859E-AEC4-8A857CA27DE7}"/>
              </a:ext>
            </a:extLst>
          </p:cNvPr>
          <p:cNvSpPr/>
          <p:nvPr/>
        </p:nvSpPr>
        <p:spPr>
          <a:xfrm>
            <a:off x="4272161" y="1635513"/>
            <a:ext cx="2660400" cy="900000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문화적 측면</a:t>
            </a:r>
          </a:p>
        </p:txBody>
      </p:sp>
      <p:sp>
        <p:nvSpPr>
          <p:cNvPr id="14" name="사다리꼴 13">
            <a:extLst>
              <a:ext uri="{FF2B5EF4-FFF2-40B4-BE49-F238E27FC236}">
                <a16:creationId xmlns:a16="http://schemas.microsoft.com/office/drawing/2014/main" id="{427F0615-2137-181F-AC22-56501B20CEDD}"/>
              </a:ext>
            </a:extLst>
          </p:cNvPr>
          <p:cNvSpPr/>
          <p:nvPr/>
        </p:nvSpPr>
        <p:spPr>
          <a:xfrm>
            <a:off x="6930255" y="1635513"/>
            <a:ext cx="2498400" cy="900000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가정</a:t>
            </a:r>
            <a:r>
              <a: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사회적</a:t>
            </a:r>
            <a:endParaRPr lang="en-US" altLang="ko-KR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측면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692DB-F183-5CBB-4028-87C9ABCD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C547CE-9FBE-21FA-A1EE-2B5D47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2. 1</a:t>
            </a:r>
            <a:r>
              <a:rPr lang="ko-KR" altLang="en-US" dirty="0"/>
              <a:t>인 가구의 장단점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12E93-4EF5-0754-8D8B-8A4A12D2AC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329383529"/>
              </p:ext>
            </p:extLst>
          </p:nvPr>
        </p:nvGraphicFramePr>
        <p:xfrm>
          <a:off x="1850636" y="2538413"/>
          <a:ext cx="7589664" cy="338974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431283">
                  <a:extLst>
                    <a:ext uri="{9D8B030D-6E8A-4147-A177-3AD203B41FA5}">
                      <a16:colId xmlns:a16="http://schemas.microsoft.com/office/drawing/2014/main" val="3405079074"/>
                    </a:ext>
                  </a:extLst>
                </a:gridCol>
                <a:gridCol w="2659589">
                  <a:extLst>
                    <a:ext uri="{9D8B030D-6E8A-4147-A177-3AD203B41FA5}">
                      <a16:colId xmlns:a16="http://schemas.microsoft.com/office/drawing/2014/main" val="3337649278"/>
                    </a:ext>
                  </a:extLst>
                </a:gridCol>
                <a:gridCol w="2498792">
                  <a:extLst>
                    <a:ext uri="{9D8B030D-6E8A-4147-A177-3AD203B41FA5}">
                      <a16:colId xmlns:a16="http://schemas.microsoft.com/office/drawing/2014/main" val="1742915524"/>
                    </a:ext>
                  </a:extLst>
                </a:gridCol>
              </a:tblGrid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출근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퇴근 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시간의 절약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자유로운 생활 등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다양성 존재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주거 공간의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자율성                                     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716863"/>
                  </a:ext>
                </a:extLst>
              </a:tr>
              <a:tr h="11299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생활의 편의성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문화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취미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여가 활용을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통한 자기 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독립성 유지를 통한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사생활 보장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14828"/>
                  </a:ext>
                </a:extLst>
              </a:tr>
              <a:tr h="564957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주거비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외식비 등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경제적 부담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개인주의 확대 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가족 가치의 약화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487"/>
                  </a:ext>
                </a:extLst>
              </a:tr>
              <a:tr h="56495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자기관리의 어려움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보안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안전성 우려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45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45944-D6CC-D1C6-03A2-5686FC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7C9B8D-A3FB-9756-FA33-5FA8FE4B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연도별 변화와 추이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7D39E297-7A42-BC49-AADC-54A219ED11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16243706"/>
              </p:ext>
            </p:extLst>
          </p:nvPr>
        </p:nvGraphicFramePr>
        <p:xfrm>
          <a:off x="565608" y="1554163"/>
          <a:ext cx="8845583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화살표: 줄무늬가 있는 오른쪽 12">
            <a:extLst>
              <a:ext uri="{FF2B5EF4-FFF2-40B4-BE49-F238E27FC236}">
                <a16:creationId xmlns:a16="http://schemas.microsoft.com/office/drawing/2014/main" id="{2960FB6A-DF75-F1A8-DE4A-7F126BDF61E5}"/>
              </a:ext>
            </a:extLst>
          </p:cNvPr>
          <p:cNvSpPr/>
          <p:nvPr/>
        </p:nvSpPr>
        <p:spPr>
          <a:xfrm>
            <a:off x="3166252" y="2154481"/>
            <a:ext cx="2167748" cy="755605"/>
          </a:xfrm>
          <a:prstGeom prst="striped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지속적으로 증가</a:t>
            </a:r>
          </a:p>
        </p:txBody>
      </p:sp>
    </p:spTree>
    <p:extLst>
      <p:ext uri="{BB962C8B-B14F-4D97-AF65-F5344CB8AC3E}">
        <p14:creationId xmlns:p14="http://schemas.microsoft.com/office/powerpoint/2010/main" val="17317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9A021C-AA7F-485E-BC7A-78EAB059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50720B7-A8A5-41FF-99E1-BF0C94BA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라이프 스타일과 트렌드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D5675A6-D105-C730-C5F7-758FB898A177}"/>
              </a:ext>
            </a:extLst>
          </p:cNvPr>
          <p:cNvGrpSpPr/>
          <p:nvPr/>
        </p:nvGrpSpPr>
        <p:grpSpPr>
          <a:xfrm>
            <a:off x="544892" y="1440189"/>
            <a:ext cx="4286280" cy="4429156"/>
            <a:chOff x="544892" y="1440189"/>
            <a:chExt cx="4286280" cy="4429156"/>
          </a:xfrm>
        </p:grpSpPr>
        <p:sp>
          <p:nvSpPr>
            <p:cNvPr id="38" name="한쪽 모서리는 잘리고 다른 쪽 모서리는 둥근 사각형 5">
              <a:extLst>
                <a:ext uri="{FF2B5EF4-FFF2-40B4-BE49-F238E27FC236}">
                  <a16:creationId xmlns:a16="http://schemas.microsoft.com/office/drawing/2014/main" id="{76F10656-6CC5-45FC-AB76-6B9E5BF8B124}"/>
                </a:ext>
              </a:extLst>
            </p:cNvPr>
            <p:cNvSpPr/>
            <p:nvPr/>
          </p:nvSpPr>
          <p:spPr>
            <a:xfrm flipH="1">
              <a:off x="544892" y="1440189"/>
              <a:ext cx="4286280" cy="4429156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5" name="설명선: 오른쪽 화살표 54">
              <a:extLst>
                <a:ext uri="{FF2B5EF4-FFF2-40B4-BE49-F238E27FC236}">
                  <a16:creationId xmlns:a16="http://schemas.microsoft.com/office/drawing/2014/main" id="{6E1C8A12-3E12-40E9-AE7B-E6B5B360410C}"/>
                </a:ext>
              </a:extLst>
            </p:cNvPr>
            <p:cNvSpPr/>
            <p:nvPr/>
          </p:nvSpPr>
          <p:spPr>
            <a:xfrm>
              <a:off x="809712" y="1578841"/>
              <a:ext cx="648549" cy="1886672"/>
            </a:xfrm>
            <a:prstGeom prst="rightArrowCallou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라이프스타일</a:t>
              </a:r>
            </a:p>
          </p:txBody>
        </p:sp>
        <p:sp>
          <p:nvSpPr>
            <p:cNvPr id="56" name="배지 55">
              <a:extLst>
                <a:ext uri="{FF2B5EF4-FFF2-40B4-BE49-F238E27FC236}">
                  <a16:creationId xmlns:a16="http://schemas.microsoft.com/office/drawing/2014/main" id="{D07B6F1D-CA1C-4DCE-A869-CDDFEAF8A3F9}"/>
                </a:ext>
              </a:extLst>
            </p:cNvPr>
            <p:cNvSpPr/>
            <p:nvPr/>
          </p:nvSpPr>
          <p:spPr>
            <a:xfrm>
              <a:off x="711325" y="3662142"/>
              <a:ext cx="3953414" cy="2059201"/>
            </a:xfrm>
            <a:prstGeom prst="plaque">
              <a:avLst>
                <a:gd name="adj" fmla="val 12051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7" name="순서도: 지연 56">
              <a:extLst>
                <a:ext uri="{FF2B5EF4-FFF2-40B4-BE49-F238E27FC236}">
                  <a16:creationId xmlns:a16="http://schemas.microsoft.com/office/drawing/2014/main" id="{3B84F6D5-B57E-4569-9283-977E693BF64F}"/>
                </a:ext>
              </a:extLst>
            </p:cNvPr>
            <p:cNvSpPr/>
            <p:nvPr/>
          </p:nvSpPr>
          <p:spPr>
            <a:xfrm flipH="1">
              <a:off x="3219340" y="2726734"/>
              <a:ext cx="1401860" cy="634600"/>
            </a:xfrm>
            <a:prstGeom prst="flowChartDelay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생활용품시장 확대</a:t>
              </a:r>
            </a:p>
          </p:txBody>
        </p:sp>
        <p:sp>
          <p:nvSpPr>
            <p:cNvPr id="58" name="순서도: 지연 57">
              <a:extLst>
                <a:ext uri="{FF2B5EF4-FFF2-40B4-BE49-F238E27FC236}">
                  <a16:creationId xmlns:a16="http://schemas.microsoft.com/office/drawing/2014/main" id="{94A599EA-0AFF-4BF9-A698-DCDA4FE8A3F6}"/>
                </a:ext>
              </a:extLst>
            </p:cNvPr>
            <p:cNvSpPr/>
            <p:nvPr/>
          </p:nvSpPr>
          <p:spPr>
            <a:xfrm>
              <a:off x="1516522" y="2743226"/>
              <a:ext cx="1401860" cy="601616"/>
            </a:xfrm>
            <a:prstGeom prst="flowChartDelay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레토르트 식품 증가</a:t>
              </a:r>
            </a:p>
          </p:txBody>
        </p:sp>
        <p:sp>
          <p:nvSpPr>
            <p:cNvPr id="59" name="구름 58">
              <a:extLst>
                <a:ext uri="{FF2B5EF4-FFF2-40B4-BE49-F238E27FC236}">
                  <a16:creationId xmlns:a16="http://schemas.microsoft.com/office/drawing/2014/main" id="{D7F8C2CA-FC85-4E58-AB76-C27D7EB3CD09}"/>
                </a:ext>
              </a:extLst>
            </p:cNvPr>
            <p:cNvSpPr/>
            <p:nvPr/>
          </p:nvSpPr>
          <p:spPr>
            <a:xfrm>
              <a:off x="823089" y="3900258"/>
              <a:ext cx="1346924" cy="591336"/>
            </a:xfrm>
            <a:prstGeom prst="cloud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워라밸</a:t>
              </a:r>
            </a:p>
          </p:txBody>
        </p:sp>
        <p:sp>
          <p:nvSpPr>
            <p:cNvPr id="60" name="설명선: 왼쪽/오른쪽 화살표 59">
              <a:extLst>
                <a:ext uri="{FF2B5EF4-FFF2-40B4-BE49-F238E27FC236}">
                  <a16:creationId xmlns:a16="http://schemas.microsoft.com/office/drawing/2014/main" id="{0226D177-5E48-43A2-A5EB-7A8AA6F36E82}"/>
                </a:ext>
              </a:extLst>
            </p:cNvPr>
            <p:cNvSpPr/>
            <p:nvPr/>
          </p:nvSpPr>
          <p:spPr>
            <a:xfrm>
              <a:off x="2014570" y="4151971"/>
              <a:ext cx="1346924" cy="851781"/>
            </a:xfrm>
            <a:prstGeom prst="leftRightArrowCallout">
              <a:avLst>
                <a:gd name="adj1" fmla="val 50000"/>
                <a:gd name="adj2" fmla="val 25000"/>
                <a:gd name="adj3" fmla="val 25000"/>
                <a:gd name="adj4" fmla="val 4812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가치소비</a:t>
              </a:r>
            </a:p>
          </p:txBody>
        </p:sp>
        <p:sp>
          <p:nvSpPr>
            <p:cNvPr id="61" name="순서도: 순차적 액세스 저장소 60">
              <a:extLst>
                <a:ext uri="{FF2B5EF4-FFF2-40B4-BE49-F238E27FC236}">
                  <a16:creationId xmlns:a16="http://schemas.microsoft.com/office/drawing/2014/main" id="{44353E44-A6B7-4FE5-AEFA-4EF9531D00C9}"/>
                </a:ext>
              </a:extLst>
            </p:cNvPr>
            <p:cNvSpPr/>
            <p:nvPr/>
          </p:nvSpPr>
          <p:spPr>
            <a:xfrm rot="20632613">
              <a:off x="3485927" y="3951797"/>
              <a:ext cx="956352" cy="488259"/>
            </a:xfrm>
            <a:prstGeom prst="flowChartMagneticTap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욜로</a:t>
              </a:r>
            </a:p>
          </p:txBody>
        </p:sp>
        <p:sp>
          <p:nvSpPr>
            <p:cNvPr id="63" name="팔각형 62">
              <a:extLst>
                <a:ext uri="{FF2B5EF4-FFF2-40B4-BE49-F238E27FC236}">
                  <a16:creationId xmlns:a16="http://schemas.microsoft.com/office/drawing/2014/main" id="{83221D16-2D0B-4A36-A55B-FC0C8B3B6C64}"/>
                </a:ext>
              </a:extLst>
            </p:cNvPr>
            <p:cNvSpPr/>
            <p:nvPr/>
          </p:nvSpPr>
          <p:spPr>
            <a:xfrm flipH="1">
              <a:off x="823089" y="4667297"/>
              <a:ext cx="1270584" cy="441048"/>
            </a:xfrm>
            <a:prstGeom prst="octagon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소확행</a:t>
              </a:r>
            </a:p>
          </p:txBody>
        </p:sp>
        <p:sp>
          <p:nvSpPr>
            <p:cNvPr id="64" name="사각형: 잘린 위쪽 모서리 63">
              <a:extLst>
                <a:ext uri="{FF2B5EF4-FFF2-40B4-BE49-F238E27FC236}">
                  <a16:creationId xmlns:a16="http://schemas.microsoft.com/office/drawing/2014/main" id="{50858DAA-5095-4C34-9640-124D9C791868}"/>
                </a:ext>
              </a:extLst>
            </p:cNvPr>
            <p:cNvSpPr/>
            <p:nvPr/>
          </p:nvSpPr>
          <p:spPr>
            <a:xfrm flipH="1">
              <a:off x="1603222" y="5244947"/>
              <a:ext cx="2174993" cy="388558"/>
            </a:xfrm>
            <a:prstGeom prst="snip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물리적 웰빙</a:t>
              </a:r>
            </a:p>
          </p:txBody>
        </p:sp>
        <p:sp>
          <p:nvSpPr>
            <p:cNvPr id="65" name="사다리꼴 64">
              <a:extLst>
                <a:ext uri="{FF2B5EF4-FFF2-40B4-BE49-F238E27FC236}">
                  <a16:creationId xmlns:a16="http://schemas.microsoft.com/office/drawing/2014/main" id="{E36B5F12-37C2-42A7-B564-39D9D952FD4E}"/>
                </a:ext>
              </a:extLst>
            </p:cNvPr>
            <p:cNvSpPr/>
            <p:nvPr/>
          </p:nvSpPr>
          <p:spPr>
            <a:xfrm>
              <a:off x="1724306" y="1821854"/>
              <a:ext cx="2686673" cy="601616"/>
            </a:xfrm>
            <a:prstGeom prst="trapezoid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콤팩트형 주택</a:t>
              </a:r>
            </a:p>
          </p:txBody>
        </p:sp>
        <p:cxnSp>
          <p:nvCxnSpPr>
            <p:cNvPr id="68" name="직선 화살표 연결선 67">
              <a:extLst>
                <a:ext uri="{FF2B5EF4-FFF2-40B4-BE49-F238E27FC236}">
                  <a16:creationId xmlns:a16="http://schemas.microsoft.com/office/drawing/2014/main" id="{DA0385B5-3DE4-4C92-A51F-FB5B12A30072}"/>
                </a:ext>
              </a:extLst>
            </p:cNvPr>
            <p:cNvCxnSpPr>
              <a:cxnSpLocks/>
              <a:stCxn id="58" idx="3"/>
              <a:endCxn id="57" idx="3"/>
            </p:cNvCxnSpPr>
            <p:nvPr/>
          </p:nvCxnSpPr>
          <p:spPr>
            <a:xfrm>
              <a:off x="2918382" y="3044034"/>
              <a:ext cx="30095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순서도: 문서 113">
              <a:extLst>
                <a:ext uri="{FF2B5EF4-FFF2-40B4-BE49-F238E27FC236}">
                  <a16:creationId xmlns:a16="http://schemas.microsoft.com/office/drawing/2014/main" id="{7A6BFCE5-A0A3-42DF-A312-CF7DAAB21449}"/>
                </a:ext>
              </a:extLst>
            </p:cNvPr>
            <p:cNvSpPr/>
            <p:nvPr/>
          </p:nvSpPr>
          <p:spPr>
            <a:xfrm>
              <a:off x="3485927" y="4643692"/>
              <a:ext cx="956352" cy="488259"/>
            </a:xfrm>
            <a:prstGeom prst="flowChartDocumen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싱글턴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45CF5C6-1C65-8925-7A9D-42E7D85A76AE}"/>
              </a:ext>
            </a:extLst>
          </p:cNvPr>
          <p:cNvGrpSpPr/>
          <p:nvPr/>
        </p:nvGrpSpPr>
        <p:grpSpPr>
          <a:xfrm>
            <a:off x="5105926" y="1440189"/>
            <a:ext cx="4286280" cy="4429156"/>
            <a:chOff x="5105926" y="1440189"/>
            <a:chExt cx="4286280" cy="4429156"/>
          </a:xfrm>
        </p:grpSpPr>
        <p:sp>
          <p:nvSpPr>
            <p:cNvPr id="6" name="한쪽 모서리는 잘리고 다른 쪽 모서리는 둥근 사각형 4">
              <a:extLst>
                <a:ext uri="{FF2B5EF4-FFF2-40B4-BE49-F238E27FC236}">
                  <a16:creationId xmlns:a16="http://schemas.microsoft.com/office/drawing/2014/main" id="{C04601DA-5DCC-4A34-80C7-BE7E4A1EC962}"/>
                </a:ext>
              </a:extLst>
            </p:cNvPr>
            <p:cNvSpPr/>
            <p:nvPr/>
          </p:nvSpPr>
          <p:spPr>
            <a:xfrm flipH="1" flipV="1">
              <a:off x="5105926" y="1440189"/>
              <a:ext cx="4286280" cy="4429156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1" name="십자형 120">
              <a:extLst>
                <a:ext uri="{FF2B5EF4-FFF2-40B4-BE49-F238E27FC236}">
                  <a16:creationId xmlns:a16="http://schemas.microsoft.com/office/drawing/2014/main" id="{C288788A-27AC-40AD-94D2-08A8C3C0C96C}"/>
                </a:ext>
              </a:extLst>
            </p:cNvPr>
            <p:cNvSpPr/>
            <p:nvPr/>
          </p:nvSpPr>
          <p:spPr>
            <a:xfrm>
              <a:off x="5272359" y="2068905"/>
              <a:ext cx="3953414" cy="1051769"/>
            </a:xfrm>
            <a:prstGeom prst="plus">
              <a:avLst>
                <a:gd name="adj" fmla="val 2086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33" name="오각형 32">
              <a:extLst>
                <a:ext uri="{FF2B5EF4-FFF2-40B4-BE49-F238E27FC236}">
                  <a16:creationId xmlns:a16="http://schemas.microsoft.com/office/drawing/2014/main" id="{C6F49D80-E91D-4D42-88DF-763E4E023094}"/>
                </a:ext>
              </a:extLst>
            </p:cNvPr>
            <p:cNvSpPr/>
            <p:nvPr/>
          </p:nvSpPr>
          <p:spPr>
            <a:xfrm flipV="1">
              <a:off x="6030565" y="3281255"/>
              <a:ext cx="2455685" cy="496857"/>
            </a:xfrm>
            <a:prstGeom prst="pentagon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graphicFrame>
          <p:nvGraphicFramePr>
            <p:cNvPr id="35" name="다이어그램 34">
              <a:extLst>
                <a:ext uri="{FF2B5EF4-FFF2-40B4-BE49-F238E27FC236}">
                  <a16:creationId xmlns:a16="http://schemas.microsoft.com/office/drawing/2014/main" id="{83CBDD81-0548-4E79-84A0-CB142093EBD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29233222"/>
                </p:ext>
              </p:extLst>
            </p:nvPr>
          </p:nvGraphicFramePr>
          <p:xfrm>
            <a:off x="5301198" y="2216245"/>
            <a:ext cx="3895737" cy="78412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6" name="다이어그램 35">
              <a:extLst>
                <a:ext uri="{FF2B5EF4-FFF2-40B4-BE49-F238E27FC236}">
                  <a16:creationId xmlns:a16="http://schemas.microsoft.com/office/drawing/2014/main" id="{D6748963-4393-4305-A005-0DC6AC3841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94360524"/>
                </p:ext>
              </p:extLst>
            </p:nvPr>
          </p:nvGraphicFramePr>
          <p:xfrm>
            <a:off x="5811725" y="3823369"/>
            <a:ext cx="2874682" cy="192922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37" name="오각형 10">
              <a:extLst>
                <a:ext uri="{FF2B5EF4-FFF2-40B4-BE49-F238E27FC236}">
                  <a16:creationId xmlns:a16="http://schemas.microsoft.com/office/drawing/2014/main" id="{FE2F65EC-B641-4796-860F-E622A5184673}"/>
                </a:ext>
              </a:extLst>
            </p:cNvPr>
            <p:cNvSpPr/>
            <p:nvPr/>
          </p:nvSpPr>
          <p:spPr>
            <a:xfrm>
              <a:off x="5331295" y="4872059"/>
              <a:ext cx="964659" cy="647465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사회제도</a:t>
              </a:r>
            </a:p>
          </p:txBody>
        </p:sp>
        <p:sp>
          <p:nvSpPr>
            <p:cNvPr id="39" name="육각형 38">
              <a:extLst>
                <a:ext uri="{FF2B5EF4-FFF2-40B4-BE49-F238E27FC236}">
                  <a16:creationId xmlns:a16="http://schemas.microsoft.com/office/drawing/2014/main" id="{9081550F-FD19-438E-AC3A-9E1F5388091B}"/>
                </a:ext>
              </a:extLst>
            </p:cNvPr>
            <p:cNvSpPr/>
            <p:nvPr/>
          </p:nvSpPr>
          <p:spPr>
            <a:xfrm>
              <a:off x="6021224" y="1529361"/>
              <a:ext cx="2455685" cy="348495"/>
            </a:xfrm>
            <a:prstGeom prst="hexagon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라이프 트렌드</a:t>
              </a:r>
            </a:p>
          </p:txBody>
        </p:sp>
        <p:sp>
          <p:nvSpPr>
            <p:cNvPr id="40" name="오각형 10">
              <a:extLst>
                <a:ext uri="{FF2B5EF4-FFF2-40B4-BE49-F238E27FC236}">
                  <a16:creationId xmlns:a16="http://schemas.microsoft.com/office/drawing/2014/main" id="{9F8AE49F-7E32-43A4-9110-2BF2341C807E}"/>
                </a:ext>
              </a:extLst>
            </p:cNvPr>
            <p:cNvSpPr/>
            <p:nvPr/>
          </p:nvSpPr>
          <p:spPr>
            <a:xfrm flipH="1">
              <a:off x="8206234" y="4872059"/>
              <a:ext cx="964659" cy="647465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관심 필요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174BD32-1097-42A7-9882-682382A36D01}"/>
                </a:ext>
              </a:extLst>
            </p:cNvPr>
            <p:cNvSpPr txBox="1"/>
            <p:nvPr/>
          </p:nvSpPr>
          <p:spPr>
            <a:xfrm>
              <a:off x="6174497" y="3315201"/>
              <a:ext cx="21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굴림" panose="020B0600000101010101" pitchFamily="50" charset="-127"/>
                  <a:ea typeface="굴림" panose="020B0600000101010101" pitchFamily="50" charset="-127"/>
                </a:rPr>
                <a:t>1</a:t>
              </a:r>
              <a:r>
                <a:rPr lang="ko-KR" altLang="en-US" dirty="0">
                  <a:latin typeface="굴림" panose="020B0600000101010101" pitchFamily="50" charset="-127"/>
                  <a:ea typeface="굴림" panose="020B0600000101010101" pitchFamily="50" charset="-127"/>
                </a:rPr>
                <a:t>인 가구의 그림자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367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660</TotalTime>
  <Words>206</Words>
  <Application>Microsoft Office PowerPoint</Application>
  <PresentationFormat>A4 용지(210x297mm)</PresentationFormat>
  <Paragraphs>72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1. 1인 가구</vt:lpstr>
      <vt:lpstr>2. 1인 가구의 장단점</vt:lpstr>
      <vt:lpstr>3. 연도별 변화와 추이</vt:lpstr>
      <vt:lpstr>4. 라이프 스타일과 트렌드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96</cp:revision>
  <cp:lastPrinted>2023-09-30T02:28:48Z</cp:lastPrinted>
  <dcterms:created xsi:type="dcterms:W3CDTF">2023-07-20T02:58:21Z</dcterms:created>
  <dcterms:modified xsi:type="dcterms:W3CDTF">2024-04-25T04:36:57Z</dcterms:modified>
</cp:coreProperties>
</file>