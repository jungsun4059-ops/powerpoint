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v" ContentType="video/x-ms-wmv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5758FB7-9AC5-4552-8A53-C91805E547FA}" styleName="테마 스타일 1 - 강조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11" d="100"/>
          <a:sy n="111" d="100"/>
        </p:scale>
        <p:origin x="1386" y="114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1" i="0" u="none" strike="noStrike" kern="1200" spc="0" baseline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  <a:cs typeface="+mn-cs"/>
              </a:defRPr>
            </a:pPr>
            <a:r>
              <a:rPr lang="ko-KR" sz="2400" b="1">
                <a:latin typeface="궁서" panose="02030600000101010101" pitchFamily="18" charset="-127"/>
                <a:ea typeface="궁서" panose="02030600000101010101" pitchFamily="18" charset="-127"/>
              </a:rPr>
              <a:t>지속가능채권 발행 현황</a:t>
            </a:r>
          </a:p>
        </c:rich>
      </c:tx>
      <c:overlay val="0"/>
      <c:spPr>
        <a:solidFill>
          <a:schemeClr val="bg1"/>
        </a:solidFill>
        <a:ln>
          <a:solidFill>
            <a:schemeClr val="tx1"/>
          </a:solidFill>
        </a:ln>
        <a:effectLst>
          <a:outerShdw blurRad="50800" dist="38100" algn="l" rotWithShape="0">
            <a:prstClr val="black">
              <a:alpha val="40000"/>
            </a:prstClr>
          </a:outerShdw>
        </a:effectLst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spc="0" baseline="0">
              <a:solidFill>
                <a:schemeClr val="tx1"/>
              </a:solidFill>
              <a:latin typeface="궁서" panose="02030600000101010101" pitchFamily="18" charset="-127"/>
              <a:ea typeface="궁서" panose="02030600000101010101" pitchFamily="18" charset="-127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국내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Sheet1!$B$1:$E$1</c:f>
              <c:strCache>
                <c:ptCount val="4"/>
                <c:pt idx="0">
                  <c:v>A금융그룹</c:v>
                </c:pt>
                <c:pt idx="1">
                  <c:v>B금융지주</c:v>
                </c:pt>
                <c:pt idx="2">
                  <c:v>C금융그룹</c:v>
                </c:pt>
                <c:pt idx="3">
                  <c:v>D은행</c:v>
                </c:pt>
              </c:strCache>
            </c:strRef>
          </c:cat>
          <c:val>
            <c:numRef>
              <c:f>Sheet1!$B$2:$E$2</c:f>
              <c:numCache>
                <c:formatCode>#,##0_ </c:formatCode>
                <c:ptCount val="4"/>
                <c:pt idx="0">
                  <c:v>24100</c:v>
                </c:pt>
                <c:pt idx="1">
                  <c:v>10500</c:v>
                </c:pt>
                <c:pt idx="2">
                  <c:v>11650</c:v>
                </c:pt>
                <c:pt idx="3">
                  <c:v>11270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8F5-481C-90ED-2FE3AEF8BD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32612160"/>
        <c:axId val="232599680"/>
      </c:barChart>
      <c:lineChart>
        <c:grouping val="standard"/>
        <c:varyColors val="0"/>
        <c:ser>
          <c:idx val="1"/>
          <c:order val="1"/>
          <c:tx>
            <c:strRef>
              <c:f>Sheet1!$A$3</c:f>
              <c:strCache>
                <c:ptCount val="1"/>
                <c:pt idx="0">
                  <c:v>글로벌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diamond"/>
            <c:size val="10"/>
            <c:spPr>
              <a:solidFill>
                <a:srgbClr val="FF0000"/>
              </a:solidFill>
              <a:ln w="9525">
                <a:solidFill>
                  <a:srgbClr val="FF0000"/>
                </a:solidFill>
              </a:ln>
              <a:effectLst/>
            </c:spPr>
          </c:marker>
          <c:dLbls>
            <c:dLbl>
              <c:idx val="2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4679-48C0-A234-E958CA95388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돋움" panose="020B0600000101010101" pitchFamily="50" charset="-127"/>
                    <a:ea typeface="돋움" panose="020B0600000101010101" pitchFamily="50" charset="-127"/>
                    <a:cs typeface="+mn-cs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Sheet1!$B$1:$E$1</c:f>
              <c:strCache>
                <c:ptCount val="4"/>
                <c:pt idx="0">
                  <c:v>A금융그룹</c:v>
                </c:pt>
                <c:pt idx="1">
                  <c:v>B금융지주</c:v>
                </c:pt>
                <c:pt idx="2">
                  <c:v>C금융그룹</c:v>
                </c:pt>
                <c:pt idx="3">
                  <c:v>D은행</c:v>
                </c:pt>
              </c:strCache>
            </c:strRef>
          </c:cat>
          <c:val>
            <c:numRef>
              <c:f>Sheet1!$B$3:$E$3</c:f>
              <c:numCache>
                <c:formatCode>0.0_ </c:formatCode>
                <c:ptCount val="4"/>
                <c:pt idx="0">
                  <c:v>13.9</c:v>
                </c:pt>
                <c:pt idx="1">
                  <c:v>7.5</c:v>
                </c:pt>
                <c:pt idx="2">
                  <c:v>14</c:v>
                </c:pt>
                <c:pt idx="3">
                  <c:v>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8F5-481C-90ED-2FE3AEF8BD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32603520"/>
        <c:axId val="284132080"/>
      </c:lineChart>
      <c:catAx>
        <c:axId val="2326121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  <a:cs typeface="+mn-cs"/>
              </a:defRPr>
            </a:pPr>
            <a:endParaRPr lang="ko-KR"/>
          </a:p>
        </c:txPr>
        <c:crossAx val="232599680"/>
        <c:crosses val="autoZero"/>
        <c:auto val="1"/>
        <c:lblAlgn val="ctr"/>
        <c:lblOffset val="100"/>
        <c:noMultiLvlLbl val="0"/>
      </c:catAx>
      <c:valAx>
        <c:axId val="232599680"/>
        <c:scaling>
          <c:orientation val="minMax"/>
        </c:scaling>
        <c:delete val="0"/>
        <c:axPos val="l"/>
        <c:numFmt formatCode="#,##0_ " sourceLinked="1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  <a:cs typeface="+mn-cs"/>
              </a:defRPr>
            </a:pPr>
            <a:endParaRPr lang="ko-KR"/>
          </a:p>
        </c:txPr>
        <c:crossAx val="232612160"/>
        <c:crosses val="autoZero"/>
        <c:crossBetween val="between"/>
      </c:valAx>
      <c:valAx>
        <c:axId val="284132080"/>
        <c:scaling>
          <c:orientation val="minMax"/>
        </c:scaling>
        <c:delete val="0"/>
        <c:axPos val="r"/>
        <c:numFmt formatCode="0.0_ " sourceLinked="1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  <a:cs typeface="+mn-cs"/>
              </a:defRPr>
            </a:pPr>
            <a:endParaRPr lang="ko-KR"/>
          </a:p>
        </c:txPr>
        <c:crossAx val="232603520"/>
        <c:crosses val="max"/>
        <c:crossBetween val="between"/>
        <c:majorUnit val="10"/>
      </c:valAx>
      <c:catAx>
        <c:axId val="23260352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84132080"/>
        <c:crosses val="autoZero"/>
        <c:auto val="1"/>
        <c:lblAlgn val="ctr"/>
        <c:lblOffset val="100"/>
        <c:noMultiLvlLbl val="0"/>
      </c:cat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600" b="0" i="0" u="none" strike="noStrike" kern="1200" baseline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  <a:cs typeface="+mn-cs"/>
              </a:defRPr>
            </a:pPr>
            <a:endParaRPr lang="ko-KR"/>
          </a:p>
        </c:txPr>
      </c:dTable>
      <c:spPr>
        <a:solidFill>
          <a:schemeClr val="bg1"/>
        </a:solidFill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rgbClr val="FFFF00"/>
    </a:solidFill>
    <a:ln>
      <a:solidFill>
        <a:schemeClr val="tx1"/>
      </a:solidFill>
    </a:ln>
    <a:effectLst/>
  </c:spPr>
  <c:txPr>
    <a:bodyPr/>
    <a:lstStyle/>
    <a:p>
      <a:pPr>
        <a:defRPr sz="1600">
          <a:solidFill>
            <a:schemeClr val="tx1"/>
          </a:solidFill>
          <a:latin typeface="돋움" panose="020B0600000101010101" pitchFamily="50" charset="-127"/>
          <a:ea typeface="돋움" panose="020B0600000101010101" pitchFamily="50" charset="-127"/>
        </a:defRPr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3FEB251-E572-4BCF-AD70-5FFD23D1C648}" type="doc">
      <dgm:prSet loTypeId="urn:microsoft.com/office/officeart/2005/8/layout/cycle7" loCatId="cycle" qsTypeId="urn:microsoft.com/office/officeart/2005/8/quickstyle/3d2" qsCatId="3D" csTypeId="urn:microsoft.com/office/officeart/2005/8/colors/colorful1" csCatId="colorful" phldr="1"/>
      <dgm:spPr/>
      <dgm:t>
        <a:bodyPr/>
        <a:lstStyle/>
        <a:p>
          <a:pPr latinLnBrk="1"/>
          <a:endParaRPr lang="ko-KR" altLang="en-US"/>
        </a:p>
      </dgm:t>
    </dgm:pt>
    <dgm:pt modelId="{3078F81A-5B7F-4827-9D91-1D4E7FF5DEF7}">
      <dgm:prSet phldrT="[텍스트]" custT="1"/>
      <dgm:spPr/>
      <dgm:t>
        <a:bodyPr/>
        <a:lstStyle/>
        <a:p>
          <a:pPr latinLnBrk="1"/>
          <a:r>
            <a:rPr lang="en-US" altLang="ko-KR" sz="1800" dirty="0">
              <a:solidFill>
                <a:schemeClr val="tx1"/>
              </a:solidFill>
              <a:latin typeface="돋움" panose="020B0600000101010101" pitchFamily="50" charset="-127"/>
              <a:ea typeface="돋움" panose="020B0600000101010101" pitchFamily="50" charset="-127"/>
            </a:rPr>
            <a:t>ESG</a:t>
          </a:r>
          <a:r>
            <a:rPr lang="ko-KR" altLang="en-US" sz="1800" dirty="0">
              <a:solidFill>
                <a:schemeClr val="tx1"/>
              </a:solidFill>
              <a:latin typeface="돋움" panose="020B0600000101010101" pitchFamily="50" charset="-127"/>
              <a:ea typeface="돋움" panose="020B0600000101010101" pitchFamily="50" charset="-127"/>
            </a:rPr>
            <a:t>경영</a:t>
          </a:r>
        </a:p>
      </dgm:t>
    </dgm:pt>
    <dgm:pt modelId="{5368FD96-B61D-4D9D-9FB9-C5B570DF676C}" type="parTrans" cxnId="{28819DD3-E65D-4EBE-B16E-E0365AE67755}">
      <dgm:prSet/>
      <dgm:spPr/>
      <dgm:t>
        <a:bodyPr/>
        <a:lstStyle/>
        <a:p>
          <a:pPr latinLnBrk="1"/>
          <a:endParaRPr lang="ko-KR" altLang="en-US" sz="1800">
            <a:solidFill>
              <a:schemeClr val="tx1"/>
            </a:solidFill>
            <a:latin typeface="돋움" panose="020B0600000101010101" pitchFamily="50" charset="-127"/>
            <a:ea typeface="돋움" panose="020B0600000101010101" pitchFamily="50" charset="-127"/>
          </a:endParaRPr>
        </a:p>
      </dgm:t>
    </dgm:pt>
    <dgm:pt modelId="{8B3F1B34-215D-4614-84DD-70CEBA0630FE}" type="sibTrans" cxnId="{28819DD3-E65D-4EBE-B16E-E0365AE67755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</a:endParaRPr>
        </a:p>
      </dgm:t>
    </dgm:pt>
    <dgm:pt modelId="{11B8C735-0540-4C15-9BE3-3681D9484FBC}">
      <dgm:prSet phldrT="[텍스트]" custT="1"/>
      <dgm:spPr/>
      <dgm:t>
        <a:bodyPr/>
        <a:lstStyle/>
        <a:p>
          <a:pPr latinLnBrk="1"/>
          <a:r>
            <a:rPr lang="ko-KR" altLang="en-US" sz="1800" dirty="0">
              <a:solidFill>
                <a:schemeClr val="tx1"/>
              </a:solidFill>
              <a:latin typeface="돋움" panose="020B0600000101010101" pitchFamily="50" charset="-127"/>
              <a:ea typeface="돋움" panose="020B0600000101010101" pitchFamily="50" charset="-127"/>
            </a:rPr>
            <a:t>경영체계</a:t>
          </a:r>
        </a:p>
      </dgm:t>
    </dgm:pt>
    <dgm:pt modelId="{675C7BD4-0A2A-4F09-B5E8-7F72171FAC57}" type="parTrans" cxnId="{2645424D-FD2E-4B61-BE7B-1110A5800A0F}">
      <dgm:prSet/>
      <dgm:spPr/>
      <dgm:t>
        <a:bodyPr/>
        <a:lstStyle/>
        <a:p>
          <a:pPr latinLnBrk="1"/>
          <a:endParaRPr lang="ko-KR" altLang="en-US" sz="1800">
            <a:solidFill>
              <a:schemeClr val="tx1"/>
            </a:solidFill>
            <a:latin typeface="돋움" panose="020B0600000101010101" pitchFamily="50" charset="-127"/>
            <a:ea typeface="돋움" panose="020B0600000101010101" pitchFamily="50" charset="-127"/>
          </a:endParaRPr>
        </a:p>
      </dgm:t>
    </dgm:pt>
    <dgm:pt modelId="{C855D589-44D2-426B-89FD-37CF5563B77E}" type="sibTrans" cxnId="{2645424D-FD2E-4B61-BE7B-1110A5800A0F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</a:endParaRPr>
        </a:p>
      </dgm:t>
    </dgm:pt>
    <dgm:pt modelId="{64628081-98A0-449B-B374-14DB2C28648F}">
      <dgm:prSet phldrT="[텍스트]" custT="1"/>
      <dgm:spPr/>
      <dgm:t>
        <a:bodyPr/>
        <a:lstStyle/>
        <a:p>
          <a:pPr latinLnBrk="1"/>
          <a:r>
            <a:rPr lang="ko-KR" altLang="en-US" sz="1800" dirty="0">
              <a:solidFill>
                <a:schemeClr val="tx1"/>
              </a:solidFill>
              <a:latin typeface="돋움" panose="020B0600000101010101" pitchFamily="50" charset="-127"/>
              <a:ea typeface="돋움" panose="020B0600000101010101" pitchFamily="50" charset="-127"/>
            </a:rPr>
            <a:t>정보공개</a:t>
          </a:r>
        </a:p>
      </dgm:t>
    </dgm:pt>
    <dgm:pt modelId="{841B080D-1ACF-41ED-99C7-66A3A856287D}" type="parTrans" cxnId="{ACA5137D-4717-4B36-AF92-CC16477A9CB0}">
      <dgm:prSet/>
      <dgm:spPr/>
      <dgm:t>
        <a:bodyPr/>
        <a:lstStyle/>
        <a:p>
          <a:pPr latinLnBrk="1"/>
          <a:endParaRPr lang="ko-KR" altLang="en-US" sz="1800">
            <a:solidFill>
              <a:schemeClr val="tx1"/>
            </a:solidFill>
            <a:latin typeface="돋움" panose="020B0600000101010101" pitchFamily="50" charset="-127"/>
            <a:ea typeface="돋움" panose="020B0600000101010101" pitchFamily="50" charset="-127"/>
          </a:endParaRPr>
        </a:p>
      </dgm:t>
    </dgm:pt>
    <dgm:pt modelId="{4F14C048-B326-4963-85C6-9664BDD8CE0C}" type="sibTrans" cxnId="{ACA5137D-4717-4B36-AF92-CC16477A9CB0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</a:endParaRPr>
        </a:p>
      </dgm:t>
    </dgm:pt>
    <dgm:pt modelId="{B99F8B71-495C-4105-A638-F4DFC0DF9797}" type="pres">
      <dgm:prSet presAssocID="{03FEB251-E572-4BCF-AD70-5FFD23D1C648}" presName="Name0" presStyleCnt="0">
        <dgm:presLayoutVars>
          <dgm:dir/>
          <dgm:resizeHandles val="exact"/>
        </dgm:presLayoutVars>
      </dgm:prSet>
      <dgm:spPr/>
    </dgm:pt>
    <dgm:pt modelId="{13BDD878-99A1-4F8D-B4A9-CD5B4751B318}" type="pres">
      <dgm:prSet presAssocID="{3078F81A-5B7F-4827-9D91-1D4E7FF5DEF7}" presName="node" presStyleLbl="node1" presStyleIdx="0" presStyleCnt="3">
        <dgm:presLayoutVars>
          <dgm:bulletEnabled val="1"/>
        </dgm:presLayoutVars>
      </dgm:prSet>
      <dgm:spPr/>
    </dgm:pt>
    <dgm:pt modelId="{42C829AF-B2B3-41A6-AB86-069245008DDC}" type="pres">
      <dgm:prSet presAssocID="{8B3F1B34-215D-4614-84DD-70CEBA0630FE}" presName="sibTrans" presStyleLbl="sibTrans2D1" presStyleIdx="0" presStyleCnt="3"/>
      <dgm:spPr/>
    </dgm:pt>
    <dgm:pt modelId="{0B23BDA1-BFE5-4286-86AF-823F002F4278}" type="pres">
      <dgm:prSet presAssocID="{8B3F1B34-215D-4614-84DD-70CEBA0630FE}" presName="connectorText" presStyleLbl="sibTrans2D1" presStyleIdx="0" presStyleCnt="3"/>
      <dgm:spPr/>
    </dgm:pt>
    <dgm:pt modelId="{27C5B5AB-0762-4D07-A86B-49F0DDDEFB8F}" type="pres">
      <dgm:prSet presAssocID="{11B8C735-0540-4C15-9BE3-3681D9484FBC}" presName="node" presStyleLbl="node1" presStyleIdx="1" presStyleCnt="3" custRadScaleRad="100807" custRadScaleInc="1308">
        <dgm:presLayoutVars>
          <dgm:bulletEnabled val="1"/>
        </dgm:presLayoutVars>
      </dgm:prSet>
      <dgm:spPr/>
    </dgm:pt>
    <dgm:pt modelId="{6CFFA594-F1B4-4550-AD63-BFF5A7EB2CD9}" type="pres">
      <dgm:prSet presAssocID="{C855D589-44D2-426B-89FD-37CF5563B77E}" presName="sibTrans" presStyleLbl="sibTrans2D1" presStyleIdx="1" presStyleCnt="3"/>
      <dgm:spPr/>
    </dgm:pt>
    <dgm:pt modelId="{15673B90-68D5-4649-B5D9-C84544FF2EEA}" type="pres">
      <dgm:prSet presAssocID="{C855D589-44D2-426B-89FD-37CF5563B77E}" presName="connectorText" presStyleLbl="sibTrans2D1" presStyleIdx="1" presStyleCnt="3"/>
      <dgm:spPr/>
    </dgm:pt>
    <dgm:pt modelId="{7A74CA80-6B46-47F6-B687-8AE44962603E}" type="pres">
      <dgm:prSet presAssocID="{64628081-98A0-449B-B374-14DB2C28648F}" presName="node" presStyleLbl="node1" presStyleIdx="2" presStyleCnt="3">
        <dgm:presLayoutVars>
          <dgm:bulletEnabled val="1"/>
        </dgm:presLayoutVars>
      </dgm:prSet>
      <dgm:spPr/>
    </dgm:pt>
    <dgm:pt modelId="{590550B2-755F-4335-9BCC-035A57F57E89}" type="pres">
      <dgm:prSet presAssocID="{4F14C048-B326-4963-85C6-9664BDD8CE0C}" presName="sibTrans" presStyleLbl="sibTrans2D1" presStyleIdx="2" presStyleCnt="3"/>
      <dgm:spPr/>
    </dgm:pt>
    <dgm:pt modelId="{7669B2F9-48D6-4C3E-B03C-DB8F901FA71B}" type="pres">
      <dgm:prSet presAssocID="{4F14C048-B326-4963-85C6-9664BDD8CE0C}" presName="connectorText" presStyleLbl="sibTrans2D1" presStyleIdx="2" presStyleCnt="3"/>
      <dgm:spPr/>
    </dgm:pt>
  </dgm:ptLst>
  <dgm:cxnLst>
    <dgm:cxn modelId="{5EBC540E-3C7A-4CFC-9DE3-1D86FAE7FFB3}" type="presOf" srcId="{4F14C048-B326-4963-85C6-9664BDD8CE0C}" destId="{7669B2F9-48D6-4C3E-B03C-DB8F901FA71B}" srcOrd="1" destOrd="0" presId="urn:microsoft.com/office/officeart/2005/8/layout/cycle7"/>
    <dgm:cxn modelId="{AC5D7A48-ABDA-4A2A-A2D6-BC21E89686D0}" type="presOf" srcId="{64628081-98A0-449B-B374-14DB2C28648F}" destId="{7A74CA80-6B46-47F6-B687-8AE44962603E}" srcOrd="0" destOrd="0" presId="urn:microsoft.com/office/officeart/2005/8/layout/cycle7"/>
    <dgm:cxn modelId="{5383CC6A-0C30-45B1-8996-349117868220}" type="presOf" srcId="{8B3F1B34-215D-4614-84DD-70CEBA0630FE}" destId="{42C829AF-B2B3-41A6-AB86-069245008DDC}" srcOrd="0" destOrd="0" presId="urn:microsoft.com/office/officeart/2005/8/layout/cycle7"/>
    <dgm:cxn modelId="{2645424D-FD2E-4B61-BE7B-1110A5800A0F}" srcId="{03FEB251-E572-4BCF-AD70-5FFD23D1C648}" destId="{11B8C735-0540-4C15-9BE3-3681D9484FBC}" srcOrd="1" destOrd="0" parTransId="{675C7BD4-0A2A-4F09-B5E8-7F72171FAC57}" sibTransId="{C855D589-44D2-426B-89FD-37CF5563B77E}"/>
    <dgm:cxn modelId="{68A89A50-A52D-490A-99E9-6692C18C8159}" type="presOf" srcId="{03FEB251-E572-4BCF-AD70-5FFD23D1C648}" destId="{B99F8B71-495C-4105-A638-F4DFC0DF9797}" srcOrd="0" destOrd="0" presId="urn:microsoft.com/office/officeart/2005/8/layout/cycle7"/>
    <dgm:cxn modelId="{ACA5137D-4717-4B36-AF92-CC16477A9CB0}" srcId="{03FEB251-E572-4BCF-AD70-5FFD23D1C648}" destId="{64628081-98A0-449B-B374-14DB2C28648F}" srcOrd="2" destOrd="0" parTransId="{841B080D-1ACF-41ED-99C7-66A3A856287D}" sibTransId="{4F14C048-B326-4963-85C6-9664BDD8CE0C}"/>
    <dgm:cxn modelId="{47C9CEAE-B084-475B-8DD0-2A6070B0F3D0}" type="presOf" srcId="{11B8C735-0540-4C15-9BE3-3681D9484FBC}" destId="{27C5B5AB-0762-4D07-A86B-49F0DDDEFB8F}" srcOrd="0" destOrd="0" presId="urn:microsoft.com/office/officeart/2005/8/layout/cycle7"/>
    <dgm:cxn modelId="{37C993BF-3AA1-4D8B-BB11-F3595076C181}" type="presOf" srcId="{C855D589-44D2-426B-89FD-37CF5563B77E}" destId="{15673B90-68D5-4649-B5D9-C84544FF2EEA}" srcOrd="1" destOrd="0" presId="urn:microsoft.com/office/officeart/2005/8/layout/cycle7"/>
    <dgm:cxn modelId="{916083D1-3CC9-4D39-A591-4911DDEA4DA5}" type="presOf" srcId="{8B3F1B34-215D-4614-84DD-70CEBA0630FE}" destId="{0B23BDA1-BFE5-4286-86AF-823F002F4278}" srcOrd="1" destOrd="0" presId="urn:microsoft.com/office/officeart/2005/8/layout/cycle7"/>
    <dgm:cxn modelId="{28819DD3-E65D-4EBE-B16E-E0365AE67755}" srcId="{03FEB251-E572-4BCF-AD70-5FFD23D1C648}" destId="{3078F81A-5B7F-4827-9D91-1D4E7FF5DEF7}" srcOrd="0" destOrd="0" parTransId="{5368FD96-B61D-4D9D-9FB9-C5B570DF676C}" sibTransId="{8B3F1B34-215D-4614-84DD-70CEBA0630FE}"/>
    <dgm:cxn modelId="{B9A9E3D4-29A2-45C2-A4B8-F83BBA315BC1}" type="presOf" srcId="{3078F81A-5B7F-4827-9D91-1D4E7FF5DEF7}" destId="{13BDD878-99A1-4F8D-B4A9-CD5B4751B318}" srcOrd="0" destOrd="0" presId="urn:microsoft.com/office/officeart/2005/8/layout/cycle7"/>
    <dgm:cxn modelId="{A7E87FDB-9318-4B91-97F8-446320DD0A99}" type="presOf" srcId="{4F14C048-B326-4963-85C6-9664BDD8CE0C}" destId="{590550B2-755F-4335-9BCC-035A57F57E89}" srcOrd="0" destOrd="0" presId="urn:microsoft.com/office/officeart/2005/8/layout/cycle7"/>
    <dgm:cxn modelId="{3312D9EE-0A6D-4390-A804-34B425F43BFF}" type="presOf" srcId="{C855D589-44D2-426B-89FD-37CF5563B77E}" destId="{6CFFA594-F1B4-4550-AD63-BFF5A7EB2CD9}" srcOrd="0" destOrd="0" presId="urn:microsoft.com/office/officeart/2005/8/layout/cycle7"/>
    <dgm:cxn modelId="{4A1CFD5B-8EE9-418B-8E12-7A79688FAC8D}" type="presParOf" srcId="{B99F8B71-495C-4105-A638-F4DFC0DF9797}" destId="{13BDD878-99A1-4F8D-B4A9-CD5B4751B318}" srcOrd="0" destOrd="0" presId="urn:microsoft.com/office/officeart/2005/8/layout/cycle7"/>
    <dgm:cxn modelId="{09B550D9-5089-4AD8-A28D-1587E0726499}" type="presParOf" srcId="{B99F8B71-495C-4105-A638-F4DFC0DF9797}" destId="{42C829AF-B2B3-41A6-AB86-069245008DDC}" srcOrd="1" destOrd="0" presId="urn:microsoft.com/office/officeart/2005/8/layout/cycle7"/>
    <dgm:cxn modelId="{6ECBAB01-099C-4820-80B1-71072AF0D62C}" type="presParOf" srcId="{42C829AF-B2B3-41A6-AB86-069245008DDC}" destId="{0B23BDA1-BFE5-4286-86AF-823F002F4278}" srcOrd="0" destOrd="0" presId="urn:microsoft.com/office/officeart/2005/8/layout/cycle7"/>
    <dgm:cxn modelId="{59E7559D-2E4F-4E37-8551-A84524E160D4}" type="presParOf" srcId="{B99F8B71-495C-4105-A638-F4DFC0DF9797}" destId="{27C5B5AB-0762-4D07-A86B-49F0DDDEFB8F}" srcOrd="2" destOrd="0" presId="urn:microsoft.com/office/officeart/2005/8/layout/cycle7"/>
    <dgm:cxn modelId="{85770507-8208-40A9-82CC-89DF3D861367}" type="presParOf" srcId="{B99F8B71-495C-4105-A638-F4DFC0DF9797}" destId="{6CFFA594-F1B4-4550-AD63-BFF5A7EB2CD9}" srcOrd="3" destOrd="0" presId="urn:microsoft.com/office/officeart/2005/8/layout/cycle7"/>
    <dgm:cxn modelId="{EF29CFEA-D343-4358-9043-CAC68AB91B40}" type="presParOf" srcId="{6CFFA594-F1B4-4550-AD63-BFF5A7EB2CD9}" destId="{15673B90-68D5-4649-B5D9-C84544FF2EEA}" srcOrd="0" destOrd="0" presId="urn:microsoft.com/office/officeart/2005/8/layout/cycle7"/>
    <dgm:cxn modelId="{C2BA66F5-86E3-4E7F-ACA5-827BC9510A40}" type="presParOf" srcId="{B99F8B71-495C-4105-A638-F4DFC0DF9797}" destId="{7A74CA80-6B46-47F6-B687-8AE44962603E}" srcOrd="4" destOrd="0" presId="urn:microsoft.com/office/officeart/2005/8/layout/cycle7"/>
    <dgm:cxn modelId="{FAEF0140-343C-4877-9A2A-A2CB8A204562}" type="presParOf" srcId="{B99F8B71-495C-4105-A638-F4DFC0DF9797}" destId="{590550B2-755F-4335-9BCC-035A57F57E89}" srcOrd="5" destOrd="0" presId="urn:microsoft.com/office/officeart/2005/8/layout/cycle7"/>
    <dgm:cxn modelId="{DB27A558-13B1-49C4-A90D-9FED911ACF4E}" type="presParOf" srcId="{590550B2-755F-4335-9BCC-035A57F57E89}" destId="{7669B2F9-48D6-4C3E-B03C-DB8F901FA71B}" srcOrd="0" destOrd="0" presId="urn:microsoft.com/office/officeart/2005/8/layout/cycle7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3FEB251-E572-4BCF-AD70-5FFD23D1C648}" type="doc">
      <dgm:prSet loTypeId="urn:microsoft.com/office/officeart/2005/8/layout/cycle6" loCatId="cycle" qsTypeId="urn:microsoft.com/office/officeart/2005/8/quickstyle/3d3" qsCatId="3D" csTypeId="urn:microsoft.com/office/officeart/2005/8/colors/accent0_3" csCatId="mainScheme" phldr="1"/>
      <dgm:spPr/>
      <dgm:t>
        <a:bodyPr/>
        <a:lstStyle/>
        <a:p>
          <a:pPr latinLnBrk="1"/>
          <a:endParaRPr lang="ko-KR" altLang="en-US"/>
        </a:p>
      </dgm:t>
    </dgm:pt>
    <dgm:pt modelId="{3078F81A-5B7F-4827-9D91-1D4E7FF5DEF7}">
      <dgm:prSet phldrT="[텍스트]" custT="1"/>
      <dgm:spPr/>
      <dgm:t>
        <a:bodyPr/>
        <a:lstStyle/>
        <a:p>
          <a:pPr latinLnBrk="1"/>
          <a:r>
            <a:rPr lang="ko-KR" altLang="en-US" sz="1800" dirty="0">
              <a:latin typeface="돋움" panose="020B0600000101010101" pitchFamily="50" charset="-127"/>
              <a:ea typeface="돋움" panose="020B0600000101010101" pitchFamily="50" charset="-127"/>
            </a:rPr>
            <a:t>환경</a:t>
          </a:r>
        </a:p>
      </dgm:t>
    </dgm:pt>
    <dgm:pt modelId="{5368FD96-B61D-4D9D-9FB9-C5B570DF676C}" type="parTrans" cxnId="{28819DD3-E65D-4EBE-B16E-E0365AE67755}">
      <dgm:prSet/>
      <dgm:spPr/>
      <dgm:t>
        <a:bodyPr/>
        <a:lstStyle/>
        <a:p>
          <a:pPr latinLnBrk="1"/>
          <a:endParaRPr lang="ko-KR" altLang="en-US" sz="1800">
            <a:solidFill>
              <a:schemeClr val="tx1"/>
            </a:solidFill>
            <a:latin typeface="돋움" panose="020B0600000101010101" pitchFamily="50" charset="-127"/>
            <a:ea typeface="돋움" panose="020B0600000101010101" pitchFamily="50" charset="-127"/>
          </a:endParaRPr>
        </a:p>
      </dgm:t>
    </dgm:pt>
    <dgm:pt modelId="{8B3F1B34-215D-4614-84DD-70CEBA0630FE}" type="sibTrans" cxnId="{28819DD3-E65D-4EBE-B16E-E0365AE67755}">
      <dgm:prSet/>
      <dgm:spPr/>
      <dgm:t>
        <a:bodyPr/>
        <a:lstStyle/>
        <a:p>
          <a:pPr latinLnBrk="1"/>
          <a:endParaRPr lang="ko-KR" altLang="en-US">
            <a:solidFill>
              <a:schemeClr val="tx1"/>
            </a:solidFill>
          </a:endParaRPr>
        </a:p>
      </dgm:t>
    </dgm:pt>
    <dgm:pt modelId="{0073BD1C-F423-4E7F-B297-B6E5F63DA1D8}">
      <dgm:prSet phldrT="[텍스트]" custT="1"/>
      <dgm:spPr/>
      <dgm:t>
        <a:bodyPr/>
        <a:lstStyle/>
        <a:p>
          <a:pPr latinLnBrk="1"/>
          <a:r>
            <a:rPr lang="ko-KR" altLang="en-US" sz="1800">
              <a:latin typeface="돋움" panose="020B0600000101010101" pitchFamily="50" charset="-127"/>
              <a:ea typeface="돋움" panose="020B0600000101010101" pitchFamily="50" charset="-127"/>
            </a:rPr>
            <a:t>사회</a:t>
          </a:r>
          <a:endParaRPr lang="ko-KR" altLang="en-US" sz="1800" dirty="0">
            <a:latin typeface="돋움" panose="020B0600000101010101" pitchFamily="50" charset="-127"/>
            <a:ea typeface="돋움" panose="020B0600000101010101" pitchFamily="50" charset="-127"/>
          </a:endParaRPr>
        </a:p>
      </dgm:t>
    </dgm:pt>
    <dgm:pt modelId="{680DDC15-5BCC-418D-BC89-158A5DF1F10F}" type="parTrans" cxnId="{26D06842-D50F-463D-BAF4-AF446BD79FE7}">
      <dgm:prSet/>
      <dgm:spPr/>
      <dgm:t>
        <a:bodyPr/>
        <a:lstStyle/>
        <a:p>
          <a:pPr latinLnBrk="1"/>
          <a:endParaRPr lang="ko-KR" altLang="en-US"/>
        </a:p>
      </dgm:t>
    </dgm:pt>
    <dgm:pt modelId="{F7BEB323-8440-49BD-BD49-412BB0D2E84C}" type="sibTrans" cxnId="{26D06842-D50F-463D-BAF4-AF446BD79FE7}">
      <dgm:prSet/>
      <dgm:spPr/>
      <dgm:t>
        <a:bodyPr/>
        <a:lstStyle/>
        <a:p>
          <a:pPr latinLnBrk="1"/>
          <a:endParaRPr lang="ko-KR" altLang="en-US"/>
        </a:p>
      </dgm:t>
    </dgm:pt>
    <dgm:pt modelId="{8A539D60-942D-4C43-8360-EAF417D9562B}">
      <dgm:prSet phldrT="[텍스트]" custT="1"/>
      <dgm:spPr/>
      <dgm:t>
        <a:bodyPr/>
        <a:lstStyle/>
        <a:p>
          <a:pPr latinLnBrk="1"/>
          <a:r>
            <a:rPr lang="ko-KR" altLang="en-US" sz="1800">
              <a:latin typeface="돋움" panose="020B0600000101010101" pitchFamily="50" charset="-127"/>
              <a:ea typeface="돋움" panose="020B0600000101010101" pitchFamily="50" charset="-127"/>
            </a:rPr>
            <a:t>지배구조</a:t>
          </a:r>
          <a:endParaRPr lang="ko-KR" altLang="en-US" sz="1800" dirty="0">
            <a:latin typeface="돋움" panose="020B0600000101010101" pitchFamily="50" charset="-127"/>
            <a:ea typeface="돋움" panose="020B0600000101010101" pitchFamily="50" charset="-127"/>
          </a:endParaRPr>
        </a:p>
      </dgm:t>
    </dgm:pt>
    <dgm:pt modelId="{CB6FE81E-AA4B-4841-9B8A-F3C1A9D50BC5}" type="parTrans" cxnId="{051AA010-8A58-432D-9CD4-2850C4997B0B}">
      <dgm:prSet/>
      <dgm:spPr/>
      <dgm:t>
        <a:bodyPr/>
        <a:lstStyle/>
        <a:p>
          <a:pPr latinLnBrk="1"/>
          <a:endParaRPr lang="ko-KR" altLang="en-US"/>
        </a:p>
      </dgm:t>
    </dgm:pt>
    <dgm:pt modelId="{C8439680-776E-4748-991C-10F8FC4B14F2}" type="sibTrans" cxnId="{051AA010-8A58-432D-9CD4-2850C4997B0B}">
      <dgm:prSet/>
      <dgm:spPr/>
      <dgm:t>
        <a:bodyPr/>
        <a:lstStyle/>
        <a:p>
          <a:pPr latinLnBrk="1"/>
          <a:endParaRPr lang="ko-KR" altLang="en-US"/>
        </a:p>
      </dgm:t>
    </dgm:pt>
    <dgm:pt modelId="{B3B9CE3A-EFAD-4DFD-8B3C-13AF4C82C74A}" type="pres">
      <dgm:prSet presAssocID="{03FEB251-E572-4BCF-AD70-5FFD23D1C648}" presName="cycle" presStyleCnt="0">
        <dgm:presLayoutVars>
          <dgm:dir/>
          <dgm:resizeHandles val="exact"/>
        </dgm:presLayoutVars>
      </dgm:prSet>
      <dgm:spPr/>
    </dgm:pt>
    <dgm:pt modelId="{52A5BB50-CA2C-4A3F-BDEA-B6904B3970F9}" type="pres">
      <dgm:prSet presAssocID="{3078F81A-5B7F-4827-9D91-1D4E7FF5DEF7}" presName="node" presStyleLbl="node1" presStyleIdx="0" presStyleCnt="3">
        <dgm:presLayoutVars>
          <dgm:bulletEnabled val="1"/>
        </dgm:presLayoutVars>
      </dgm:prSet>
      <dgm:spPr/>
    </dgm:pt>
    <dgm:pt modelId="{4B3CF19A-F458-4528-960A-A7A83DCAFFD4}" type="pres">
      <dgm:prSet presAssocID="{3078F81A-5B7F-4827-9D91-1D4E7FF5DEF7}" presName="spNode" presStyleCnt="0"/>
      <dgm:spPr/>
    </dgm:pt>
    <dgm:pt modelId="{58FCEF2E-0E0A-4F81-A941-F1A949587026}" type="pres">
      <dgm:prSet presAssocID="{8B3F1B34-215D-4614-84DD-70CEBA0630FE}" presName="sibTrans" presStyleLbl="sibTrans1D1" presStyleIdx="0" presStyleCnt="3"/>
      <dgm:spPr/>
    </dgm:pt>
    <dgm:pt modelId="{275ABE1E-F1A6-43DD-894E-EE140AFC5729}" type="pres">
      <dgm:prSet presAssocID="{0073BD1C-F423-4E7F-B297-B6E5F63DA1D8}" presName="node" presStyleLbl="node1" presStyleIdx="1" presStyleCnt="3">
        <dgm:presLayoutVars>
          <dgm:bulletEnabled val="1"/>
        </dgm:presLayoutVars>
      </dgm:prSet>
      <dgm:spPr/>
    </dgm:pt>
    <dgm:pt modelId="{7EF2B952-D82C-4F28-8A27-B554DCD696EE}" type="pres">
      <dgm:prSet presAssocID="{0073BD1C-F423-4E7F-B297-B6E5F63DA1D8}" presName="spNode" presStyleCnt="0"/>
      <dgm:spPr/>
    </dgm:pt>
    <dgm:pt modelId="{F8F9B203-8258-4E2B-BAD2-346D23DD4171}" type="pres">
      <dgm:prSet presAssocID="{F7BEB323-8440-49BD-BD49-412BB0D2E84C}" presName="sibTrans" presStyleLbl="sibTrans1D1" presStyleIdx="1" presStyleCnt="3"/>
      <dgm:spPr/>
    </dgm:pt>
    <dgm:pt modelId="{443D12F3-2AFF-4CE1-8BB3-DB131DC06FA2}" type="pres">
      <dgm:prSet presAssocID="{8A539D60-942D-4C43-8360-EAF417D9562B}" presName="node" presStyleLbl="node1" presStyleIdx="2" presStyleCnt="3">
        <dgm:presLayoutVars>
          <dgm:bulletEnabled val="1"/>
        </dgm:presLayoutVars>
      </dgm:prSet>
      <dgm:spPr/>
    </dgm:pt>
    <dgm:pt modelId="{71C2646F-423A-4E96-A0DC-B8C56877EC4A}" type="pres">
      <dgm:prSet presAssocID="{8A539D60-942D-4C43-8360-EAF417D9562B}" presName="spNode" presStyleCnt="0"/>
      <dgm:spPr/>
    </dgm:pt>
    <dgm:pt modelId="{5EDD098E-CCB8-417C-AD67-5747D618D20D}" type="pres">
      <dgm:prSet presAssocID="{C8439680-776E-4748-991C-10F8FC4B14F2}" presName="sibTrans" presStyleLbl="sibTrans1D1" presStyleIdx="2" presStyleCnt="3"/>
      <dgm:spPr/>
    </dgm:pt>
  </dgm:ptLst>
  <dgm:cxnLst>
    <dgm:cxn modelId="{051AA010-8A58-432D-9CD4-2850C4997B0B}" srcId="{03FEB251-E572-4BCF-AD70-5FFD23D1C648}" destId="{8A539D60-942D-4C43-8360-EAF417D9562B}" srcOrd="2" destOrd="0" parTransId="{CB6FE81E-AA4B-4841-9B8A-F3C1A9D50BC5}" sibTransId="{C8439680-776E-4748-991C-10F8FC4B14F2}"/>
    <dgm:cxn modelId="{7CDCA03B-BFF1-4FFD-ACB1-A0BCC9C875F2}" type="presOf" srcId="{03FEB251-E572-4BCF-AD70-5FFD23D1C648}" destId="{B3B9CE3A-EFAD-4DFD-8B3C-13AF4C82C74A}" srcOrd="0" destOrd="0" presId="urn:microsoft.com/office/officeart/2005/8/layout/cycle6"/>
    <dgm:cxn modelId="{26D06842-D50F-463D-BAF4-AF446BD79FE7}" srcId="{03FEB251-E572-4BCF-AD70-5FFD23D1C648}" destId="{0073BD1C-F423-4E7F-B297-B6E5F63DA1D8}" srcOrd="1" destOrd="0" parTransId="{680DDC15-5BCC-418D-BC89-158A5DF1F10F}" sibTransId="{F7BEB323-8440-49BD-BD49-412BB0D2E84C}"/>
    <dgm:cxn modelId="{BA816788-1F3F-4442-9F93-9621FB3CC1F7}" type="presOf" srcId="{F7BEB323-8440-49BD-BD49-412BB0D2E84C}" destId="{F8F9B203-8258-4E2B-BAD2-346D23DD4171}" srcOrd="0" destOrd="0" presId="urn:microsoft.com/office/officeart/2005/8/layout/cycle6"/>
    <dgm:cxn modelId="{FD576994-0423-4B4B-ACDE-4013755993B4}" type="presOf" srcId="{8B3F1B34-215D-4614-84DD-70CEBA0630FE}" destId="{58FCEF2E-0E0A-4F81-A941-F1A949587026}" srcOrd="0" destOrd="0" presId="urn:microsoft.com/office/officeart/2005/8/layout/cycle6"/>
    <dgm:cxn modelId="{0B5623CA-962C-4B6E-BEAC-8CDE75028974}" type="presOf" srcId="{3078F81A-5B7F-4827-9D91-1D4E7FF5DEF7}" destId="{52A5BB50-CA2C-4A3F-BDEA-B6904B3970F9}" srcOrd="0" destOrd="0" presId="urn:microsoft.com/office/officeart/2005/8/layout/cycle6"/>
    <dgm:cxn modelId="{28819DD3-E65D-4EBE-B16E-E0365AE67755}" srcId="{03FEB251-E572-4BCF-AD70-5FFD23D1C648}" destId="{3078F81A-5B7F-4827-9D91-1D4E7FF5DEF7}" srcOrd="0" destOrd="0" parTransId="{5368FD96-B61D-4D9D-9FB9-C5B570DF676C}" sibTransId="{8B3F1B34-215D-4614-84DD-70CEBA0630FE}"/>
    <dgm:cxn modelId="{CC1D19D6-95CD-483D-80EA-3030A33D5028}" type="presOf" srcId="{8A539D60-942D-4C43-8360-EAF417D9562B}" destId="{443D12F3-2AFF-4CE1-8BB3-DB131DC06FA2}" srcOrd="0" destOrd="0" presId="urn:microsoft.com/office/officeart/2005/8/layout/cycle6"/>
    <dgm:cxn modelId="{A5D061DC-B2A0-47D1-A53A-F2B677EDA9B5}" type="presOf" srcId="{C8439680-776E-4748-991C-10F8FC4B14F2}" destId="{5EDD098E-CCB8-417C-AD67-5747D618D20D}" srcOrd="0" destOrd="0" presId="urn:microsoft.com/office/officeart/2005/8/layout/cycle6"/>
    <dgm:cxn modelId="{87D6C4ED-AE0E-4EC4-8D08-1F5E51B769AE}" type="presOf" srcId="{0073BD1C-F423-4E7F-B297-B6E5F63DA1D8}" destId="{275ABE1E-F1A6-43DD-894E-EE140AFC5729}" srcOrd="0" destOrd="0" presId="urn:microsoft.com/office/officeart/2005/8/layout/cycle6"/>
    <dgm:cxn modelId="{4358906A-74D0-4E07-91FD-835991D5027F}" type="presParOf" srcId="{B3B9CE3A-EFAD-4DFD-8B3C-13AF4C82C74A}" destId="{52A5BB50-CA2C-4A3F-BDEA-B6904B3970F9}" srcOrd="0" destOrd="0" presId="urn:microsoft.com/office/officeart/2005/8/layout/cycle6"/>
    <dgm:cxn modelId="{18EBFD23-A327-4A3E-B62E-90928A5B30B1}" type="presParOf" srcId="{B3B9CE3A-EFAD-4DFD-8B3C-13AF4C82C74A}" destId="{4B3CF19A-F458-4528-960A-A7A83DCAFFD4}" srcOrd="1" destOrd="0" presId="urn:microsoft.com/office/officeart/2005/8/layout/cycle6"/>
    <dgm:cxn modelId="{3318D3B6-3066-47E0-9035-5E57845A2408}" type="presParOf" srcId="{B3B9CE3A-EFAD-4DFD-8B3C-13AF4C82C74A}" destId="{58FCEF2E-0E0A-4F81-A941-F1A949587026}" srcOrd="2" destOrd="0" presId="urn:microsoft.com/office/officeart/2005/8/layout/cycle6"/>
    <dgm:cxn modelId="{B2CA43DE-6B89-43A1-A7D8-7781340AA512}" type="presParOf" srcId="{B3B9CE3A-EFAD-4DFD-8B3C-13AF4C82C74A}" destId="{275ABE1E-F1A6-43DD-894E-EE140AFC5729}" srcOrd="3" destOrd="0" presId="urn:microsoft.com/office/officeart/2005/8/layout/cycle6"/>
    <dgm:cxn modelId="{F3CC159A-FAB0-4732-AB35-868702864368}" type="presParOf" srcId="{B3B9CE3A-EFAD-4DFD-8B3C-13AF4C82C74A}" destId="{7EF2B952-D82C-4F28-8A27-B554DCD696EE}" srcOrd="4" destOrd="0" presId="urn:microsoft.com/office/officeart/2005/8/layout/cycle6"/>
    <dgm:cxn modelId="{36E19C51-46BB-40EC-9F8B-97D30CDBFB52}" type="presParOf" srcId="{B3B9CE3A-EFAD-4DFD-8B3C-13AF4C82C74A}" destId="{F8F9B203-8258-4E2B-BAD2-346D23DD4171}" srcOrd="5" destOrd="0" presId="urn:microsoft.com/office/officeart/2005/8/layout/cycle6"/>
    <dgm:cxn modelId="{8999A929-2987-447E-9E15-8F1B80EA686F}" type="presParOf" srcId="{B3B9CE3A-EFAD-4DFD-8B3C-13AF4C82C74A}" destId="{443D12F3-2AFF-4CE1-8BB3-DB131DC06FA2}" srcOrd="6" destOrd="0" presId="urn:microsoft.com/office/officeart/2005/8/layout/cycle6"/>
    <dgm:cxn modelId="{C4FD30A7-BC5D-4700-8DCE-68CECD67D713}" type="presParOf" srcId="{B3B9CE3A-EFAD-4DFD-8B3C-13AF4C82C74A}" destId="{71C2646F-423A-4E96-A0DC-B8C56877EC4A}" srcOrd="7" destOrd="0" presId="urn:microsoft.com/office/officeart/2005/8/layout/cycle6"/>
    <dgm:cxn modelId="{5DECCE3C-76BF-428D-8645-1AA4AFC088B5}" type="presParOf" srcId="{B3B9CE3A-EFAD-4DFD-8B3C-13AF4C82C74A}" destId="{5EDD098E-CCB8-417C-AD67-5747D618D20D}" srcOrd="8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BDD878-99A1-4F8D-B4A9-CD5B4751B318}">
      <dsp:nvSpPr>
        <dsp:cNvPr id="0" name=""/>
        <dsp:cNvSpPr/>
      </dsp:nvSpPr>
      <dsp:spPr>
        <a:xfrm>
          <a:off x="1703585" y="603"/>
          <a:ext cx="1094690" cy="54734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800" kern="1200" dirty="0">
              <a:solidFill>
                <a:schemeClr val="tx1"/>
              </a:solidFill>
              <a:latin typeface="돋움" panose="020B0600000101010101" pitchFamily="50" charset="-127"/>
              <a:ea typeface="돋움" panose="020B0600000101010101" pitchFamily="50" charset="-127"/>
            </a:rPr>
            <a:t>ESG</a:t>
          </a:r>
          <a:r>
            <a:rPr lang="ko-KR" altLang="en-US" sz="1800" kern="1200" dirty="0">
              <a:solidFill>
                <a:schemeClr val="tx1"/>
              </a:solidFill>
              <a:latin typeface="돋움" panose="020B0600000101010101" pitchFamily="50" charset="-127"/>
              <a:ea typeface="돋움" panose="020B0600000101010101" pitchFamily="50" charset="-127"/>
            </a:rPr>
            <a:t>경영</a:t>
          </a:r>
        </a:p>
      </dsp:txBody>
      <dsp:txXfrm>
        <a:off x="1719616" y="16634"/>
        <a:ext cx="1062628" cy="515283"/>
      </dsp:txXfrm>
    </dsp:sp>
    <dsp:sp modelId="{42C829AF-B2B3-41A6-AB86-069245008DDC}">
      <dsp:nvSpPr>
        <dsp:cNvPr id="0" name=""/>
        <dsp:cNvSpPr/>
      </dsp:nvSpPr>
      <dsp:spPr>
        <a:xfrm rot="3600568">
          <a:off x="2417658" y="961531"/>
          <a:ext cx="570377" cy="191570"/>
        </a:xfrm>
        <a:prstGeom prst="left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800" kern="1200">
            <a:solidFill>
              <a:schemeClr val="tx1"/>
            </a:solidFill>
          </a:endParaRPr>
        </a:p>
      </dsp:txBody>
      <dsp:txXfrm>
        <a:off x="2475129" y="999845"/>
        <a:ext cx="455435" cy="114942"/>
      </dsp:txXfrm>
    </dsp:sp>
    <dsp:sp modelId="{27C5B5AB-0762-4D07-A86B-49F0DDDEFB8F}">
      <dsp:nvSpPr>
        <dsp:cNvPr id="0" name=""/>
        <dsp:cNvSpPr/>
      </dsp:nvSpPr>
      <dsp:spPr>
        <a:xfrm>
          <a:off x="2607418" y="1566685"/>
          <a:ext cx="1094690" cy="54734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>
              <a:solidFill>
                <a:schemeClr val="tx1"/>
              </a:solidFill>
              <a:latin typeface="돋움" panose="020B0600000101010101" pitchFamily="50" charset="-127"/>
              <a:ea typeface="돋움" panose="020B0600000101010101" pitchFamily="50" charset="-127"/>
            </a:rPr>
            <a:t>경영체계</a:t>
          </a:r>
        </a:p>
      </dsp:txBody>
      <dsp:txXfrm>
        <a:off x="2623449" y="1582716"/>
        <a:ext cx="1062628" cy="515283"/>
      </dsp:txXfrm>
    </dsp:sp>
    <dsp:sp modelId="{6CFFA594-F1B4-4550-AD63-BFF5A7EB2CD9}">
      <dsp:nvSpPr>
        <dsp:cNvPr id="0" name=""/>
        <dsp:cNvSpPr/>
      </dsp:nvSpPr>
      <dsp:spPr>
        <a:xfrm rot="10801147">
          <a:off x="1965743" y="1744271"/>
          <a:ext cx="570377" cy="191570"/>
        </a:xfrm>
        <a:prstGeom prst="left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800" kern="1200">
            <a:solidFill>
              <a:schemeClr val="tx1"/>
            </a:solidFill>
          </a:endParaRPr>
        </a:p>
      </dsp:txBody>
      <dsp:txXfrm rot="10800000">
        <a:off x="2023214" y="1782585"/>
        <a:ext cx="455435" cy="114942"/>
      </dsp:txXfrm>
    </dsp:sp>
    <dsp:sp modelId="{7A74CA80-6B46-47F6-B687-8AE44962603E}">
      <dsp:nvSpPr>
        <dsp:cNvPr id="0" name=""/>
        <dsp:cNvSpPr/>
      </dsp:nvSpPr>
      <dsp:spPr>
        <a:xfrm>
          <a:off x="799755" y="1566082"/>
          <a:ext cx="1094690" cy="54734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>
              <a:solidFill>
                <a:schemeClr val="tx1"/>
              </a:solidFill>
              <a:latin typeface="돋움" panose="020B0600000101010101" pitchFamily="50" charset="-127"/>
              <a:ea typeface="돋움" panose="020B0600000101010101" pitchFamily="50" charset="-127"/>
            </a:rPr>
            <a:t>정보공개</a:t>
          </a:r>
        </a:p>
      </dsp:txBody>
      <dsp:txXfrm>
        <a:off x="815786" y="1582113"/>
        <a:ext cx="1062628" cy="515283"/>
      </dsp:txXfrm>
    </dsp:sp>
    <dsp:sp modelId="{590550B2-755F-4335-9BCC-035A57F57E89}">
      <dsp:nvSpPr>
        <dsp:cNvPr id="0" name=""/>
        <dsp:cNvSpPr/>
      </dsp:nvSpPr>
      <dsp:spPr>
        <a:xfrm rot="18000000">
          <a:off x="1513826" y="961230"/>
          <a:ext cx="570377" cy="191570"/>
        </a:xfrm>
        <a:prstGeom prst="left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800" kern="1200">
            <a:solidFill>
              <a:schemeClr val="tx1"/>
            </a:solidFill>
          </a:endParaRPr>
        </a:p>
      </dsp:txBody>
      <dsp:txXfrm>
        <a:off x="1571297" y="999544"/>
        <a:ext cx="455435" cy="11494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A5BB50-CA2C-4A3F-BDEA-B6904B3970F9}">
      <dsp:nvSpPr>
        <dsp:cNvPr id="0" name=""/>
        <dsp:cNvSpPr/>
      </dsp:nvSpPr>
      <dsp:spPr>
        <a:xfrm>
          <a:off x="891482" y="338"/>
          <a:ext cx="828989" cy="538843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>
              <a:latin typeface="돋움" panose="020B0600000101010101" pitchFamily="50" charset="-127"/>
              <a:ea typeface="돋움" panose="020B0600000101010101" pitchFamily="50" charset="-127"/>
            </a:rPr>
            <a:t>환경</a:t>
          </a:r>
        </a:p>
      </dsp:txBody>
      <dsp:txXfrm>
        <a:off x="917786" y="26642"/>
        <a:ext cx="776381" cy="486235"/>
      </dsp:txXfrm>
    </dsp:sp>
    <dsp:sp modelId="{58FCEF2E-0E0A-4F81-A941-F1A949587026}">
      <dsp:nvSpPr>
        <dsp:cNvPr id="0" name=""/>
        <dsp:cNvSpPr/>
      </dsp:nvSpPr>
      <dsp:spPr>
        <a:xfrm>
          <a:off x="586676" y="269759"/>
          <a:ext cx="1438600" cy="1438600"/>
        </a:xfrm>
        <a:custGeom>
          <a:avLst/>
          <a:gdLst/>
          <a:ahLst/>
          <a:cxnLst/>
          <a:rect l="0" t="0" r="0" b="0"/>
          <a:pathLst>
            <a:path>
              <a:moveTo>
                <a:pt x="1139830" y="135735"/>
              </a:moveTo>
              <a:arcTo wR="719300" hR="719300" stAng="18346642" swAng="3650305"/>
            </a:path>
          </a:pathLst>
        </a:custGeom>
        <a:noFill/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75ABE1E-F1A6-43DD-894E-EE140AFC5729}">
      <dsp:nvSpPr>
        <dsp:cNvPr id="0" name=""/>
        <dsp:cNvSpPr/>
      </dsp:nvSpPr>
      <dsp:spPr>
        <a:xfrm>
          <a:off x="1514414" y="1079288"/>
          <a:ext cx="828989" cy="538843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>
              <a:latin typeface="돋움" panose="020B0600000101010101" pitchFamily="50" charset="-127"/>
              <a:ea typeface="돋움" panose="020B0600000101010101" pitchFamily="50" charset="-127"/>
            </a:rPr>
            <a:t>사회</a:t>
          </a:r>
          <a:endParaRPr lang="ko-KR" altLang="en-US" sz="1800" kern="1200" dirty="0">
            <a:latin typeface="돋움" panose="020B0600000101010101" pitchFamily="50" charset="-127"/>
            <a:ea typeface="돋움" panose="020B0600000101010101" pitchFamily="50" charset="-127"/>
          </a:endParaRPr>
        </a:p>
      </dsp:txBody>
      <dsp:txXfrm>
        <a:off x="1540718" y="1105592"/>
        <a:ext cx="776381" cy="486235"/>
      </dsp:txXfrm>
    </dsp:sp>
    <dsp:sp modelId="{F8F9B203-8258-4E2B-BAD2-346D23DD4171}">
      <dsp:nvSpPr>
        <dsp:cNvPr id="0" name=""/>
        <dsp:cNvSpPr/>
      </dsp:nvSpPr>
      <dsp:spPr>
        <a:xfrm>
          <a:off x="586676" y="269759"/>
          <a:ext cx="1438600" cy="1438600"/>
        </a:xfrm>
        <a:custGeom>
          <a:avLst/>
          <a:gdLst/>
          <a:ahLst/>
          <a:cxnLst/>
          <a:rect l="0" t="0" r="0" b="0"/>
          <a:pathLst>
            <a:path>
              <a:moveTo>
                <a:pt x="1061983" y="1351725"/>
              </a:moveTo>
              <a:arcTo wR="719300" hR="719300" stAng="3692921" swAng="3414158"/>
            </a:path>
          </a:pathLst>
        </a:custGeom>
        <a:noFill/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43D12F3-2AFF-4CE1-8BB3-DB131DC06FA2}">
      <dsp:nvSpPr>
        <dsp:cNvPr id="0" name=""/>
        <dsp:cNvSpPr/>
      </dsp:nvSpPr>
      <dsp:spPr>
        <a:xfrm>
          <a:off x="268549" y="1079288"/>
          <a:ext cx="828989" cy="538843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>
              <a:latin typeface="돋움" panose="020B0600000101010101" pitchFamily="50" charset="-127"/>
              <a:ea typeface="돋움" panose="020B0600000101010101" pitchFamily="50" charset="-127"/>
            </a:rPr>
            <a:t>지배구조</a:t>
          </a:r>
          <a:endParaRPr lang="ko-KR" altLang="en-US" sz="1800" kern="1200" dirty="0">
            <a:latin typeface="돋움" panose="020B0600000101010101" pitchFamily="50" charset="-127"/>
            <a:ea typeface="돋움" panose="020B0600000101010101" pitchFamily="50" charset="-127"/>
          </a:endParaRPr>
        </a:p>
      </dsp:txBody>
      <dsp:txXfrm>
        <a:off x="294853" y="1105592"/>
        <a:ext cx="776381" cy="486235"/>
      </dsp:txXfrm>
    </dsp:sp>
    <dsp:sp modelId="{5EDD098E-CCB8-417C-AD67-5747D618D20D}">
      <dsp:nvSpPr>
        <dsp:cNvPr id="0" name=""/>
        <dsp:cNvSpPr/>
      </dsp:nvSpPr>
      <dsp:spPr>
        <a:xfrm>
          <a:off x="586676" y="269759"/>
          <a:ext cx="1438600" cy="1438600"/>
        </a:xfrm>
        <a:custGeom>
          <a:avLst/>
          <a:gdLst/>
          <a:ahLst/>
          <a:cxnLst/>
          <a:rect l="0" t="0" r="0" b="0"/>
          <a:pathLst>
            <a:path>
              <a:moveTo>
                <a:pt x="4789" y="802171"/>
              </a:moveTo>
              <a:arcTo wR="719300" hR="719300" stAng="10403053" swAng="3650305"/>
            </a:path>
          </a:pathLst>
        </a:custGeom>
        <a:noFill/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7">
  <dgm:title val=""/>
  <dgm:desc val=""/>
  <dgm:catLst>
    <dgm:cat type="cycle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</dgm:alg>
      </dgm:if>
      <dgm:else name="Name3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onstrLst>
      <dgm:constr type="diam" refType="w"/>
      <dgm:constr type="w" for="ch" ptType="node" refType="w"/>
      <dgm:constr type="primFontSz" for="ch" ptType="node" op="equ" val="65"/>
      <dgm:constr type="w" for="ch" forName="sibTrans" refType="w" refFor="ch" refPtType="node" op="equ" fact="0.35"/>
      <dgm:constr type="connDist" for="ch" forName="sibTrans" op="equ"/>
      <dgm:constr type="primFontSz" for="des" forName="connectorText" op="equ" val="55"/>
      <dgm:constr type="primFontSz" for="des" forName="connectorText" refType="primFontSz" refFor="ch" refPtType="node" op="lte" fact="0.8"/>
      <dgm:constr type="sibSp" refType="w" refFor="ch" refPtType="node" op="equ" fact="0.65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4">
        <dgm:if name="Name5" axis="par ch" ptType="doc node" func="cnt" op="gt" val="1">
          <dgm:forEach name="sibTransForEach" axis="followSib" ptType="sibTrans" hideLastTrans="0" cnt="1">
            <dgm:layoutNode name="sibTrans">
              <dgm:choose name="Name6">
                <dgm:if name="Name7" axis="par ch" ptType="doc node" func="posEven" op="equ" val="1">
                  <dgm:alg type="conn">
                    <dgm:param type="begPts" val="radial"/>
                    <dgm:param type="endPts" val="radial"/>
                    <dgm:param type="begSty" val="arr"/>
                    <dgm:param type="endSty" val="arr"/>
                  </dgm:alg>
                </dgm:if>
                <dgm:else name="Name8">
                  <dgm:alg type="conn">
                    <dgm:param type="begPts" val="auto"/>
                    <dgm:param type="endPts" val="auto"/>
                    <dgm:param type="begSty" val="arr"/>
                    <dgm:param type="endSty" val="arr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5"/>
                <dgm:constr type="connDist"/>
                <dgm:constr type="begPad" refType="connDist" fact="0.1"/>
                <dgm:constr type="endPad" refType="connDist" fact="0.1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9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C1A836-5903-4B5F-A3E3-7DF268CEE402}" type="datetimeFigureOut">
              <a:rPr lang="ko-KR" altLang="en-US" smtClean="0"/>
              <a:t>2024-04-25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56EACD-65A0-446B-9C59-DA263DA356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3047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8C72-5831-47B0-9DE4-7055291F8DAD}" type="datetime1">
              <a:rPr lang="ko-KR" altLang="en-US" smtClean="0"/>
              <a:t>2024-04-25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8094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C188C-AEF5-41BA-8BE7-7F8ECDFB9E23}" type="datetime1">
              <a:rPr lang="ko-KR" altLang="en-US" smtClean="0"/>
              <a:t>2024-04-25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9727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2250B-E19F-4AD1-A4A4-73E4A8648F81}" type="datetime1">
              <a:rPr lang="ko-KR" altLang="en-US" smtClean="0"/>
              <a:t>2024-04-25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3266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F7AB8-4F8C-4926-A5BB-2C5E39402820}" type="datetime1">
              <a:rPr lang="ko-KR" altLang="en-US" smtClean="0"/>
              <a:t>2024-04-25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47911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AEEDB-E755-4516-902E-0E25DD270D2E}" type="datetime1">
              <a:rPr lang="ko-KR" altLang="en-US" smtClean="0"/>
              <a:t>2024-04-25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0750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18081-4A06-4CEA-97E5-E6F24F2F4F9A}" type="datetime1">
              <a:rPr lang="ko-KR" altLang="en-US" smtClean="0"/>
              <a:t>2024-04-25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fld id="{B391C14E-ADBB-4C2F-9626-3E6F69969DC2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FBA326-301F-9520-133E-ED924092F6A7}"/>
              </a:ext>
            </a:extLst>
          </p:cNvPr>
          <p:cNvSpPr/>
          <p:nvPr userDrawn="1"/>
        </p:nvSpPr>
        <p:spPr>
          <a:xfrm>
            <a:off x="0" y="542170"/>
            <a:ext cx="9906000" cy="56384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육각형 6">
            <a:extLst>
              <a:ext uri="{FF2B5EF4-FFF2-40B4-BE49-F238E27FC236}">
                <a16:creationId xmlns:a16="http://schemas.microsoft.com/office/drawing/2014/main" id="{883096CD-0D58-9F66-CE62-24E00F3C9795}"/>
              </a:ext>
            </a:extLst>
          </p:cNvPr>
          <p:cNvSpPr/>
          <p:nvPr userDrawn="1"/>
        </p:nvSpPr>
        <p:spPr>
          <a:xfrm>
            <a:off x="660400" y="817"/>
            <a:ext cx="8585201" cy="1105200"/>
          </a:xfrm>
          <a:prstGeom prst="hexagon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highlight>
                <a:srgbClr val="FFFF00"/>
              </a:highlight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CF92806-8E41-42B3-E9AB-7161B63E2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17"/>
            <a:ext cx="9905999" cy="1105200"/>
          </a:xfrm>
        </p:spPr>
        <p:txBody>
          <a:bodyPr>
            <a:normAutofit/>
          </a:bodyPr>
          <a:lstStyle>
            <a:lvl1pPr algn="ctr">
              <a:defRPr sz="400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0396083-EFB9-27C4-6CEB-6387F7C638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7B7B7D"/>
              </a:clrFrom>
              <a:clrTo>
                <a:srgbClr val="7B7B7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6236785"/>
            <a:ext cx="1260158" cy="413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362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E2B65-D37D-446A-8B9A-42C33D21C6AF}" type="datetime1">
              <a:rPr lang="ko-KR" altLang="en-US" smtClean="0"/>
              <a:t>2024-04-25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2191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2AB71-5A72-4654-B713-0DA1346CBB5B}" type="datetime1">
              <a:rPr lang="ko-KR" altLang="en-US" smtClean="0"/>
              <a:t>2024-04-25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28119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83049-CDA3-4553-B447-179E5E1806D0}" type="datetime1">
              <a:rPr lang="ko-KR" altLang="en-US" smtClean="0"/>
              <a:t>2024-04-25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7336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F0516-3FED-4EAF-B3BB-AD3A4F5610B4}" type="datetime1">
              <a:rPr lang="ko-KR" altLang="en-US" smtClean="0"/>
              <a:t>2024-04-25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3009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18F79-A23E-4707-8772-9ECD61421F5C}" type="datetime1">
              <a:rPr lang="ko-KR" altLang="en-US" smtClean="0"/>
              <a:t>2024-04-25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8375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997A36-0F3C-4717-B914-DA0EF682EA43}" type="datetime1">
              <a:rPr lang="ko-KR" altLang="en-US" smtClean="0"/>
              <a:t>2024-04-25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91C14E-ADBB-4C2F-9626-3E6F69969D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8045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slide" Target="slide6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1.wmv"/><Relationship Id="rId1" Type="http://schemas.microsoft.com/office/2007/relationships/media" Target="../media/media1.wmv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 도형 3">
            <a:extLst>
              <a:ext uri="{FF2B5EF4-FFF2-40B4-BE49-F238E27FC236}">
                <a16:creationId xmlns:a16="http://schemas.microsoft.com/office/drawing/2014/main" id="{C0F427AA-D30F-388D-9523-FDA0749BB0D1}"/>
              </a:ext>
            </a:extLst>
          </p:cNvPr>
          <p:cNvSpPr/>
          <p:nvPr/>
        </p:nvSpPr>
        <p:spPr>
          <a:xfrm>
            <a:off x="1" y="0"/>
            <a:ext cx="5242559" cy="6858000"/>
          </a:xfrm>
          <a:prstGeom prst="corner">
            <a:avLst/>
          </a:prstGeom>
          <a:blipFill dpi="0" rotWithShape="1">
            <a:blip r:embed="rId2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5B2620-2064-35D7-54E7-1493F598424E}"/>
              </a:ext>
            </a:extLst>
          </p:cNvPr>
          <p:cNvSpPr txBox="1"/>
          <p:nvPr/>
        </p:nvSpPr>
        <p:spPr>
          <a:xfrm>
            <a:off x="3708819" y="1282414"/>
            <a:ext cx="4391404" cy="1662121"/>
          </a:xfrm>
          <a:prstGeom prst="rect">
            <a:avLst/>
          </a:prstGeom>
          <a:noFill/>
        </p:spPr>
        <p:txBody>
          <a:bodyPr wrap="square" rtlCol="0">
            <a:prstTxWarp prst="textTriangle">
              <a:avLst/>
            </a:prstTxWarp>
            <a:spAutoFit/>
          </a:bodyPr>
          <a:lstStyle/>
          <a:p>
            <a:r>
              <a:rPr lang="en-US" altLang="ko-KR" b="1" dirty="0">
                <a:effectLst>
                  <a:reflection blurRad="6350" stA="60000" endA="900" endPos="60000" dist="29997" dir="5400000" sy="-100000" algn="bl" rotWithShape="0"/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ESG</a:t>
            </a:r>
            <a:endParaRPr lang="ko-KR" altLang="en-US" b="1" dirty="0">
              <a:effectLst>
                <a:reflection blurRad="6350" stA="60000" endA="900" endPos="60000" dist="29997" dir="5400000" sy="-100000" algn="bl" rotWithShape="0"/>
              </a:effectLst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59253AA-6E06-5A1F-9792-87093D52011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7C7C7E"/>
              </a:clrFrom>
              <a:clrTo>
                <a:srgbClr val="7C7C7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0223" y="373388"/>
            <a:ext cx="1426874" cy="468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4052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1FEAE55-1655-B40C-89EC-7F69220FC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5A09708-829D-3478-73EF-54DB9FE8A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5" name="화살표: 위로 굽음 4">
            <a:extLst>
              <a:ext uri="{FF2B5EF4-FFF2-40B4-BE49-F238E27FC236}">
                <a16:creationId xmlns:a16="http://schemas.microsoft.com/office/drawing/2014/main" id="{DC25254D-2A2A-475B-2C48-1E7E0EAD0503}"/>
              </a:ext>
            </a:extLst>
          </p:cNvPr>
          <p:cNvSpPr/>
          <p:nvPr/>
        </p:nvSpPr>
        <p:spPr>
          <a:xfrm>
            <a:off x="1011382" y="1842213"/>
            <a:ext cx="5474260" cy="498477"/>
          </a:xfrm>
          <a:prstGeom prst="bentUpArrow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6" name="순서도: 화면 표시 5">
            <a:extLst>
              <a:ext uri="{FF2B5EF4-FFF2-40B4-BE49-F238E27FC236}">
                <a16:creationId xmlns:a16="http://schemas.microsoft.com/office/drawing/2014/main" id="{CFAF51C2-D1D4-0B2D-4E18-056B1548353B}"/>
              </a:ext>
            </a:extLst>
          </p:cNvPr>
          <p:cNvSpPr/>
          <p:nvPr/>
        </p:nvSpPr>
        <p:spPr>
          <a:xfrm>
            <a:off x="681037" y="1449093"/>
            <a:ext cx="1717963" cy="886690"/>
          </a:xfrm>
          <a:prstGeom prst="flowChartDisplay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돋움" panose="020B0600000101010101" pitchFamily="50" charset="-127"/>
                <a:ea typeface="돋움" panose="020B0600000101010101" pitchFamily="50" charset="-127"/>
              </a:rPr>
              <a:t>1</a:t>
            </a:r>
            <a:endParaRPr lang="ko-KR" altLang="en-US" sz="24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7" name="화살표: 위로 굽음 6">
            <a:extLst>
              <a:ext uri="{FF2B5EF4-FFF2-40B4-BE49-F238E27FC236}">
                <a16:creationId xmlns:a16="http://schemas.microsoft.com/office/drawing/2014/main" id="{1FE1D00B-9711-6C3E-CB1C-DD04BE6F9989}"/>
              </a:ext>
            </a:extLst>
          </p:cNvPr>
          <p:cNvSpPr/>
          <p:nvPr/>
        </p:nvSpPr>
        <p:spPr>
          <a:xfrm>
            <a:off x="1011382" y="3061411"/>
            <a:ext cx="5474260" cy="498477"/>
          </a:xfrm>
          <a:prstGeom prst="bentUpArrow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8" name="순서도: 화면 표시 7">
            <a:extLst>
              <a:ext uri="{FF2B5EF4-FFF2-40B4-BE49-F238E27FC236}">
                <a16:creationId xmlns:a16="http://schemas.microsoft.com/office/drawing/2014/main" id="{8BAB1C8F-9CCB-A28A-57D3-798D64491AA1}"/>
              </a:ext>
            </a:extLst>
          </p:cNvPr>
          <p:cNvSpPr/>
          <p:nvPr/>
        </p:nvSpPr>
        <p:spPr>
          <a:xfrm>
            <a:off x="681037" y="2668291"/>
            <a:ext cx="1717963" cy="886690"/>
          </a:xfrm>
          <a:prstGeom prst="flowChartDisplay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돋움" panose="020B0600000101010101" pitchFamily="50" charset="-127"/>
                <a:ea typeface="돋움" panose="020B0600000101010101" pitchFamily="50" charset="-127"/>
              </a:rPr>
              <a:t>2</a:t>
            </a:r>
            <a:endParaRPr lang="ko-KR" altLang="en-US" sz="24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9" name="화살표: 위로 굽음 8">
            <a:extLst>
              <a:ext uri="{FF2B5EF4-FFF2-40B4-BE49-F238E27FC236}">
                <a16:creationId xmlns:a16="http://schemas.microsoft.com/office/drawing/2014/main" id="{51C73BC7-992B-1809-F475-3114A07B0DE9}"/>
              </a:ext>
            </a:extLst>
          </p:cNvPr>
          <p:cNvSpPr/>
          <p:nvPr/>
        </p:nvSpPr>
        <p:spPr>
          <a:xfrm>
            <a:off x="1011382" y="4280026"/>
            <a:ext cx="5474260" cy="498477"/>
          </a:xfrm>
          <a:prstGeom prst="bentUpArrow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10" name="순서도: 화면 표시 9">
            <a:extLst>
              <a:ext uri="{FF2B5EF4-FFF2-40B4-BE49-F238E27FC236}">
                <a16:creationId xmlns:a16="http://schemas.microsoft.com/office/drawing/2014/main" id="{BA92389F-9D77-50B9-E45F-8BF5FAAC72A9}"/>
              </a:ext>
            </a:extLst>
          </p:cNvPr>
          <p:cNvSpPr/>
          <p:nvPr/>
        </p:nvSpPr>
        <p:spPr>
          <a:xfrm>
            <a:off x="681037" y="3886906"/>
            <a:ext cx="1717963" cy="886690"/>
          </a:xfrm>
          <a:prstGeom prst="flowChartDisplay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돋움" panose="020B0600000101010101" pitchFamily="50" charset="-127"/>
                <a:ea typeface="돋움" panose="020B0600000101010101" pitchFamily="50" charset="-127"/>
              </a:rPr>
              <a:t>3</a:t>
            </a:r>
            <a:endParaRPr lang="ko-KR" altLang="en-US" sz="24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11" name="화살표: 위로 굽음 10">
            <a:extLst>
              <a:ext uri="{FF2B5EF4-FFF2-40B4-BE49-F238E27FC236}">
                <a16:creationId xmlns:a16="http://schemas.microsoft.com/office/drawing/2014/main" id="{13EB4D46-62CA-450D-C613-31E3B56DA885}"/>
              </a:ext>
            </a:extLst>
          </p:cNvPr>
          <p:cNvSpPr/>
          <p:nvPr/>
        </p:nvSpPr>
        <p:spPr>
          <a:xfrm>
            <a:off x="1011382" y="5493734"/>
            <a:ext cx="5474260" cy="498477"/>
          </a:xfrm>
          <a:prstGeom prst="bentUpArrow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12" name="순서도: 화면 표시 11">
            <a:extLst>
              <a:ext uri="{FF2B5EF4-FFF2-40B4-BE49-F238E27FC236}">
                <a16:creationId xmlns:a16="http://schemas.microsoft.com/office/drawing/2014/main" id="{BBC2AEA2-6AAC-320D-C41F-5195994F916F}"/>
              </a:ext>
            </a:extLst>
          </p:cNvPr>
          <p:cNvSpPr/>
          <p:nvPr/>
        </p:nvSpPr>
        <p:spPr>
          <a:xfrm>
            <a:off x="681037" y="5100614"/>
            <a:ext cx="1717963" cy="886690"/>
          </a:xfrm>
          <a:prstGeom prst="flowChartDisplay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돋움" panose="020B0600000101010101" pitchFamily="50" charset="-127"/>
                <a:ea typeface="돋움" panose="020B0600000101010101" pitchFamily="50" charset="-127"/>
              </a:rPr>
              <a:t>4</a:t>
            </a:r>
            <a:endParaRPr lang="ko-KR" altLang="en-US" sz="24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07E565-B194-55DA-736D-BF425178C657}"/>
              </a:ext>
            </a:extLst>
          </p:cNvPr>
          <p:cNvSpPr txBox="1"/>
          <p:nvPr/>
        </p:nvSpPr>
        <p:spPr>
          <a:xfrm>
            <a:off x="2602045" y="1680712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latin typeface="돋움" panose="020B0600000101010101" pitchFamily="50" charset="-127"/>
                <a:ea typeface="돋움" panose="020B0600000101010101" pitchFamily="50" charset="-127"/>
              </a:rPr>
              <a:t>지속가능경영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35B09A5-BB51-97A3-B648-D2196249C3B2}"/>
              </a:ext>
            </a:extLst>
          </p:cNvPr>
          <p:cNvSpPr txBox="1"/>
          <p:nvPr/>
        </p:nvSpPr>
        <p:spPr>
          <a:xfrm>
            <a:off x="2602045" y="2904106"/>
            <a:ext cx="2852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latin typeface="돋움" panose="020B0600000101010101" pitchFamily="50" charset="-127"/>
                <a:ea typeface="돋움" panose="020B0600000101010101" pitchFamily="50" charset="-127"/>
              </a:rPr>
              <a:t>지속가능 목표 제안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C2C2F9D-2C44-1A64-4EDC-D8D9022321F5}"/>
              </a:ext>
            </a:extLst>
          </p:cNvPr>
          <p:cNvSpPr txBox="1"/>
          <p:nvPr/>
        </p:nvSpPr>
        <p:spPr>
          <a:xfrm>
            <a:off x="2602045" y="4104832"/>
            <a:ext cx="2852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latin typeface="돋움" panose="020B0600000101010101" pitchFamily="50" charset="-127"/>
                <a:ea typeface="돋움" panose="020B0600000101010101" pitchFamily="50" charset="-127"/>
              </a:rPr>
              <a:t>지속가능 금융 현황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C57E2FF-F346-CE47-7E23-E7B4194FF9AE}"/>
              </a:ext>
            </a:extLst>
          </p:cNvPr>
          <p:cNvSpPr txBox="1"/>
          <p:nvPr/>
        </p:nvSpPr>
        <p:spPr>
          <a:xfrm>
            <a:off x="2602045" y="5323034"/>
            <a:ext cx="28584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latin typeface="돋움" panose="020B0600000101010101" pitchFamily="50" charset="-127"/>
                <a:ea typeface="돋움" panose="020B0600000101010101" pitchFamily="50" charset="-127"/>
                <a:hlinkClick r:id="rId2" action="ppaction://hlinksldjump"/>
              </a:rPr>
              <a:t>ESG </a:t>
            </a:r>
            <a:r>
              <a:rPr lang="ko-KR" altLang="en-US" sz="2400" dirty="0">
                <a:latin typeface="돋움" panose="020B0600000101010101" pitchFamily="50" charset="-127"/>
                <a:ea typeface="돋움" panose="020B0600000101010101" pitchFamily="50" charset="-127"/>
                <a:hlinkClick r:id="rId2" action="ppaction://hlinksldjump"/>
              </a:rPr>
              <a:t>경영체제 구축</a:t>
            </a:r>
            <a:endParaRPr lang="ko-KR" altLang="en-US" sz="24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B33B9F44-98F1-4D11-8C1C-3EAA857CCDF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763" t="31286" r="4245" b="34408"/>
          <a:stretch/>
        </p:blipFill>
        <p:spPr>
          <a:xfrm>
            <a:off x="7408595" y="4280026"/>
            <a:ext cx="1717963" cy="1872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33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D63B84-0899-6BFE-5C83-238BBC692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8B6CFEC-3E57-99FA-AA41-F5A01CE54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지속가능경영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B149B15-472C-5861-6849-6327F010EE27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43949" y="1306477"/>
            <a:ext cx="6756400" cy="2238375"/>
          </a:xfrm>
        </p:spPr>
        <p:txBody>
          <a:bodyPr>
            <a:noAutofit/>
          </a:bodyPr>
          <a:lstStyle/>
          <a:p>
            <a:pPr marL="358775" indent="-358775" latinLnBrk="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ko-KR" sz="2400" b="1" dirty="0">
                <a:latin typeface="굴림" panose="020B0600000101010101" pitchFamily="50" charset="-127"/>
                <a:ea typeface="굴림" panose="020B0600000101010101" pitchFamily="50" charset="-127"/>
              </a:rPr>
              <a:t>Sustainability</a:t>
            </a:r>
          </a:p>
          <a:p>
            <a:pPr marL="715963" lvl="1" indent="-357188" latinLnBrk="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2000" dirty="0">
                <a:latin typeface="굴림" panose="020B0600000101010101" pitchFamily="50" charset="-127"/>
                <a:ea typeface="굴림" panose="020B0600000101010101" pitchFamily="50" charset="-127"/>
              </a:rPr>
              <a:t>Sustainability is improving the quality of human life while living within the carrying capacity of supporting eco-systems</a:t>
            </a:r>
            <a:endParaRPr lang="ko-KR" altLang="en-US" sz="20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615DB4C9-BFAB-7EBA-9244-28FDB8C19890}"/>
              </a:ext>
            </a:extLst>
          </p:cNvPr>
          <p:cNvSpPr txBox="1">
            <a:spLocks/>
          </p:cNvSpPr>
          <p:nvPr/>
        </p:nvSpPr>
        <p:spPr>
          <a:xfrm>
            <a:off x="343949" y="3774560"/>
            <a:ext cx="8881014" cy="22383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8775" indent="-358775" latinLnBrk="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2400" b="1" dirty="0">
                <a:latin typeface="굴림" panose="020B0600000101010101" pitchFamily="50" charset="-127"/>
                <a:ea typeface="굴림" panose="020B0600000101010101" pitchFamily="50" charset="-127"/>
              </a:rPr>
              <a:t>지속가능경영</a:t>
            </a:r>
            <a:r>
              <a:rPr lang="en-US" altLang="ko-KR" sz="2400" b="1" dirty="0">
                <a:latin typeface="굴림" panose="020B0600000101010101" pitchFamily="50" charset="-127"/>
                <a:ea typeface="굴림" panose="020B0600000101010101" pitchFamily="50" charset="-127"/>
              </a:rPr>
              <a:t>(ESG)</a:t>
            </a:r>
            <a:r>
              <a:rPr lang="ko-KR" altLang="en-US" sz="2400" b="1" dirty="0">
                <a:latin typeface="굴림" panose="020B0600000101010101" pitchFamily="50" charset="-127"/>
                <a:ea typeface="굴림" panose="020B0600000101010101" pitchFamily="50" charset="-127"/>
              </a:rPr>
              <a:t>의</a:t>
            </a:r>
            <a:r>
              <a:rPr lang="en-US" altLang="ko-KR" sz="24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sz="2400" b="1" dirty="0">
                <a:latin typeface="굴림" panose="020B0600000101010101" pitchFamily="50" charset="-127"/>
                <a:ea typeface="굴림" panose="020B0600000101010101" pitchFamily="50" charset="-127"/>
              </a:rPr>
              <a:t>의미</a:t>
            </a:r>
            <a:endParaRPr lang="en-US" altLang="ko-KR" sz="24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715963" lvl="1" indent="-357188" latinLnBrk="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2000" b="0" i="0" dirty="0"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ESG</a:t>
            </a:r>
            <a:r>
              <a:rPr lang="ko-KR" altLang="en-US" sz="2000" b="0" i="0" dirty="0"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는 환경</a:t>
            </a:r>
            <a:r>
              <a:rPr lang="en-US" altLang="ko-KR" sz="2000" b="0" i="0" dirty="0"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(Environmental), </a:t>
            </a:r>
            <a:r>
              <a:rPr lang="ko-KR" altLang="en-US" sz="2000" b="0" i="0" dirty="0"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사회</a:t>
            </a:r>
            <a:r>
              <a:rPr lang="en-US" altLang="ko-KR" sz="2000" b="0" i="0" dirty="0"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(Social), </a:t>
            </a:r>
            <a:r>
              <a:rPr lang="ko-KR" altLang="en-US" sz="2000" b="0" i="0" dirty="0"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지배구조</a:t>
            </a:r>
            <a:r>
              <a:rPr lang="en-US" altLang="ko-KR" sz="2000" b="0" i="0" dirty="0"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(Governance)</a:t>
            </a:r>
            <a:r>
              <a:rPr lang="ko-KR" altLang="en-US" sz="2000" b="0" i="0" dirty="0"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의 영문 첫 글자를 조합한 단어 </a:t>
            </a:r>
            <a:endParaRPr lang="en-US" altLang="ko-KR" sz="2000" b="0" i="0" dirty="0">
              <a:effectLst/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715963" lvl="1" indent="-357188" latinLnBrk="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2000" b="0" i="0" dirty="0"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기업 경영에서 지속가능성을 달성하기 위한 </a:t>
            </a:r>
            <a:r>
              <a:rPr lang="en-US" altLang="ko-KR" sz="2000" b="0" i="0" dirty="0"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3</a:t>
            </a:r>
            <a:r>
              <a:rPr lang="ko-KR" altLang="en-US" sz="2000" b="0" i="0" dirty="0">
                <a:effectLst/>
                <a:latin typeface="굴림" panose="020B0600000101010101" pitchFamily="50" charset="-127"/>
                <a:ea typeface="굴림" panose="020B0600000101010101" pitchFamily="50" charset="-127"/>
              </a:rPr>
              <a:t>가지 핵심 요소</a:t>
            </a:r>
            <a:endParaRPr lang="en-US" altLang="ko-KR" sz="20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6" name="동영상">
            <a:hlinkClick r:id="" action="ppaction://media"/>
            <a:extLst>
              <a:ext uri="{FF2B5EF4-FFF2-40B4-BE49-F238E27FC236}">
                <a16:creationId xmlns:a16="http://schemas.microsoft.com/office/drawing/2014/main" id="{AA71D4BF-A0D1-ED5E-5C9C-F6997878329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437583" y="1797685"/>
            <a:ext cx="1787380" cy="1375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446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975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잘린 대각선 방향 모서리 5">
            <a:extLst>
              <a:ext uri="{FF2B5EF4-FFF2-40B4-BE49-F238E27FC236}">
                <a16:creationId xmlns:a16="http://schemas.microsoft.com/office/drawing/2014/main" id="{166EE601-2246-7167-DCE2-9D5015902333}"/>
              </a:ext>
            </a:extLst>
          </p:cNvPr>
          <p:cNvSpPr/>
          <p:nvPr/>
        </p:nvSpPr>
        <p:spPr>
          <a:xfrm>
            <a:off x="428683" y="2520106"/>
            <a:ext cx="1348510" cy="1130400"/>
          </a:xfrm>
          <a:prstGeom prst="snip2DiagRect">
            <a:avLst/>
          </a:pr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chemeClr val="accent5">
                  <a:lumMod val="75000"/>
                </a:schemeClr>
              </a:gs>
            </a:gsLst>
            <a:lin ang="5400000" scaled="1"/>
          </a:gra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영역</a:t>
            </a:r>
            <a:r>
              <a:rPr lang="en-US" altLang="ko-KR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1</a:t>
            </a:r>
            <a:endParaRPr lang="ko-KR" altLang="en-US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" name="사각형: 잘린 대각선 방향 모서리 6">
            <a:extLst>
              <a:ext uri="{FF2B5EF4-FFF2-40B4-BE49-F238E27FC236}">
                <a16:creationId xmlns:a16="http://schemas.microsoft.com/office/drawing/2014/main" id="{58BCB60F-9E12-5B78-52FC-3FD724834027}"/>
              </a:ext>
            </a:extLst>
          </p:cNvPr>
          <p:cNvSpPr/>
          <p:nvPr/>
        </p:nvSpPr>
        <p:spPr>
          <a:xfrm>
            <a:off x="428683" y="3651366"/>
            <a:ext cx="1348510" cy="1130400"/>
          </a:xfrm>
          <a:prstGeom prst="snip2DiagRect">
            <a:avLst/>
          </a:pr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chemeClr val="accent5">
                  <a:lumMod val="75000"/>
                </a:schemeClr>
              </a:gs>
            </a:gsLst>
            <a:lin ang="5400000" scaled="1"/>
          </a:gra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영역</a:t>
            </a:r>
            <a:r>
              <a:rPr lang="en-US" altLang="ko-KR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2</a:t>
            </a:r>
            <a:endParaRPr lang="ko-KR" altLang="en-US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8" name="사각형: 잘린 대각선 방향 모서리 7">
            <a:extLst>
              <a:ext uri="{FF2B5EF4-FFF2-40B4-BE49-F238E27FC236}">
                <a16:creationId xmlns:a16="http://schemas.microsoft.com/office/drawing/2014/main" id="{7EA6030C-C764-7AC1-17BC-2F5139255958}"/>
              </a:ext>
            </a:extLst>
          </p:cNvPr>
          <p:cNvSpPr/>
          <p:nvPr/>
        </p:nvSpPr>
        <p:spPr>
          <a:xfrm>
            <a:off x="428683" y="4778296"/>
            <a:ext cx="1348510" cy="1130400"/>
          </a:xfrm>
          <a:prstGeom prst="snip2DiagRect">
            <a:avLst/>
          </a:pr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chemeClr val="accent5">
                  <a:lumMod val="75000"/>
                </a:schemeClr>
              </a:gs>
            </a:gsLst>
            <a:lin ang="5400000" scaled="1"/>
          </a:gra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영역</a:t>
            </a:r>
            <a:r>
              <a:rPr lang="en-US" altLang="ko-KR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3</a:t>
            </a:r>
            <a:endParaRPr lang="ko-KR" altLang="en-US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9" name="사각형: 잘린 위쪽 모서리 8">
            <a:extLst>
              <a:ext uri="{FF2B5EF4-FFF2-40B4-BE49-F238E27FC236}">
                <a16:creationId xmlns:a16="http://schemas.microsoft.com/office/drawing/2014/main" id="{A663AF94-7F68-4AA8-8417-5F7D33FA7D6F}"/>
              </a:ext>
            </a:extLst>
          </p:cNvPr>
          <p:cNvSpPr/>
          <p:nvPr/>
        </p:nvSpPr>
        <p:spPr>
          <a:xfrm>
            <a:off x="1777192" y="1558022"/>
            <a:ext cx="2545200" cy="979053"/>
          </a:xfrm>
          <a:prstGeom prst="snip2SameRect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0" name="사다리꼴 9">
            <a:extLst>
              <a:ext uri="{FF2B5EF4-FFF2-40B4-BE49-F238E27FC236}">
                <a16:creationId xmlns:a16="http://schemas.microsoft.com/office/drawing/2014/main" id="{EFC4D75C-26F8-F756-665D-01C1805E2BF8}"/>
              </a:ext>
            </a:extLst>
          </p:cNvPr>
          <p:cNvSpPr/>
          <p:nvPr/>
        </p:nvSpPr>
        <p:spPr>
          <a:xfrm>
            <a:off x="1777192" y="1558022"/>
            <a:ext cx="2545200" cy="979054"/>
          </a:xfrm>
          <a:prstGeom prst="trapezoid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기후위기대응</a:t>
            </a:r>
          </a:p>
        </p:txBody>
      </p:sp>
      <p:sp>
        <p:nvSpPr>
          <p:cNvPr id="11" name="사각형: 잘린 위쪽 모서리 10">
            <a:extLst>
              <a:ext uri="{FF2B5EF4-FFF2-40B4-BE49-F238E27FC236}">
                <a16:creationId xmlns:a16="http://schemas.microsoft.com/office/drawing/2014/main" id="{585E4FAD-79CF-2030-AFFA-6BA7BB9FFA5F}"/>
              </a:ext>
            </a:extLst>
          </p:cNvPr>
          <p:cNvSpPr/>
          <p:nvPr/>
        </p:nvSpPr>
        <p:spPr>
          <a:xfrm>
            <a:off x="4317111" y="1558022"/>
            <a:ext cx="2545200" cy="979053"/>
          </a:xfrm>
          <a:prstGeom prst="snip2SameRect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2" name="사각형: 잘린 위쪽 모서리 11">
            <a:extLst>
              <a:ext uri="{FF2B5EF4-FFF2-40B4-BE49-F238E27FC236}">
                <a16:creationId xmlns:a16="http://schemas.microsoft.com/office/drawing/2014/main" id="{9A85E24D-FFDE-02B6-0A1A-509049CA026A}"/>
              </a:ext>
            </a:extLst>
          </p:cNvPr>
          <p:cNvSpPr/>
          <p:nvPr/>
        </p:nvSpPr>
        <p:spPr>
          <a:xfrm>
            <a:off x="6854454" y="1558022"/>
            <a:ext cx="2545200" cy="979053"/>
          </a:xfrm>
          <a:prstGeom prst="snip2SameRect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빵ㄹ</a:t>
            </a:r>
            <a:endParaRPr lang="ko-KR" altLang="en-US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3" name="사다리꼴 12">
            <a:extLst>
              <a:ext uri="{FF2B5EF4-FFF2-40B4-BE49-F238E27FC236}">
                <a16:creationId xmlns:a16="http://schemas.microsoft.com/office/drawing/2014/main" id="{436BD869-B344-859E-AEC4-8A857CA27DE7}"/>
              </a:ext>
            </a:extLst>
          </p:cNvPr>
          <p:cNvSpPr/>
          <p:nvPr/>
        </p:nvSpPr>
        <p:spPr>
          <a:xfrm>
            <a:off x="4317111" y="1558022"/>
            <a:ext cx="2545200" cy="979054"/>
          </a:xfrm>
          <a:prstGeom prst="trapezoid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자원절약 및 보호</a:t>
            </a:r>
          </a:p>
        </p:txBody>
      </p:sp>
      <p:sp>
        <p:nvSpPr>
          <p:cNvPr id="14" name="사다리꼴 13">
            <a:extLst>
              <a:ext uri="{FF2B5EF4-FFF2-40B4-BE49-F238E27FC236}">
                <a16:creationId xmlns:a16="http://schemas.microsoft.com/office/drawing/2014/main" id="{427F0615-2137-181F-AC22-56501B20CEDD}"/>
              </a:ext>
            </a:extLst>
          </p:cNvPr>
          <p:cNvSpPr/>
          <p:nvPr/>
        </p:nvSpPr>
        <p:spPr>
          <a:xfrm>
            <a:off x="6854454" y="1558022"/>
            <a:ext cx="2545200" cy="979054"/>
          </a:xfrm>
          <a:prstGeom prst="trapezoid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회복지원강화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00692DB-F183-5CBB-4028-87C9ABCDE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5C547CE-9FBE-21FA-A1EE-2B5D47C70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지속가능 목표 제안</a:t>
            </a:r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36112E93-4EF5-0754-8D8B-8A4A12D2ACEF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580467755"/>
              </p:ext>
            </p:extLst>
          </p:nvPr>
        </p:nvGraphicFramePr>
        <p:xfrm>
          <a:off x="1777194" y="2528888"/>
          <a:ext cx="7636308" cy="3389742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545436">
                  <a:extLst>
                    <a:ext uri="{9D8B030D-6E8A-4147-A177-3AD203B41FA5}">
                      <a16:colId xmlns:a16="http://schemas.microsoft.com/office/drawing/2014/main" val="3405079074"/>
                    </a:ext>
                  </a:extLst>
                </a:gridCol>
                <a:gridCol w="2545436">
                  <a:extLst>
                    <a:ext uri="{9D8B030D-6E8A-4147-A177-3AD203B41FA5}">
                      <a16:colId xmlns:a16="http://schemas.microsoft.com/office/drawing/2014/main" val="3337649278"/>
                    </a:ext>
                  </a:extLst>
                </a:gridCol>
                <a:gridCol w="2545436">
                  <a:extLst>
                    <a:ext uri="{9D8B030D-6E8A-4147-A177-3AD203B41FA5}">
                      <a16:colId xmlns:a16="http://schemas.microsoft.com/office/drawing/2014/main" val="1742915524"/>
                    </a:ext>
                  </a:extLst>
                </a:gridCol>
              </a:tblGrid>
              <a:tr h="1129914"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식물 기반</a:t>
                      </a:r>
                      <a:endParaRPr lang="en-US" altLang="ko-KR" sz="1800" dirty="0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대체육 소비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물 사용과</a:t>
                      </a:r>
                      <a:endParaRPr lang="en-US" altLang="ko-KR" sz="1800" dirty="0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음식물 쓰레기 줄이기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여성과 여아의 지원</a:t>
                      </a:r>
                      <a:endParaRPr lang="en-US" altLang="ko-KR" sz="1800" dirty="0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여성 기업 지원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0716863"/>
                  </a:ext>
                </a:extLst>
              </a:tr>
              <a:tr h="1129914"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스마트 에너지 도입</a:t>
                      </a:r>
                      <a:endParaRPr lang="en-US" altLang="ko-KR" sz="1800" dirty="0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자원 순환</a:t>
                      </a:r>
                      <a:endParaRPr lang="en-US" altLang="ko-KR" sz="1800" dirty="0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재활용</a:t>
                      </a:r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, 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대여</a:t>
                      </a:r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, 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공유 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형평성 및 기회 증진</a:t>
                      </a:r>
                      <a:endParaRPr lang="en-US" altLang="ko-KR" sz="1800" dirty="0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공정무역 제품 구입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4214828"/>
                  </a:ext>
                </a:extLst>
              </a:tr>
              <a:tr h="1129914"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오래 쓰는</a:t>
                      </a:r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 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제품 도입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자연친화적 제품 선택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적극적인 사회 참여</a:t>
                      </a:r>
                      <a:endParaRPr lang="en-US" altLang="ko-KR" sz="1800" dirty="0">
                        <a:solidFill>
                          <a:schemeClr val="tx1"/>
                        </a:solidFill>
                        <a:latin typeface="굴림" panose="020B0600000101010101" pitchFamily="50" charset="-127"/>
                        <a:ea typeface="굴림" panose="020B0600000101010101" pitchFamily="50" charset="-127"/>
                      </a:endParaRPr>
                    </a:p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투표 참여</a:t>
                      </a:r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, 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자원봉사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884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38073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EF45944-D6CC-D1C6-03A2-5686FCEC8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07C9B8D-A3FB-9756-FA33-5FA8FE4BB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지속가능 금융 현황</a:t>
            </a:r>
          </a:p>
        </p:txBody>
      </p:sp>
      <p:graphicFrame>
        <p:nvGraphicFramePr>
          <p:cNvPr id="12" name="내용 개체 틀 11">
            <a:extLst>
              <a:ext uri="{FF2B5EF4-FFF2-40B4-BE49-F238E27FC236}">
                <a16:creationId xmlns:a16="http://schemas.microsoft.com/office/drawing/2014/main" id="{7D39E297-7A42-BC49-AADC-54A219ED11CA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581786153"/>
              </p:ext>
            </p:extLst>
          </p:nvPr>
        </p:nvGraphicFramePr>
        <p:xfrm>
          <a:off x="681037" y="1554163"/>
          <a:ext cx="8543925" cy="43513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3" name="사각형: 잘린 한쪽 모서리 12">
            <a:extLst>
              <a:ext uri="{FF2B5EF4-FFF2-40B4-BE49-F238E27FC236}">
                <a16:creationId xmlns:a16="http://schemas.microsoft.com/office/drawing/2014/main" id="{2960FB6A-DF75-F1A8-DE4A-7F126BDF61E5}"/>
              </a:ext>
            </a:extLst>
          </p:cNvPr>
          <p:cNvSpPr/>
          <p:nvPr/>
        </p:nvSpPr>
        <p:spPr>
          <a:xfrm>
            <a:off x="3812905" y="2261005"/>
            <a:ext cx="3334327" cy="406400"/>
          </a:xfrm>
          <a:prstGeom prst="snip1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국내</a:t>
            </a:r>
            <a:r>
              <a:rPr lang="en-US" altLang="ko-KR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(</a:t>
            </a:r>
            <a:r>
              <a:rPr lang="ko-KR" altLang="en-US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억 원</a:t>
            </a:r>
            <a:r>
              <a:rPr lang="en-US" altLang="ko-KR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), </a:t>
            </a:r>
            <a:r>
              <a:rPr lang="ko-KR" altLang="en-US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글로벌</a:t>
            </a:r>
            <a:r>
              <a:rPr lang="en-US" altLang="ko-KR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(</a:t>
            </a:r>
            <a:r>
              <a:rPr lang="ko-KR" altLang="en-US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억 달러</a:t>
            </a:r>
            <a:r>
              <a:rPr lang="en-US" altLang="ko-KR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)</a:t>
            </a:r>
            <a:endParaRPr lang="ko-KR" altLang="en-US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3179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FFD6C1-3758-6C1F-C8AE-4C47A0C89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1C14E-ADBB-4C2F-9626-3E6F69969DC2}" type="slidenum">
              <a:rPr lang="ko-KR" altLang="en-US" smtClean="0"/>
              <a:t>6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C5E2F5C-C5FC-213E-3173-048274554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ESG</a:t>
            </a:r>
            <a:r>
              <a:rPr lang="ko-KR" altLang="en-US" dirty="0"/>
              <a:t> 경영체제 구축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4826A839-27EF-A49B-CD62-A992F9B056C1}"/>
              </a:ext>
            </a:extLst>
          </p:cNvPr>
          <p:cNvGrpSpPr/>
          <p:nvPr/>
        </p:nvGrpSpPr>
        <p:grpSpPr>
          <a:xfrm>
            <a:off x="5121566" y="1278316"/>
            <a:ext cx="4608000" cy="4608000"/>
            <a:chOff x="5121566" y="1278316"/>
            <a:chExt cx="4608000" cy="4608000"/>
          </a:xfrm>
        </p:grpSpPr>
        <p:sp>
          <p:nvSpPr>
            <p:cNvPr id="5" name="사각형: 둥근 한쪽 모서리 4">
              <a:extLst>
                <a:ext uri="{FF2B5EF4-FFF2-40B4-BE49-F238E27FC236}">
                  <a16:creationId xmlns:a16="http://schemas.microsoft.com/office/drawing/2014/main" id="{7488DE84-A9C0-3008-DDC6-55D47C68873E}"/>
                </a:ext>
              </a:extLst>
            </p:cNvPr>
            <p:cNvSpPr/>
            <p:nvPr/>
          </p:nvSpPr>
          <p:spPr>
            <a:xfrm>
              <a:off x="5121566" y="1278316"/>
              <a:ext cx="4608000" cy="4608000"/>
            </a:xfrm>
            <a:prstGeom prst="round1Rect">
              <a:avLst>
                <a:gd name="adj" fmla="val 9021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endParaRPr>
            </a:p>
          </p:txBody>
        </p:sp>
        <p:sp>
          <p:nvSpPr>
            <p:cNvPr id="13" name="두루마리 모양: 가로로 말림 12">
              <a:extLst>
                <a:ext uri="{FF2B5EF4-FFF2-40B4-BE49-F238E27FC236}">
                  <a16:creationId xmlns:a16="http://schemas.microsoft.com/office/drawing/2014/main" id="{7BD9F3FF-7275-B297-FF1C-F52342C84F15}"/>
                </a:ext>
              </a:extLst>
            </p:cNvPr>
            <p:cNvSpPr/>
            <p:nvPr/>
          </p:nvSpPr>
          <p:spPr>
            <a:xfrm>
              <a:off x="5621705" y="1421485"/>
              <a:ext cx="3607723" cy="508389"/>
            </a:xfrm>
            <a:prstGeom prst="horizontalScroll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ESG </a:t>
              </a:r>
              <a:r>
                <a:rPr lang="ko-KR" altLang="en-US" dirty="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경영전략</a:t>
              </a:r>
            </a:p>
          </p:txBody>
        </p:sp>
        <p:sp>
          <p:nvSpPr>
            <p:cNvPr id="15" name="십자형 14">
              <a:extLst>
                <a:ext uri="{FF2B5EF4-FFF2-40B4-BE49-F238E27FC236}">
                  <a16:creationId xmlns:a16="http://schemas.microsoft.com/office/drawing/2014/main" id="{8C9C411C-F3DB-DCAE-BF77-867EA398AD74}"/>
                </a:ext>
              </a:extLst>
            </p:cNvPr>
            <p:cNvSpPr/>
            <p:nvPr/>
          </p:nvSpPr>
          <p:spPr>
            <a:xfrm>
              <a:off x="5809434" y="2645008"/>
              <a:ext cx="3232264" cy="427573"/>
            </a:xfrm>
            <a:prstGeom prst="plus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뉴 패러다임</a:t>
              </a:r>
            </a:p>
          </p:txBody>
        </p:sp>
        <p:sp>
          <p:nvSpPr>
            <p:cNvPr id="17" name="사각형: 잘린 위쪽 모서리 16">
              <a:extLst>
                <a:ext uri="{FF2B5EF4-FFF2-40B4-BE49-F238E27FC236}">
                  <a16:creationId xmlns:a16="http://schemas.microsoft.com/office/drawing/2014/main" id="{8549D4A7-1703-6892-488F-EE1B0A56AC82}"/>
                </a:ext>
              </a:extLst>
            </p:cNvPr>
            <p:cNvSpPr/>
            <p:nvPr/>
          </p:nvSpPr>
          <p:spPr>
            <a:xfrm>
              <a:off x="5262219" y="3287709"/>
              <a:ext cx="1874982" cy="574694"/>
            </a:xfrm>
            <a:prstGeom prst="snip2Same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재무제표 공시</a:t>
              </a:r>
            </a:p>
          </p:txBody>
        </p:sp>
        <p:sp>
          <p:nvSpPr>
            <p:cNvPr id="18" name="별: 꼭짓점 8개 17">
              <a:extLst>
                <a:ext uri="{FF2B5EF4-FFF2-40B4-BE49-F238E27FC236}">
                  <a16:creationId xmlns:a16="http://schemas.microsoft.com/office/drawing/2014/main" id="{D94FC462-30F1-A64F-9C61-3E5C17A45651}"/>
                </a:ext>
              </a:extLst>
            </p:cNvPr>
            <p:cNvSpPr/>
            <p:nvPr/>
          </p:nvSpPr>
          <p:spPr>
            <a:xfrm>
              <a:off x="7677741" y="3194080"/>
              <a:ext cx="1981982" cy="761953"/>
            </a:xfrm>
            <a:prstGeom prst="star8">
              <a:avLst/>
            </a:prstGeom>
            <a:solidFill>
              <a:schemeClr val="accent5">
                <a:lumMod val="7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bg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경영보고서</a:t>
              </a:r>
            </a:p>
          </p:txBody>
        </p:sp>
        <p:sp>
          <p:nvSpPr>
            <p:cNvPr id="19" name="눈물 방울 18">
              <a:extLst>
                <a:ext uri="{FF2B5EF4-FFF2-40B4-BE49-F238E27FC236}">
                  <a16:creationId xmlns:a16="http://schemas.microsoft.com/office/drawing/2014/main" id="{2885E0E4-D3F6-D565-3CAF-10B49BC429AD}"/>
                </a:ext>
              </a:extLst>
            </p:cNvPr>
            <p:cNvSpPr/>
            <p:nvPr/>
          </p:nvSpPr>
          <p:spPr>
            <a:xfrm rot="20756963">
              <a:off x="5385449" y="4190809"/>
              <a:ext cx="1411153" cy="871155"/>
            </a:xfrm>
            <a:prstGeom prst="teardrop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재무적 </a:t>
              </a:r>
              <a:endParaRPr lang="en-US" altLang="ko-KR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endParaRPr>
            </a:p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관점</a:t>
              </a:r>
            </a:p>
          </p:txBody>
        </p:sp>
        <p:sp>
          <p:nvSpPr>
            <p:cNvPr id="20" name="십자형 19">
              <a:extLst>
                <a:ext uri="{FF2B5EF4-FFF2-40B4-BE49-F238E27FC236}">
                  <a16:creationId xmlns:a16="http://schemas.microsoft.com/office/drawing/2014/main" id="{BE4A8F4C-FBEB-756B-7819-DF30A155600A}"/>
                </a:ext>
              </a:extLst>
            </p:cNvPr>
            <p:cNvSpPr/>
            <p:nvPr/>
          </p:nvSpPr>
          <p:spPr>
            <a:xfrm>
              <a:off x="7094752" y="4319306"/>
              <a:ext cx="661629" cy="614161"/>
            </a:xfrm>
            <a:prstGeom prst="plus">
              <a:avLst>
                <a:gd name="adj" fmla="val 38953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endParaRPr>
            </a:p>
          </p:txBody>
        </p:sp>
        <p:sp>
          <p:nvSpPr>
            <p:cNvPr id="21" name="배지 20">
              <a:extLst>
                <a:ext uri="{FF2B5EF4-FFF2-40B4-BE49-F238E27FC236}">
                  <a16:creationId xmlns:a16="http://schemas.microsoft.com/office/drawing/2014/main" id="{D393C190-9EDD-DB80-EC29-F969B6B2D391}"/>
                </a:ext>
              </a:extLst>
            </p:cNvPr>
            <p:cNvSpPr/>
            <p:nvPr/>
          </p:nvSpPr>
          <p:spPr>
            <a:xfrm>
              <a:off x="7962353" y="4749050"/>
              <a:ext cx="1412758" cy="476046"/>
            </a:xfrm>
            <a:prstGeom prst="plaque">
              <a:avLst/>
            </a:prstGeom>
            <a:solidFill>
              <a:schemeClr val="accent6">
                <a:lumMod val="40000"/>
                <a:lumOff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ESG </a:t>
              </a:r>
              <a:r>
                <a:rPr lang="ko-KR" altLang="en-US" dirty="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관점</a:t>
              </a:r>
            </a:p>
          </p:txBody>
        </p:sp>
        <p:sp>
          <p:nvSpPr>
            <p:cNvPr id="23" name="화살표: 오각형 22">
              <a:extLst>
                <a:ext uri="{FF2B5EF4-FFF2-40B4-BE49-F238E27FC236}">
                  <a16:creationId xmlns:a16="http://schemas.microsoft.com/office/drawing/2014/main" id="{923FE3D4-78F7-805B-BBFC-1E0CEFB430AF}"/>
                </a:ext>
              </a:extLst>
            </p:cNvPr>
            <p:cNvSpPr/>
            <p:nvPr/>
          </p:nvSpPr>
          <p:spPr>
            <a:xfrm>
              <a:off x="5241796" y="5308131"/>
              <a:ext cx="2156531" cy="476045"/>
            </a:xfrm>
            <a:prstGeom prst="homePlate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재무성과창출</a:t>
              </a:r>
            </a:p>
          </p:txBody>
        </p:sp>
        <p:sp>
          <p:nvSpPr>
            <p:cNvPr id="14" name="화살표: 왼쪽/오른쪽/위쪽 13">
              <a:extLst>
                <a:ext uri="{FF2B5EF4-FFF2-40B4-BE49-F238E27FC236}">
                  <a16:creationId xmlns:a16="http://schemas.microsoft.com/office/drawing/2014/main" id="{8810CC61-C305-AB83-6096-147802426EED}"/>
                </a:ext>
              </a:extLst>
            </p:cNvPr>
            <p:cNvSpPr/>
            <p:nvPr/>
          </p:nvSpPr>
          <p:spPr>
            <a:xfrm>
              <a:off x="6317203" y="1949840"/>
              <a:ext cx="2216727" cy="608714"/>
            </a:xfrm>
            <a:prstGeom prst="leftRightUpArrow">
              <a:avLst>
                <a:gd name="adj1" fmla="val 50000"/>
                <a:gd name="adj2" fmla="val 25000"/>
                <a:gd name="adj3" fmla="val 25000"/>
              </a:avLst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기업가치</a:t>
              </a:r>
            </a:p>
          </p:txBody>
        </p:sp>
        <p:sp>
          <p:nvSpPr>
            <p:cNvPr id="42" name="화살표: 오각형 41">
              <a:extLst>
                <a:ext uri="{FF2B5EF4-FFF2-40B4-BE49-F238E27FC236}">
                  <a16:creationId xmlns:a16="http://schemas.microsoft.com/office/drawing/2014/main" id="{D45AD9D7-4B08-4CED-8478-24E9854C677E}"/>
                </a:ext>
              </a:extLst>
            </p:cNvPr>
            <p:cNvSpPr/>
            <p:nvPr/>
          </p:nvSpPr>
          <p:spPr>
            <a:xfrm flipH="1">
              <a:off x="7451529" y="5308132"/>
              <a:ext cx="2131934" cy="476045"/>
            </a:xfrm>
            <a:prstGeom prst="homePlate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비재무성과창출</a:t>
              </a:r>
            </a:p>
          </p:txBody>
        </p:sp>
        <p:sp>
          <p:nvSpPr>
            <p:cNvPr id="43" name="화살표: 아래쪽 42">
              <a:extLst>
                <a:ext uri="{FF2B5EF4-FFF2-40B4-BE49-F238E27FC236}">
                  <a16:creationId xmlns:a16="http://schemas.microsoft.com/office/drawing/2014/main" id="{9576F315-7736-4B60-A7D4-52484855BB23}"/>
                </a:ext>
              </a:extLst>
            </p:cNvPr>
            <p:cNvSpPr/>
            <p:nvPr/>
          </p:nvSpPr>
          <p:spPr>
            <a:xfrm>
              <a:off x="8337918" y="4019640"/>
              <a:ext cx="661629" cy="674714"/>
            </a:xfrm>
            <a:prstGeom prst="downArrow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공시</a:t>
              </a: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C442624E-E49A-980C-4026-A900C75C7AB6}"/>
              </a:ext>
            </a:extLst>
          </p:cNvPr>
          <p:cNvGrpSpPr/>
          <p:nvPr/>
        </p:nvGrpSpPr>
        <p:grpSpPr>
          <a:xfrm>
            <a:off x="193963" y="1278316"/>
            <a:ext cx="4608000" cy="4608000"/>
            <a:chOff x="193963" y="1278316"/>
            <a:chExt cx="4608000" cy="4608000"/>
          </a:xfrm>
        </p:grpSpPr>
        <p:sp>
          <p:nvSpPr>
            <p:cNvPr id="6" name="사각형: 둥근 한쪽 모서리 5">
              <a:extLst>
                <a:ext uri="{FF2B5EF4-FFF2-40B4-BE49-F238E27FC236}">
                  <a16:creationId xmlns:a16="http://schemas.microsoft.com/office/drawing/2014/main" id="{36F7AD7C-AFD6-579E-C3C7-C210589F1D0D}"/>
                </a:ext>
              </a:extLst>
            </p:cNvPr>
            <p:cNvSpPr/>
            <p:nvPr/>
          </p:nvSpPr>
          <p:spPr>
            <a:xfrm flipV="1">
              <a:off x="193963" y="1278316"/>
              <a:ext cx="4608000" cy="4608000"/>
            </a:xfrm>
            <a:prstGeom prst="round1Rect">
              <a:avLst>
                <a:gd name="adj" fmla="val 8418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endParaRPr>
            </a:p>
          </p:txBody>
        </p:sp>
        <p:sp>
          <p:nvSpPr>
            <p:cNvPr id="11" name="사다리꼴 10">
              <a:extLst>
                <a:ext uri="{FF2B5EF4-FFF2-40B4-BE49-F238E27FC236}">
                  <a16:creationId xmlns:a16="http://schemas.microsoft.com/office/drawing/2014/main" id="{B9F6237D-6498-C3DF-FB45-D97E4DA5BFC3}"/>
                </a:ext>
              </a:extLst>
            </p:cNvPr>
            <p:cNvSpPr/>
            <p:nvPr/>
          </p:nvSpPr>
          <p:spPr>
            <a:xfrm flipV="1">
              <a:off x="2934440" y="3828856"/>
              <a:ext cx="1735214" cy="488247"/>
            </a:xfrm>
            <a:prstGeom prst="trapezoid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1B9E498-8704-3C81-6EB5-96586A581659}"/>
                </a:ext>
              </a:extLst>
            </p:cNvPr>
            <p:cNvSpPr txBox="1"/>
            <p:nvPr/>
          </p:nvSpPr>
          <p:spPr>
            <a:xfrm>
              <a:off x="3207172" y="3888314"/>
              <a:ext cx="11897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latin typeface="돋움" panose="020B0600000101010101" pitchFamily="50" charset="-127"/>
                  <a:ea typeface="돋움" panose="020B0600000101010101" pitchFamily="50" charset="-127"/>
                </a:rPr>
                <a:t>ESG </a:t>
              </a:r>
              <a:r>
                <a:rPr lang="ko-KR" altLang="en-US" dirty="0">
                  <a:latin typeface="돋움" panose="020B0600000101010101" pitchFamily="50" charset="-127"/>
                  <a:ea typeface="돋움" panose="020B0600000101010101" pitchFamily="50" charset="-127"/>
                </a:rPr>
                <a:t>관점</a:t>
              </a:r>
            </a:p>
          </p:txBody>
        </p:sp>
        <p:graphicFrame>
          <p:nvGraphicFramePr>
            <p:cNvPr id="3" name="다이어그램 2">
              <a:extLst>
                <a:ext uri="{FF2B5EF4-FFF2-40B4-BE49-F238E27FC236}">
                  <a16:creationId xmlns:a16="http://schemas.microsoft.com/office/drawing/2014/main" id="{CB79517A-79B8-4801-8C4F-12452B1FB5FF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015830986"/>
                </p:ext>
              </p:extLst>
            </p:nvPr>
          </p:nvGraphicFramePr>
          <p:xfrm>
            <a:off x="212624" y="1396541"/>
            <a:ext cx="4501861" cy="2114031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sp>
          <p:nvSpPr>
            <p:cNvPr id="33" name="사각형: 잘린 한쪽 모서리 32">
              <a:extLst>
                <a:ext uri="{FF2B5EF4-FFF2-40B4-BE49-F238E27FC236}">
                  <a16:creationId xmlns:a16="http://schemas.microsoft.com/office/drawing/2014/main" id="{EECA5FEC-73C1-4131-835C-46640749BA33}"/>
                </a:ext>
              </a:extLst>
            </p:cNvPr>
            <p:cNvSpPr/>
            <p:nvPr/>
          </p:nvSpPr>
          <p:spPr>
            <a:xfrm>
              <a:off x="3157144" y="4499662"/>
              <a:ext cx="1289804" cy="476472"/>
            </a:xfrm>
            <a:prstGeom prst="snip1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목표설정</a:t>
              </a:r>
            </a:p>
          </p:txBody>
        </p:sp>
        <p:sp>
          <p:nvSpPr>
            <p:cNvPr id="34" name="사각형: 잘린 한쪽 모서리 33">
              <a:extLst>
                <a:ext uri="{FF2B5EF4-FFF2-40B4-BE49-F238E27FC236}">
                  <a16:creationId xmlns:a16="http://schemas.microsoft.com/office/drawing/2014/main" id="{12DF6E33-0968-430E-8FAB-7C21552F9C46}"/>
                </a:ext>
              </a:extLst>
            </p:cNvPr>
            <p:cNvSpPr/>
            <p:nvPr/>
          </p:nvSpPr>
          <p:spPr>
            <a:xfrm flipH="1">
              <a:off x="3157144" y="5150282"/>
              <a:ext cx="1289804" cy="476472"/>
            </a:xfrm>
            <a:prstGeom prst="snip1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정보공개</a:t>
              </a:r>
            </a:p>
          </p:txBody>
        </p:sp>
        <p:cxnSp>
          <p:nvCxnSpPr>
            <p:cNvPr id="36" name="연결선: 꺾임 35">
              <a:extLst>
                <a:ext uri="{FF2B5EF4-FFF2-40B4-BE49-F238E27FC236}">
                  <a16:creationId xmlns:a16="http://schemas.microsoft.com/office/drawing/2014/main" id="{57F1A910-74D3-4361-B4B9-47F6D51AD483}"/>
                </a:ext>
              </a:extLst>
            </p:cNvPr>
            <p:cNvCxnSpPr>
              <a:cxnSpLocks/>
              <a:stCxn id="33" idx="2"/>
              <a:endCxn id="34" idx="0"/>
            </p:cNvCxnSpPr>
            <p:nvPr/>
          </p:nvCxnSpPr>
          <p:spPr>
            <a:xfrm rot="10800000" flipV="1">
              <a:off x="3157144" y="4737898"/>
              <a:ext cx="12700" cy="650620"/>
            </a:xfrm>
            <a:prstGeom prst="bentConnector3">
              <a:avLst>
                <a:gd name="adj1" fmla="val 1800000"/>
              </a:avLst>
            </a:prstGeom>
            <a:ln w="28575">
              <a:solidFill>
                <a:schemeClr val="tx1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35" name="다이어그램 34">
              <a:extLst>
                <a:ext uri="{FF2B5EF4-FFF2-40B4-BE49-F238E27FC236}">
                  <a16:creationId xmlns:a16="http://schemas.microsoft.com/office/drawing/2014/main" id="{49711A18-F2AC-4BA8-B004-9F16749C70F5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070194294"/>
                </p:ext>
              </p:extLst>
            </p:nvPr>
          </p:nvGraphicFramePr>
          <p:xfrm>
            <a:off x="229444" y="3833809"/>
            <a:ext cx="2611954" cy="1808177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7" r:lo="rId8" r:qs="rId9" r:cs="rId10"/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589293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9525"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321</TotalTime>
  <Words>190</Words>
  <Application>Microsoft Office PowerPoint</Application>
  <PresentationFormat>A4 용지(210x297mm)</PresentationFormat>
  <Paragraphs>68</Paragraphs>
  <Slides>6</Slides>
  <Notes>0</Notes>
  <HiddenSlides>0</HiddenSlides>
  <MMClips>1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5" baseType="lpstr">
      <vt:lpstr>굴림</vt:lpstr>
      <vt:lpstr>궁서</vt:lpstr>
      <vt:lpstr>돋움</vt:lpstr>
      <vt:lpstr>맑은 고딕</vt:lpstr>
      <vt:lpstr>Arial</vt:lpstr>
      <vt:lpstr>Calibri</vt:lpstr>
      <vt:lpstr>Calibri Light</vt:lpstr>
      <vt:lpstr>Wingdings</vt:lpstr>
      <vt:lpstr>Office 테마</vt:lpstr>
      <vt:lpstr>PowerPoint 프레젠테이션</vt:lpstr>
      <vt:lpstr>목차</vt:lpstr>
      <vt:lpstr>1. 지속가능경영</vt:lpstr>
      <vt:lpstr>2. 지속가능 목표 제안</vt:lpstr>
      <vt:lpstr>3. 지속가능 금융 현황</vt:lpstr>
      <vt:lpstr>4. ESG 경영체제 구축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ITQ KPC</dc:creator>
  <cp:lastModifiedBy>준홍 김</cp:lastModifiedBy>
  <cp:revision>60</cp:revision>
  <dcterms:created xsi:type="dcterms:W3CDTF">2023-07-20T02:58:21Z</dcterms:created>
  <dcterms:modified xsi:type="dcterms:W3CDTF">2024-04-25T04:33:31Z</dcterms:modified>
</cp:coreProperties>
</file>