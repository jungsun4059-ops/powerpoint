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7ADCE6"/>
    <a:srgbClr val="567FCA"/>
    <a:srgbClr val="709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821" autoAdjust="0"/>
    <p:restoredTop sz="94660"/>
  </p:normalViewPr>
  <p:slideViewPr>
    <p:cSldViewPr snapToGrid="0">
      <p:cViewPr>
        <p:scale>
          <a:sx n="100" d="100"/>
          <a:sy n="100" d="100"/>
        </p:scale>
        <p:origin x="126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ko-KR" altLang="en-US" sz="2400" b="1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국내증시 주요 지수 분석</a:t>
            </a:r>
          </a:p>
        </c:rich>
      </c:tx>
      <c:overlay val="0"/>
      <c:spPr>
        <a:solidFill>
          <a:schemeClr val="bg1"/>
        </a:solidFill>
        <a:ln w="9525">
          <a:solidFill>
            <a:schemeClr val="tx1"/>
          </a:solidFill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S전자</c:v>
                </c:pt>
              </c:strCache>
            </c:strRef>
          </c:tx>
          <c:spPr>
            <a:solidFill>
              <a:srgbClr val="567FCA"/>
            </a:solidFill>
            <a:ln>
              <a:noFill/>
            </a:ln>
            <a:effectLst/>
          </c:spPr>
          <c:invertIfNegative val="0"/>
          <c:cat>
            <c:strRef>
              <c:f>Sheet1!$B$1:$F$1</c:f>
              <c:strCache>
                <c:ptCount val="5"/>
                <c:pt idx="0">
                  <c:v>2019년 1월</c:v>
                </c:pt>
                <c:pt idx="1">
                  <c:v>2019년 4월</c:v>
                </c:pt>
                <c:pt idx="2">
                  <c:v>2019년 7월</c:v>
                </c:pt>
                <c:pt idx="3">
                  <c:v>2019년 10월</c:v>
                </c:pt>
                <c:pt idx="4">
                  <c:v>2020년 1월</c:v>
                </c:pt>
              </c:strCache>
            </c:strRef>
          </c:cat>
          <c:val>
            <c:numRef>
              <c:f>Sheet1!$B$2:$F$2</c:f>
              <c:numCache>
                <c:formatCode>_(* #,##0_);_(* \(#,##0\);_(* "-"_);_(@_)</c:formatCode>
                <c:ptCount val="5"/>
                <c:pt idx="0">
                  <c:v>38750</c:v>
                </c:pt>
                <c:pt idx="1">
                  <c:v>45050</c:v>
                </c:pt>
                <c:pt idx="2">
                  <c:v>46600</c:v>
                </c:pt>
                <c:pt idx="3">
                  <c:v>48850</c:v>
                </c:pt>
                <c:pt idx="4">
                  <c:v>55200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09-4617-BB41-28D96F8D24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9764928"/>
        <c:axId val="131732400"/>
      </c:barChart>
      <c:lineChart>
        <c:grouping val="standar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KOSPI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square"/>
            <c:size val="10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A75-4369-847B-9596E5FC870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Sheet1!$B$1:$F$1</c:f>
              <c:strCache>
                <c:ptCount val="5"/>
                <c:pt idx="0">
                  <c:v>2019년 1월</c:v>
                </c:pt>
                <c:pt idx="1">
                  <c:v>2019년 4월</c:v>
                </c:pt>
                <c:pt idx="2">
                  <c:v>2019년 7월</c:v>
                </c:pt>
                <c:pt idx="3">
                  <c:v>2019년 10월</c:v>
                </c:pt>
                <c:pt idx="4">
                  <c:v>2020년 1월</c:v>
                </c:pt>
              </c:strCache>
            </c:strRef>
          </c:cat>
          <c:val>
            <c:numRef>
              <c:f>Sheet1!$B$3:$F$3</c:f>
              <c:numCache>
                <c:formatCode>_(* #,##0_);_(* \(#,##0\);_(* "-"_);_(@_)</c:formatCode>
                <c:ptCount val="5"/>
                <c:pt idx="0">
                  <c:v>2010</c:v>
                </c:pt>
                <c:pt idx="1">
                  <c:v>2168</c:v>
                </c:pt>
                <c:pt idx="2">
                  <c:v>2129</c:v>
                </c:pt>
                <c:pt idx="3">
                  <c:v>2072</c:v>
                </c:pt>
                <c:pt idx="4">
                  <c:v>2175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09-4617-BB41-28D96F8D24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758688"/>
        <c:axId val="131745296"/>
      </c:lineChart>
      <c:catAx>
        <c:axId val="1397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131732400"/>
        <c:crosses val="autoZero"/>
        <c:auto val="1"/>
        <c:lblAlgn val="ctr"/>
        <c:lblOffset val="100"/>
        <c:noMultiLvlLbl val="0"/>
      </c:catAx>
      <c:valAx>
        <c:axId val="131732400"/>
        <c:scaling>
          <c:orientation val="minMax"/>
          <c:max val="70000"/>
        </c:scaling>
        <c:delete val="0"/>
        <c:axPos val="l"/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139764928"/>
        <c:crosses val="autoZero"/>
        <c:crossBetween val="between"/>
      </c:valAx>
      <c:valAx>
        <c:axId val="131745296"/>
        <c:scaling>
          <c:orientation val="minMax"/>
          <c:max val="2300"/>
          <c:min val="1900"/>
        </c:scaling>
        <c:delete val="0"/>
        <c:axPos val="r"/>
        <c:numFmt formatCode="_(* #,##0_);_(* \(#,##0\);_(* &quot;-&quot;_);_(@_)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139758688"/>
        <c:crosses val="max"/>
        <c:crossBetween val="between"/>
        <c:majorUnit val="100"/>
      </c:valAx>
      <c:catAx>
        <c:axId val="13975868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1745296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/>
    </a:solidFill>
    <a:ln w="9525">
      <a:solidFill>
        <a:schemeClr val="tx1"/>
      </a:solidFill>
    </a:ln>
    <a:effectLst/>
  </c:spPr>
  <c:txPr>
    <a:bodyPr/>
    <a:lstStyle/>
    <a:p>
      <a:pPr>
        <a:defRPr sz="1600">
          <a:solidFill>
            <a:schemeClr val="tx1"/>
          </a:solidFill>
          <a:latin typeface="돋움" panose="020B0600000101010101" pitchFamily="50" charset="-127"/>
          <a:ea typeface="돋움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445974-ABCE-43ED-8505-CD22122BA456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07CAC7A5-9641-41AE-928E-A4BAB80A8C3F}">
      <dgm:prSet phldrT="[텍스트]" custT="1"/>
      <dgm:spPr>
        <a:solidFill>
          <a:schemeClr val="bg1">
            <a:lumMod val="85000"/>
          </a:schemeClr>
        </a:solidFill>
      </dgm:spPr>
      <dgm:t>
        <a:bodyPr/>
        <a:lstStyle/>
        <a:p>
          <a:pPr latinLnBrk="1"/>
          <a:r>
            <a: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장기적 계획</a:t>
          </a:r>
        </a:p>
      </dgm:t>
    </dgm:pt>
    <dgm:pt modelId="{D0B393A2-8B31-4D3F-8A22-0E64AB562FDD}" type="parTrans" cxnId="{5B72DF49-28BA-403E-AD4E-633D4C7D7BE4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71FE40DC-448D-4981-A529-E4E49A88D06C}" type="sibTrans" cxnId="{5B72DF49-28BA-403E-AD4E-633D4C7D7BE4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DBC8D3C8-E72C-40DE-A31D-9C5962641F5C}">
      <dgm:prSet phldrT="[텍스트]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 latinLnBrk="1"/>
          <a:r>
            <a: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공부</a:t>
          </a:r>
          <a:r>
            <a:rPr lang="en-US" altLang="ko-KR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+</a:t>
          </a:r>
          <a:r>
            <a: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분석</a:t>
          </a:r>
        </a:p>
      </dgm:t>
    </dgm:pt>
    <dgm:pt modelId="{A490F9CC-712E-4F54-B10D-923311E2FC49}" type="parTrans" cxnId="{0BB79935-FE09-419C-AA61-86BE5BA013D4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8DABDCE1-DBF3-4D32-85EA-BA9EA404E531}" type="sibTrans" cxnId="{0BB79935-FE09-419C-AA61-86BE5BA013D4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CB9C693D-A6F5-47AF-9CAC-AA9296A965AB}">
      <dgm:prSet phldrT="[텍스트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latinLnBrk="1"/>
          <a:r>
            <a: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재테크 실전</a:t>
          </a:r>
        </a:p>
      </dgm:t>
    </dgm:pt>
    <dgm:pt modelId="{45FDF394-998C-40D1-9ABC-2A58954BD914}" type="parTrans" cxnId="{955CE1E0-BBA8-4677-BD36-3B02004AB56C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12DC13B4-0A16-425F-9A7D-EE6E04E52EA5}" type="sibTrans" cxnId="{955CE1E0-BBA8-4677-BD36-3B02004AB56C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7DB89AB3-3347-4F75-9D29-6137638D91B2}" type="pres">
      <dgm:prSet presAssocID="{24445974-ABCE-43ED-8505-CD22122BA456}" presName="linear" presStyleCnt="0">
        <dgm:presLayoutVars>
          <dgm:dir/>
          <dgm:animLvl val="lvl"/>
          <dgm:resizeHandles val="exact"/>
        </dgm:presLayoutVars>
      </dgm:prSet>
      <dgm:spPr/>
    </dgm:pt>
    <dgm:pt modelId="{F609E113-095A-4E2E-BF90-8F87C6362836}" type="pres">
      <dgm:prSet presAssocID="{07CAC7A5-9641-41AE-928E-A4BAB80A8C3F}" presName="parentLin" presStyleCnt="0"/>
      <dgm:spPr/>
    </dgm:pt>
    <dgm:pt modelId="{89EA2C11-7A3E-4134-A764-D9F8E58E5EB4}" type="pres">
      <dgm:prSet presAssocID="{07CAC7A5-9641-41AE-928E-A4BAB80A8C3F}" presName="parentLeftMargin" presStyleLbl="node1" presStyleIdx="0" presStyleCnt="3"/>
      <dgm:spPr/>
    </dgm:pt>
    <dgm:pt modelId="{99C54A4A-1936-41A7-92CA-F2F6AA85F9BC}" type="pres">
      <dgm:prSet presAssocID="{07CAC7A5-9641-41AE-928E-A4BAB80A8C3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DF69739-39E4-4EC6-A60B-97D8E6A13541}" type="pres">
      <dgm:prSet presAssocID="{07CAC7A5-9641-41AE-928E-A4BAB80A8C3F}" presName="negativeSpace" presStyleCnt="0"/>
      <dgm:spPr/>
    </dgm:pt>
    <dgm:pt modelId="{7352E65A-276B-46AF-BAA9-E02F12ADF4BA}" type="pres">
      <dgm:prSet presAssocID="{07CAC7A5-9641-41AE-928E-A4BAB80A8C3F}" presName="childText" presStyleLbl="conFgAcc1" presStyleIdx="0" presStyleCnt="3">
        <dgm:presLayoutVars>
          <dgm:bulletEnabled val="1"/>
        </dgm:presLayoutVars>
      </dgm:prSet>
      <dgm:spPr/>
    </dgm:pt>
    <dgm:pt modelId="{61D27D93-9775-4065-A22D-D4A8879182D8}" type="pres">
      <dgm:prSet presAssocID="{71FE40DC-448D-4981-A529-E4E49A88D06C}" presName="spaceBetweenRectangles" presStyleCnt="0"/>
      <dgm:spPr/>
    </dgm:pt>
    <dgm:pt modelId="{13E0D163-7D22-45DE-AAC4-33814C6AE859}" type="pres">
      <dgm:prSet presAssocID="{DBC8D3C8-E72C-40DE-A31D-9C5962641F5C}" presName="parentLin" presStyleCnt="0"/>
      <dgm:spPr/>
    </dgm:pt>
    <dgm:pt modelId="{65F685A4-2F87-4410-9931-5FFFBF377479}" type="pres">
      <dgm:prSet presAssocID="{DBC8D3C8-E72C-40DE-A31D-9C5962641F5C}" presName="parentLeftMargin" presStyleLbl="node1" presStyleIdx="0" presStyleCnt="3"/>
      <dgm:spPr/>
    </dgm:pt>
    <dgm:pt modelId="{9411A166-E4A2-424D-8AA1-55755F96EC5A}" type="pres">
      <dgm:prSet presAssocID="{DBC8D3C8-E72C-40DE-A31D-9C5962641F5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D006B6F-5E6D-42D2-8BFF-4F5459465722}" type="pres">
      <dgm:prSet presAssocID="{DBC8D3C8-E72C-40DE-A31D-9C5962641F5C}" presName="negativeSpace" presStyleCnt="0"/>
      <dgm:spPr/>
    </dgm:pt>
    <dgm:pt modelId="{8F51D415-3881-46BC-BA76-9CC1EAF3FF0C}" type="pres">
      <dgm:prSet presAssocID="{DBC8D3C8-E72C-40DE-A31D-9C5962641F5C}" presName="childText" presStyleLbl="conFgAcc1" presStyleIdx="1" presStyleCnt="3">
        <dgm:presLayoutVars>
          <dgm:bulletEnabled val="1"/>
        </dgm:presLayoutVars>
      </dgm:prSet>
      <dgm:spPr/>
    </dgm:pt>
    <dgm:pt modelId="{5BE68A58-A956-48E5-A259-E5A8CE9C60C6}" type="pres">
      <dgm:prSet presAssocID="{8DABDCE1-DBF3-4D32-85EA-BA9EA404E531}" presName="spaceBetweenRectangles" presStyleCnt="0"/>
      <dgm:spPr/>
    </dgm:pt>
    <dgm:pt modelId="{9A8F2341-A393-41D7-B2BE-F048980CEB64}" type="pres">
      <dgm:prSet presAssocID="{CB9C693D-A6F5-47AF-9CAC-AA9296A965AB}" presName="parentLin" presStyleCnt="0"/>
      <dgm:spPr/>
    </dgm:pt>
    <dgm:pt modelId="{68DBD47F-D5E9-428E-B5B8-3F65EA198587}" type="pres">
      <dgm:prSet presAssocID="{CB9C693D-A6F5-47AF-9CAC-AA9296A965AB}" presName="parentLeftMargin" presStyleLbl="node1" presStyleIdx="1" presStyleCnt="3"/>
      <dgm:spPr/>
    </dgm:pt>
    <dgm:pt modelId="{7C9DB673-CF57-448E-B808-30AD5CDE8983}" type="pres">
      <dgm:prSet presAssocID="{CB9C693D-A6F5-47AF-9CAC-AA9296A965A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4801F4F-6DE7-4AF7-8783-C45CDA926ECC}" type="pres">
      <dgm:prSet presAssocID="{CB9C693D-A6F5-47AF-9CAC-AA9296A965AB}" presName="negativeSpace" presStyleCnt="0"/>
      <dgm:spPr/>
    </dgm:pt>
    <dgm:pt modelId="{BEA0D164-58E7-472F-8248-9ABBCA3DE554}" type="pres">
      <dgm:prSet presAssocID="{CB9C693D-A6F5-47AF-9CAC-AA9296A965A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2918505-ABA3-4C90-A4C5-314FDBAE65F3}" type="presOf" srcId="{CB9C693D-A6F5-47AF-9CAC-AA9296A965AB}" destId="{68DBD47F-D5E9-428E-B5B8-3F65EA198587}" srcOrd="0" destOrd="0" presId="urn:microsoft.com/office/officeart/2005/8/layout/list1"/>
    <dgm:cxn modelId="{2E525B0C-CED6-44C2-B45E-256CE565AF8F}" type="presOf" srcId="{DBC8D3C8-E72C-40DE-A31D-9C5962641F5C}" destId="{65F685A4-2F87-4410-9931-5FFFBF377479}" srcOrd="0" destOrd="0" presId="urn:microsoft.com/office/officeart/2005/8/layout/list1"/>
    <dgm:cxn modelId="{78A4B224-1D80-4FAE-8EE2-6E3AD982A8BE}" type="presOf" srcId="{24445974-ABCE-43ED-8505-CD22122BA456}" destId="{7DB89AB3-3347-4F75-9D29-6137638D91B2}" srcOrd="0" destOrd="0" presId="urn:microsoft.com/office/officeart/2005/8/layout/list1"/>
    <dgm:cxn modelId="{0BB79935-FE09-419C-AA61-86BE5BA013D4}" srcId="{24445974-ABCE-43ED-8505-CD22122BA456}" destId="{DBC8D3C8-E72C-40DE-A31D-9C5962641F5C}" srcOrd="1" destOrd="0" parTransId="{A490F9CC-712E-4F54-B10D-923311E2FC49}" sibTransId="{8DABDCE1-DBF3-4D32-85EA-BA9EA404E531}"/>
    <dgm:cxn modelId="{A5175338-D9FF-411F-A82A-3C6E7A48A517}" type="presOf" srcId="{CB9C693D-A6F5-47AF-9CAC-AA9296A965AB}" destId="{7C9DB673-CF57-448E-B808-30AD5CDE8983}" srcOrd="1" destOrd="0" presId="urn:microsoft.com/office/officeart/2005/8/layout/list1"/>
    <dgm:cxn modelId="{166AE148-EF26-47D4-B4FE-8A0908C46E92}" type="presOf" srcId="{DBC8D3C8-E72C-40DE-A31D-9C5962641F5C}" destId="{9411A166-E4A2-424D-8AA1-55755F96EC5A}" srcOrd="1" destOrd="0" presId="urn:microsoft.com/office/officeart/2005/8/layout/list1"/>
    <dgm:cxn modelId="{5B72DF49-28BA-403E-AD4E-633D4C7D7BE4}" srcId="{24445974-ABCE-43ED-8505-CD22122BA456}" destId="{07CAC7A5-9641-41AE-928E-A4BAB80A8C3F}" srcOrd="0" destOrd="0" parTransId="{D0B393A2-8B31-4D3F-8A22-0E64AB562FDD}" sibTransId="{71FE40DC-448D-4981-A529-E4E49A88D06C}"/>
    <dgm:cxn modelId="{56FB6489-91DD-493C-8626-FE3D7976DBA4}" type="presOf" srcId="{07CAC7A5-9641-41AE-928E-A4BAB80A8C3F}" destId="{89EA2C11-7A3E-4134-A764-D9F8E58E5EB4}" srcOrd="0" destOrd="0" presId="urn:microsoft.com/office/officeart/2005/8/layout/list1"/>
    <dgm:cxn modelId="{3FA7229A-E0C8-49CE-AB2E-A2D51BFCDD80}" type="presOf" srcId="{07CAC7A5-9641-41AE-928E-A4BAB80A8C3F}" destId="{99C54A4A-1936-41A7-92CA-F2F6AA85F9BC}" srcOrd="1" destOrd="0" presId="urn:microsoft.com/office/officeart/2005/8/layout/list1"/>
    <dgm:cxn modelId="{955CE1E0-BBA8-4677-BD36-3B02004AB56C}" srcId="{24445974-ABCE-43ED-8505-CD22122BA456}" destId="{CB9C693D-A6F5-47AF-9CAC-AA9296A965AB}" srcOrd="2" destOrd="0" parTransId="{45FDF394-998C-40D1-9ABC-2A58954BD914}" sibTransId="{12DC13B4-0A16-425F-9A7D-EE6E04E52EA5}"/>
    <dgm:cxn modelId="{4A3513F5-F9BE-45FB-A32E-42F0243BE475}" type="presParOf" srcId="{7DB89AB3-3347-4F75-9D29-6137638D91B2}" destId="{F609E113-095A-4E2E-BF90-8F87C6362836}" srcOrd="0" destOrd="0" presId="urn:microsoft.com/office/officeart/2005/8/layout/list1"/>
    <dgm:cxn modelId="{3E9A6547-9ABA-46A2-A98C-B8C3D6BB16CA}" type="presParOf" srcId="{F609E113-095A-4E2E-BF90-8F87C6362836}" destId="{89EA2C11-7A3E-4134-A764-D9F8E58E5EB4}" srcOrd="0" destOrd="0" presId="urn:microsoft.com/office/officeart/2005/8/layout/list1"/>
    <dgm:cxn modelId="{7528808E-D2F4-4F9E-890A-6AB0825DA09E}" type="presParOf" srcId="{F609E113-095A-4E2E-BF90-8F87C6362836}" destId="{99C54A4A-1936-41A7-92CA-F2F6AA85F9BC}" srcOrd="1" destOrd="0" presId="urn:microsoft.com/office/officeart/2005/8/layout/list1"/>
    <dgm:cxn modelId="{C7420EBE-F6B1-403E-8657-8D7CF0F257B4}" type="presParOf" srcId="{7DB89AB3-3347-4F75-9D29-6137638D91B2}" destId="{2DF69739-39E4-4EC6-A60B-97D8E6A13541}" srcOrd="1" destOrd="0" presId="urn:microsoft.com/office/officeart/2005/8/layout/list1"/>
    <dgm:cxn modelId="{567AA74E-B5AB-4356-ACCF-461BECF7B349}" type="presParOf" srcId="{7DB89AB3-3347-4F75-9D29-6137638D91B2}" destId="{7352E65A-276B-46AF-BAA9-E02F12ADF4BA}" srcOrd="2" destOrd="0" presId="urn:microsoft.com/office/officeart/2005/8/layout/list1"/>
    <dgm:cxn modelId="{1A17826C-FBD6-4F3C-B653-C5FD71E0B418}" type="presParOf" srcId="{7DB89AB3-3347-4F75-9D29-6137638D91B2}" destId="{61D27D93-9775-4065-A22D-D4A8879182D8}" srcOrd="3" destOrd="0" presId="urn:microsoft.com/office/officeart/2005/8/layout/list1"/>
    <dgm:cxn modelId="{800DEEAE-684F-4A09-B584-3BA110C8764D}" type="presParOf" srcId="{7DB89AB3-3347-4F75-9D29-6137638D91B2}" destId="{13E0D163-7D22-45DE-AAC4-33814C6AE859}" srcOrd="4" destOrd="0" presId="urn:microsoft.com/office/officeart/2005/8/layout/list1"/>
    <dgm:cxn modelId="{4F346B44-60E5-4815-A335-12F0B8992400}" type="presParOf" srcId="{13E0D163-7D22-45DE-AAC4-33814C6AE859}" destId="{65F685A4-2F87-4410-9931-5FFFBF377479}" srcOrd="0" destOrd="0" presId="urn:microsoft.com/office/officeart/2005/8/layout/list1"/>
    <dgm:cxn modelId="{4A1E9747-4163-4C0C-A7E3-0D25C074EFB4}" type="presParOf" srcId="{13E0D163-7D22-45DE-AAC4-33814C6AE859}" destId="{9411A166-E4A2-424D-8AA1-55755F96EC5A}" srcOrd="1" destOrd="0" presId="urn:microsoft.com/office/officeart/2005/8/layout/list1"/>
    <dgm:cxn modelId="{3281D233-E926-4832-B2C5-B6EEBA667A44}" type="presParOf" srcId="{7DB89AB3-3347-4F75-9D29-6137638D91B2}" destId="{BD006B6F-5E6D-42D2-8BFF-4F5459465722}" srcOrd="5" destOrd="0" presId="urn:microsoft.com/office/officeart/2005/8/layout/list1"/>
    <dgm:cxn modelId="{4A3ED44B-40FF-410C-BD88-F790175C6C1E}" type="presParOf" srcId="{7DB89AB3-3347-4F75-9D29-6137638D91B2}" destId="{8F51D415-3881-46BC-BA76-9CC1EAF3FF0C}" srcOrd="6" destOrd="0" presId="urn:microsoft.com/office/officeart/2005/8/layout/list1"/>
    <dgm:cxn modelId="{A1AF31E9-8942-482A-A4D8-716840C3B31A}" type="presParOf" srcId="{7DB89AB3-3347-4F75-9D29-6137638D91B2}" destId="{5BE68A58-A956-48E5-A259-E5A8CE9C60C6}" srcOrd="7" destOrd="0" presId="urn:microsoft.com/office/officeart/2005/8/layout/list1"/>
    <dgm:cxn modelId="{3F705712-280E-48DB-B6A5-EB625EBC3627}" type="presParOf" srcId="{7DB89AB3-3347-4F75-9D29-6137638D91B2}" destId="{9A8F2341-A393-41D7-B2BE-F048980CEB64}" srcOrd="8" destOrd="0" presId="urn:microsoft.com/office/officeart/2005/8/layout/list1"/>
    <dgm:cxn modelId="{7B802D31-0B6C-4C24-BCC8-E89A489CBB52}" type="presParOf" srcId="{9A8F2341-A393-41D7-B2BE-F048980CEB64}" destId="{68DBD47F-D5E9-428E-B5B8-3F65EA198587}" srcOrd="0" destOrd="0" presId="urn:microsoft.com/office/officeart/2005/8/layout/list1"/>
    <dgm:cxn modelId="{9F7C9A2C-1935-4D2B-A901-694696D1F384}" type="presParOf" srcId="{9A8F2341-A393-41D7-B2BE-F048980CEB64}" destId="{7C9DB673-CF57-448E-B808-30AD5CDE8983}" srcOrd="1" destOrd="0" presId="urn:microsoft.com/office/officeart/2005/8/layout/list1"/>
    <dgm:cxn modelId="{471D8CAA-517F-4A23-963A-FAF5DC123147}" type="presParOf" srcId="{7DB89AB3-3347-4F75-9D29-6137638D91B2}" destId="{C4801F4F-6DE7-4AF7-8783-C45CDA926ECC}" srcOrd="9" destOrd="0" presId="urn:microsoft.com/office/officeart/2005/8/layout/list1"/>
    <dgm:cxn modelId="{F41AAEDD-ED4A-4866-A98B-089E20ED887C}" type="presParOf" srcId="{7DB89AB3-3347-4F75-9D29-6137638D91B2}" destId="{BEA0D164-58E7-472F-8248-9ABBCA3DE55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9608BF-8270-4B38-A131-98ACE0FFED7E}" type="doc">
      <dgm:prSet loTypeId="urn:microsoft.com/office/officeart/2005/8/layout/radial1" loCatId="relationship" qsTypeId="urn:microsoft.com/office/officeart/2005/8/quickstyle/3d3" qsCatId="3D" csTypeId="urn:microsoft.com/office/officeart/2005/8/colors/colorful3" csCatId="colorful" phldr="1"/>
      <dgm:spPr/>
      <dgm:t>
        <a:bodyPr/>
        <a:lstStyle/>
        <a:p>
          <a:pPr latinLnBrk="1"/>
          <a:endParaRPr lang="ko-KR" altLang="en-US"/>
        </a:p>
      </dgm:t>
    </dgm:pt>
    <dgm:pt modelId="{DE49F200-AC8D-48E8-967D-E2B8DA792A82}">
      <dgm:prSet phldrT="[텍스트]" custT="1"/>
      <dgm:spPr/>
      <dgm:t>
        <a:bodyPr/>
        <a:lstStyle/>
        <a:p>
          <a:pPr latinLnBrk="1"/>
          <a:r>
            <a:rPr lang="ko-KR" altLang="en-US" sz="1800">
              <a:latin typeface="굴림" panose="020B0600000101010101" pitchFamily="50" charset="-127"/>
              <a:ea typeface="굴림" panose="020B0600000101010101" pitchFamily="50" charset="-127"/>
            </a:rPr>
            <a:t>소득</a:t>
          </a:r>
        </a:p>
      </dgm:t>
    </dgm:pt>
    <dgm:pt modelId="{8A774B2C-44D4-4018-9BC4-CDA6EFFA73FA}" type="parTrans" cxnId="{D084590C-6BD9-4B57-81E6-003776F13E6F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E28CB816-CA7F-4E4D-AEC8-8F0D7A7ADCE2}" type="sibTrans" cxnId="{D084590C-6BD9-4B57-81E6-003776F13E6F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76A381C7-A338-4846-ACAD-D205EFCEBB37}">
      <dgm:prSet phldrT="[텍스트]" custT="1"/>
      <dgm:spPr/>
      <dgm:t>
        <a:bodyPr/>
        <a:lstStyle/>
        <a:p>
          <a:pPr latinLnBrk="1"/>
          <a:r>
            <a:rPr lang="ko-KR" altLang="en-US" sz="1800">
              <a:latin typeface="굴림" panose="020B0600000101010101" pitchFamily="50" charset="-127"/>
              <a:ea typeface="굴림" panose="020B0600000101010101" pitchFamily="50" charset="-127"/>
            </a:rPr>
            <a:t>가계부</a:t>
          </a:r>
        </a:p>
      </dgm:t>
    </dgm:pt>
    <dgm:pt modelId="{DA14E889-74E4-4767-8B03-9CD76C38F432}" type="parTrans" cxnId="{43A69A4D-466D-45DE-9D6D-84F207FED3C4}">
      <dgm:prSet custT="1"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B385786E-3C07-4E2A-BB88-B14C4B5586EF}" type="sibTrans" cxnId="{43A69A4D-466D-45DE-9D6D-84F207FED3C4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9227FBFA-D4A6-4953-A416-7181548EA9FE}">
      <dgm:prSet phldrT="[텍스트]" custT="1"/>
      <dgm:spPr/>
      <dgm:t>
        <a:bodyPr/>
        <a:lstStyle/>
        <a:p>
          <a:pPr latinLnBrk="1"/>
          <a:r>
            <a:rPr lang="ko-KR" altLang="en-US" sz="1800">
              <a:latin typeface="굴림" panose="020B0600000101010101" pitchFamily="50" charset="-127"/>
              <a:ea typeface="굴림" panose="020B0600000101010101" pitchFamily="50" charset="-127"/>
            </a:rPr>
            <a:t>투자</a:t>
          </a:r>
        </a:p>
      </dgm:t>
    </dgm:pt>
    <dgm:pt modelId="{0A171E02-C41D-4784-B342-AFBF34F4FB46}" type="parTrans" cxnId="{4B77BF9E-91F2-4715-998E-7A20D80818C8}">
      <dgm:prSet custT="1"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AB1194EC-6071-425D-9973-AD28349FC236}" type="sibTrans" cxnId="{4B77BF9E-91F2-4715-998E-7A20D80818C8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3CA9EF6A-F55C-4BE9-BC2C-89D07CAA5D2E}">
      <dgm:prSet phldrT="[텍스트]" custT="1"/>
      <dgm:spPr/>
      <dgm:t>
        <a:bodyPr/>
        <a:lstStyle/>
        <a:p>
          <a:pPr latinLnBrk="1"/>
          <a:r>
            <a:rPr lang="ko-KR" altLang="en-US" sz="1800">
              <a:latin typeface="굴림" panose="020B0600000101010101" pitchFamily="50" charset="-127"/>
              <a:ea typeface="굴림" panose="020B0600000101010101" pitchFamily="50" charset="-127"/>
            </a:rPr>
            <a:t>저축</a:t>
          </a:r>
        </a:p>
      </dgm:t>
    </dgm:pt>
    <dgm:pt modelId="{C9F95748-6CD6-439B-BA30-91C018193207}" type="parTrans" cxnId="{B8F5408B-A014-4E22-862F-8EE5EA8DD4F6}">
      <dgm:prSet custT="1"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3CE16817-0CB8-4D47-AFC9-1778481B99A1}" type="sibTrans" cxnId="{B8F5408B-A014-4E22-862F-8EE5EA8DD4F6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E29D8F69-073D-4A61-B3B5-79A7C942A02E}" type="pres">
      <dgm:prSet presAssocID="{E19608BF-8270-4B38-A131-98ACE0FFED7E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8F47CBD-2D58-459D-BE8A-3FC3380F28FC}" type="pres">
      <dgm:prSet presAssocID="{DE49F200-AC8D-48E8-967D-E2B8DA792A82}" presName="centerShape" presStyleLbl="node0" presStyleIdx="0" presStyleCnt="1"/>
      <dgm:spPr/>
    </dgm:pt>
    <dgm:pt modelId="{89AB4EC1-9A96-4C78-B741-1A83A2C4C0BB}" type="pres">
      <dgm:prSet presAssocID="{DA14E889-74E4-4767-8B03-9CD76C38F432}" presName="Name9" presStyleLbl="parChTrans1D2" presStyleIdx="0" presStyleCnt="3"/>
      <dgm:spPr/>
    </dgm:pt>
    <dgm:pt modelId="{9F7056B5-5DC3-48EC-89B2-780FFF8CBB42}" type="pres">
      <dgm:prSet presAssocID="{DA14E889-74E4-4767-8B03-9CD76C38F432}" presName="connTx" presStyleLbl="parChTrans1D2" presStyleIdx="0" presStyleCnt="3"/>
      <dgm:spPr/>
    </dgm:pt>
    <dgm:pt modelId="{ACBEC390-E2A2-4451-8118-1B092F7339AD}" type="pres">
      <dgm:prSet presAssocID="{76A381C7-A338-4846-ACAD-D205EFCEBB37}" presName="node" presStyleLbl="node1" presStyleIdx="0" presStyleCnt="3">
        <dgm:presLayoutVars>
          <dgm:bulletEnabled val="1"/>
        </dgm:presLayoutVars>
      </dgm:prSet>
      <dgm:spPr/>
    </dgm:pt>
    <dgm:pt modelId="{B3846B2D-394C-4407-9088-CB63E8053474}" type="pres">
      <dgm:prSet presAssocID="{0A171E02-C41D-4784-B342-AFBF34F4FB46}" presName="Name9" presStyleLbl="parChTrans1D2" presStyleIdx="1" presStyleCnt="3"/>
      <dgm:spPr/>
    </dgm:pt>
    <dgm:pt modelId="{7726065F-D9D2-4ADB-9D4E-BF0A00E0B305}" type="pres">
      <dgm:prSet presAssocID="{0A171E02-C41D-4784-B342-AFBF34F4FB46}" presName="connTx" presStyleLbl="parChTrans1D2" presStyleIdx="1" presStyleCnt="3"/>
      <dgm:spPr/>
    </dgm:pt>
    <dgm:pt modelId="{0CE69102-EEE9-433F-8565-61627BF58E08}" type="pres">
      <dgm:prSet presAssocID="{9227FBFA-D4A6-4953-A416-7181548EA9FE}" presName="node" presStyleLbl="node1" presStyleIdx="1" presStyleCnt="3">
        <dgm:presLayoutVars>
          <dgm:bulletEnabled val="1"/>
        </dgm:presLayoutVars>
      </dgm:prSet>
      <dgm:spPr/>
    </dgm:pt>
    <dgm:pt modelId="{4E190421-AD8C-4AD9-8DE2-5458EEA1605D}" type="pres">
      <dgm:prSet presAssocID="{C9F95748-6CD6-439B-BA30-91C018193207}" presName="Name9" presStyleLbl="parChTrans1D2" presStyleIdx="2" presStyleCnt="3"/>
      <dgm:spPr/>
    </dgm:pt>
    <dgm:pt modelId="{2B8C2E06-4D34-406E-84A7-89BE6160559B}" type="pres">
      <dgm:prSet presAssocID="{C9F95748-6CD6-439B-BA30-91C018193207}" presName="connTx" presStyleLbl="parChTrans1D2" presStyleIdx="2" presStyleCnt="3"/>
      <dgm:spPr/>
    </dgm:pt>
    <dgm:pt modelId="{CF2E759D-1C14-4240-A0A9-E1492F18C555}" type="pres">
      <dgm:prSet presAssocID="{3CA9EF6A-F55C-4BE9-BC2C-89D07CAA5D2E}" presName="node" presStyleLbl="node1" presStyleIdx="2" presStyleCnt="3">
        <dgm:presLayoutVars>
          <dgm:bulletEnabled val="1"/>
        </dgm:presLayoutVars>
      </dgm:prSet>
      <dgm:spPr/>
    </dgm:pt>
  </dgm:ptLst>
  <dgm:cxnLst>
    <dgm:cxn modelId="{D084590C-6BD9-4B57-81E6-003776F13E6F}" srcId="{E19608BF-8270-4B38-A131-98ACE0FFED7E}" destId="{DE49F200-AC8D-48E8-967D-E2B8DA792A82}" srcOrd="0" destOrd="0" parTransId="{8A774B2C-44D4-4018-9BC4-CDA6EFFA73FA}" sibTransId="{E28CB816-CA7F-4E4D-AEC8-8F0D7A7ADCE2}"/>
    <dgm:cxn modelId="{3B9F3417-A32C-42E4-ADA7-D56BC1249A03}" type="presOf" srcId="{76A381C7-A338-4846-ACAD-D205EFCEBB37}" destId="{ACBEC390-E2A2-4451-8118-1B092F7339AD}" srcOrd="0" destOrd="0" presId="urn:microsoft.com/office/officeart/2005/8/layout/radial1"/>
    <dgm:cxn modelId="{ADE47A34-CA49-4C4E-8BA6-59B360B52938}" type="presOf" srcId="{9227FBFA-D4A6-4953-A416-7181548EA9FE}" destId="{0CE69102-EEE9-433F-8565-61627BF58E08}" srcOrd="0" destOrd="0" presId="urn:microsoft.com/office/officeart/2005/8/layout/radial1"/>
    <dgm:cxn modelId="{E422A45E-742B-4289-B2F8-30E0C43BDC95}" type="presOf" srcId="{0A171E02-C41D-4784-B342-AFBF34F4FB46}" destId="{7726065F-D9D2-4ADB-9D4E-BF0A00E0B305}" srcOrd="1" destOrd="0" presId="urn:microsoft.com/office/officeart/2005/8/layout/radial1"/>
    <dgm:cxn modelId="{C4E8DF48-A485-495D-B13E-A0C9EF952B31}" type="presOf" srcId="{0A171E02-C41D-4784-B342-AFBF34F4FB46}" destId="{B3846B2D-394C-4407-9088-CB63E8053474}" srcOrd="0" destOrd="0" presId="urn:microsoft.com/office/officeart/2005/8/layout/radial1"/>
    <dgm:cxn modelId="{43A69A4D-466D-45DE-9D6D-84F207FED3C4}" srcId="{DE49F200-AC8D-48E8-967D-E2B8DA792A82}" destId="{76A381C7-A338-4846-ACAD-D205EFCEBB37}" srcOrd="0" destOrd="0" parTransId="{DA14E889-74E4-4767-8B03-9CD76C38F432}" sibTransId="{B385786E-3C07-4E2A-BB88-B14C4B5586EF}"/>
    <dgm:cxn modelId="{ADAFD274-085A-419D-8B57-93414963A9D8}" type="presOf" srcId="{DA14E889-74E4-4767-8B03-9CD76C38F432}" destId="{89AB4EC1-9A96-4C78-B741-1A83A2C4C0BB}" srcOrd="0" destOrd="0" presId="urn:microsoft.com/office/officeart/2005/8/layout/radial1"/>
    <dgm:cxn modelId="{4FBF5F80-621D-4ED2-9B5D-3E66C8364AD3}" type="presOf" srcId="{C9F95748-6CD6-439B-BA30-91C018193207}" destId="{2B8C2E06-4D34-406E-84A7-89BE6160559B}" srcOrd="1" destOrd="0" presId="urn:microsoft.com/office/officeart/2005/8/layout/radial1"/>
    <dgm:cxn modelId="{B8F5408B-A014-4E22-862F-8EE5EA8DD4F6}" srcId="{DE49F200-AC8D-48E8-967D-E2B8DA792A82}" destId="{3CA9EF6A-F55C-4BE9-BC2C-89D07CAA5D2E}" srcOrd="2" destOrd="0" parTransId="{C9F95748-6CD6-439B-BA30-91C018193207}" sibTransId="{3CE16817-0CB8-4D47-AFC9-1778481B99A1}"/>
    <dgm:cxn modelId="{2F42728B-823A-4E62-87FB-55E283E7E331}" type="presOf" srcId="{E19608BF-8270-4B38-A131-98ACE0FFED7E}" destId="{E29D8F69-073D-4A61-B3B5-79A7C942A02E}" srcOrd="0" destOrd="0" presId="urn:microsoft.com/office/officeart/2005/8/layout/radial1"/>
    <dgm:cxn modelId="{19A9D494-A1EA-455E-9C76-685B489E2B84}" type="presOf" srcId="{DA14E889-74E4-4767-8B03-9CD76C38F432}" destId="{9F7056B5-5DC3-48EC-89B2-780FFF8CBB42}" srcOrd="1" destOrd="0" presId="urn:microsoft.com/office/officeart/2005/8/layout/radial1"/>
    <dgm:cxn modelId="{C967DE9A-50D4-4AA2-B180-30A2FBC6669A}" type="presOf" srcId="{DE49F200-AC8D-48E8-967D-E2B8DA792A82}" destId="{D8F47CBD-2D58-459D-BE8A-3FC3380F28FC}" srcOrd="0" destOrd="0" presId="urn:microsoft.com/office/officeart/2005/8/layout/radial1"/>
    <dgm:cxn modelId="{4B77BF9E-91F2-4715-998E-7A20D80818C8}" srcId="{DE49F200-AC8D-48E8-967D-E2B8DA792A82}" destId="{9227FBFA-D4A6-4953-A416-7181548EA9FE}" srcOrd="1" destOrd="0" parTransId="{0A171E02-C41D-4784-B342-AFBF34F4FB46}" sibTransId="{AB1194EC-6071-425D-9973-AD28349FC236}"/>
    <dgm:cxn modelId="{692108B7-D8B2-48E5-8E4A-BA491E0685D5}" type="presOf" srcId="{C9F95748-6CD6-439B-BA30-91C018193207}" destId="{4E190421-AD8C-4AD9-8DE2-5458EEA1605D}" srcOrd="0" destOrd="0" presId="urn:microsoft.com/office/officeart/2005/8/layout/radial1"/>
    <dgm:cxn modelId="{C40688E5-7FC2-4428-97EB-D26F0C40004C}" type="presOf" srcId="{3CA9EF6A-F55C-4BE9-BC2C-89D07CAA5D2E}" destId="{CF2E759D-1C14-4240-A0A9-E1492F18C555}" srcOrd="0" destOrd="0" presId="urn:microsoft.com/office/officeart/2005/8/layout/radial1"/>
    <dgm:cxn modelId="{EDA9F1D2-3F4A-4AB7-8154-A6BB239FC00E}" type="presParOf" srcId="{E29D8F69-073D-4A61-B3B5-79A7C942A02E}" destId="{D8F47CBD-2D58-459D-BE8A-3FC3380F28FC}" srcOrd="0" destOrd="0" presId="urn:microsoft.com/office/officeart/2005/8/layout/radial1"/>
    <dgm:cxn modelId="{A964534E-31C1-4522-8165-590758B8C7B3}" type="presParOf" srcId="{E29D8F69-073D-4A61-B3B5-79A7C942A02E}" destId="{89AB4EC1-9A96-4C78-B741-1A83A2C4C0BB}" srcOrd="1" destOrd="0" presId="urn:microsoft.com/office/officeart/2005/8/layout/radial1"/>
    <dgm:cxn modelId="{66B21DB8-84E4-4732-8605-81F136F4187B}" type="presParOf" srcId="{89AB4EC1-9A96-4C78-B741-1A83A2C4C0BB}" destId="{9F7056B5-5DC3-48EC-89B2-780FFF8CBB42}" srcOrd="0" destOrd="0" presId="urn:microsoft.com/office/officeart/2005/8/layout/radial1"/>
    <dgm:cxn modelId="{BC0128F7-3339-4349-B070-856B8AB2E9B2}" type="presParOf" srcId="{E29D8F69-073D-4A61-B3B5-79A7C942A02E}" destId="{ACBEC390-E2A2-4451-8118-1B092F7339AD}" srcOrd="2" destOrd="0" presId="urn:microsoft.com/office/officeart/2005/8/layout/radial1"/>
    <dgm:cxn modelId="{02888C5F-4D4C-4CCF-AFD2-C59E33E850AA}" type="presParOf" srcId="{E29D8F69-073D-4A61-B3B5-79A7C942A02E}" destId="{B3846B2D-394C-4407-9088-CB63E8053474}" srcOrd="3" destOrd="0" presId="urn:microsoft.com/office/officeart/2005/8/layout/radial1"/>
    <dgm:cxn modelId="{35527D91-38FB-46E4-B940-EFC7C6D444D7}" type="presParOf" srcId="{B3846B2D-394C-4407-9088-CB63E8053474}" destId="{7726065F-D9D2-4ADB-9D4E-BF0A00E0B305}" srcOrd="0" destOrd="0" presId="urn:microsoft.com/office/officeart/2005/8/layout/radial1"/>
    <dgm:cxn modelId="{E9B07D32-C359-4B38-AB0E-731FFEC48650}" type="presParOf" srcId="{E29D8F69-073D-4A61-B3B5-79A7C942A02E}" destId="{0CE69102-EEE9-433F-8565-61627BF58E08}" srcOrd="4" destOrd="0" presId="urn:microsoft.com/office/officeart/2005/8/layout/radial1"/>
    <dgm:cxn modelId="{D58AF290-E455-42CB-A0BD-067E504A4DEF}" type="presParOf" srcId="{E29D8F69-073D-4A61-B3B5-79A7C942A02E}" destId="{4E190421-AD8C-4AD9-8DE2-5458EEA1605D}" srcOrd="5" destOrd="0" presId="urn:microsoft.com/office/officeart/2005/8/layout/radial1"/>
    <dgm:cxn modelId="{3FFF16B5-E681-4315-B205-C83D94E5D5F4}" type="presParOf" srcId="{4E190421-AD8C-4AD9-8DE2-5458EEA1605D}" destId="{2B8C2E06-4D34-406E-84A7-89BE6160559B}" srcOrd="0" destOrd="0" presId="urn:microsoft.com/office/officeart/2005/8/layout/radial1"/>
    <dgm:cxn modelId="{5C85B30A-B127-406F-9B7F-899196911184}" type="presParOf" srcId="{E29D8F69-073D-4A61-B3B5-79A7C942A02E}" destId="{CF2E759D-1C14-4240-A0A9-E1492F18C555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52E65A-276B-46AF-BAA9-E02F12ADF4BA}">
      <dsp:nvSpPr>
        <dsp:cNvPr id="0" name=""/>
        <dsp:cNvSpPr/>
      </dsp:nvSpPr>
      <dsp:spPr>
        <a:xfrm>
          <a:off x="0" y="218729"/>
          <a:ext cx="216104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9C54A4A-1936-41A7-92CA-F2F6AA85F9BC}">
      <dsp:nvSpPr>
        <dsp:cNvPr id="0" name=""/>
        <dsp:cNvSpPr/>
      </dsp:nvSpPr>
      <dsp:spPr>
        <a:xfrm>
          <a:off x="108052" y="41609"/>
          <a:ext cx="1512734" cy="354240"/>
        </a:xfrm>
        <a:prstGeom prst="roundRect">
          <a:avLst/>
        </a:prstGeom>
        <a:solidFill>
          <a:schemeClr val="bg1">
            <a:lumMod val="8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78" tIns="0" rIns="57178" bIns="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장기적 계획</a:t>
          </a:r>
        </a:p>
      </dsp:txBody>
      <dsp:txXfrm>
        <a:off x="125345" y="58902"/>
        <a:ext cx="1478148" cy="319654"/>
      </dsp:txXfrm>
    </dsp:sp>
    <dsp:sp modelId="{8F51D415-3881-46BC-BA76-9CC1EAF3FF0C}">
      <dsp:nvSpPr>
        <dsp:cNvPr id="0" name=""/>
        <dsp:cNvSpPr/>
      </dsp:nvSpPr>
      <dsp:spPr>
        <a:xfrm>
          <a:off x="0" y="763049"/>
          <a:ext cx="216104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411A166-E4A2-424D-8AA1-55755F96EC5A}">
      <dsp:nvSpPr>
        <dsp:cNvPr id="0" name=""/>
        <dsp:cNvSpPr/>
      </dsp:nvSpPr>
      <dsp:spPr>
        <a:xfrm>
          <a:off x="108052" y="585929"/>
          <a:ext cx="1512734" cy="354240"/>
        </a:xfrm>
        <a:prstGeom prst="roundRect">
          <a:avLst/>
        </a:prstGeom>
        <a:solidFill>
          <a:schemeClr val="accent2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78" tIns="0" rIns="57178" bIns="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공부</a:t>
          </a:r>
          <a:r>
            <a:rPr lang="en-US" altLang="ko-KR" sz="1800" kern="12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+</a:t>
          </a:r>
          <a:r>
            <a:rPr lang="ko-KR" altLang="en-US" sz="1800" kern="12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분석</a:t>
          </a:r>
        </a:p>
      </dsp:txBody>
      <dsp:txXfrm>
        <a:off x="125345" y="603222"/>
        <a:ext cx="1478148" cy="319654"/>
      </dsp:txXfrm>
    </dsp:sp>
    <dsp:sp modelId="{BEA0D164-58E7-472F-8248-9ABBCA3DE554}">
      <dsp:nvSpPr>
        <dsp:cNvPr id="0" name=""/>
        <dsp:cNvSpPr/>
      </dsp:nvSpPr>
      <dsp:spPr>
        <a:xfrm>
          <a:off x="0" y="1307369"/>
          <a:ext cx="216104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C9DB673-CF57-448E-B808-30AD5CDE8983}">
      <dsp:nvSpPr>
        <dsp:cNvPr id="0" name=""/>
        <dsp:cNvSpPr/>
      </dsp:nvSpPr>
      <dsp:spPr>
        <a:xfrm>
          <a:off x="108052" y="1130248"/>
          <a:ext cx="1512734" cy="35424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78" tIns="0" rIns="57178" bIns="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재테크 실전</a:t>
          </a:r>
        </a:p>
      </dsp:txBody>
      <dsp:txXfrm>
        <a:off x="125345" y="1147541"/>
        <a:ext cx="1478148" cy="3196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F47CBD-2D58-459D-BE8A-3FC3380F28FC}">
      <dsp:nvSpPr>
        <dsp:cNvPr id="0" name=""/>
        <dsp:cNvSpPr/>
      </dsp:nvSpPr>
      <dsp:spPr>
        <a:xfrm>
          <a:off x="878457" y="918876"/>
          <a:ext cx="699849" cy="69984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latin typeface="굴림" panose="020B0600000101010101" pitchFamily="50" charset="-127"/>
              <a:ea typeface="굴림" panose="020B0600000101010101" pitchFamily="50" charset="-127"/>
            </a:rPr>
            <a:t>소득</a:t>
          </a:r>
        </a:p>
      </dsp:txBody>
      <dsp:txXfrm>
        <a:off x="980948" y="1021367"/>
        <a:ext cx="494867" cy="494867"/>
      </dsp:txXfrm>
    </dsp:sp>
    <dsp:sp modelId="{89AB4EC1-9A96-4C78-B741-1A83A2C4C0BB}">
      <dsp:nvSpPr>
        <dsp:cNvPr id="0" name=""/>
        <dsp:cNvSpPr/>
      </dsp:nvSpPr>
      <dsp:spPr>
        <a:xfrm rot="16200000">
          <a:off x="1122723" y="787579"/>
          <a:ext cx="211318" cy="51275"/>
        </a:xfrm>
        <a:custGeom>
          <a:avLst/>
          <a:gdLst/>
          <a:ahLst/>
          <a:cxnLst/>
          <a:rect l="0" t="0" r="0" b="0"/>
          <a:pathLst>
            <a:path>
              <a:moveTo>
                <a:pt x="0" y="25637"/>
              </a:moveTo>
              <a:lnTo>
                <a:pt x="211318" y="2563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800" kern="1200"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1223099" y="807934"/>
        <a:ext cx="10565" cy="10565"/>
      </dsp:txXfrm>
    </dsp:sp>
    <dsp:sp modelId="{ACBEC390-E2A2-4451-8118-1B092F7339AD}">
      <dsp:nvSpPr>
        <dsp:cNvPr id="0" name=""/>
        <dsp:cNvSpPr/>
      </dsp:nvSpPr>
      <dsp:spPr>
        <a:xfrm>
          <a:off x="878457" y="7708"/>
          <a:ext cx="699849" cy="69984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latin typeface="굴림" panose="020B0600000101010101" pitchFamily="50" charset="-127"/>
              <a:ea typeface="굴림" panose="020B0600000101010101" pitchFamily="50" charset="-127"/>
            </a:rPr>
            <a:t>가계부</a:t>
          </a:r>
        </a:p>
      </dsp:txBody>
      <dsp:txXfrm>
        <a:off x="980948" y="110199"/>
        <a:ext cx="494867" cy="494867"/>
      </dsp:txXfrm>
    </dsp:sp>
    <dsp:sp modelId="{B3846B2D-394C-4407-9088-CB63E8053474}">
      <dsp:nvSpPr>
        <dsp:cNvPr id="0" name=""/>
        <dsp:cNvSpPr/>
      </dsp:nvSpPr>
      <dsp:spPr>
        <a:xfrm rot="1800000">
          <a:off x="1517270" y="1470955"/>
          <a:ext cx="211318" cy="51275"/>
        </a:xfrm>
        <a:custGeom>
          <a:avLst/>
          <a:gdLst/>
          <a:ahLst/>
          <a:cxnLst/>
          <a:rect l="0" t="0" r="0" b="0"/>
          <a:pathLst>
            <a:path>
              <a:moveTo>
                <a:pt x="0" y="25637"/>
              </a:moveTo>
              <a:lnTo>
                <a:pt x="211318" y="2563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800" kern="1200"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1617646" y="1491310"/>
        <a:ext cx="10565" cy="10565"/>
      </dsp:txXfrm>
    </dsp:sp>
    <dsp:sp modelId="{0CE69102-EEE9-433F-8565-61627BF58E08}">
      <dsp:nvSpPr>
        <dsp:cNvPr id="0" name=""/>
        <dsp:cNvSpPr/>
      </dsp:nvSpPr>
      <dsp:spPr>
        <a:xfrm>
          <a:off x="1667552" y="1374460"/>
          <a:ext cx="699849" cy="699849"/>
        </a:xfrm>
        <a:prstGeom prst="ellipse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latin typeface="굴림" panose="020B0600000101010101" pitchFamily="50" charset="-127"/>
              <a:ea typeface="굴림" panose="020B0600000101010101" pitchFamily="50" charset="-127"/>
            </a:rPr>
            <a:t>투자</a:t>
          </a:r>
        </a:p>
      </dsp:txBody>
      <dsp:txXfrm>
        <a:off x="1770043" y="1476951"/>
        <a:ext cx="494867" cy="494867"/>
      </dsp:txXfrm>
    </dsp:sp>
    <dsp:sp modelId="{4E190421-AD8C-4AD9-8DE2-5458EEA1605D}">
      <dsp:nvSpPr>
        <dsp:cNvPr id="0" name=""/>
        <dsp:cNvSpPr/>
      </dsp:nvSpPr>
      <dsp:spPr>
        <a:xfrm rot="9000000">
          <a:off x="728176" y="1470955"/>
          <a:ext cx="211318" cy="51275"/>
        </a:xfrm>
        <a:custGeom>
          <a:avLst/>
          <a:gdLst/>
          <a:ahLst/>
          <a:cxnLst/>
          <a:rect l="0" t="0" r="0" b="0"/>
          <a:pathLst>
            <a:path>
              <a:moveTo>
                <a:pt x="0" y="25637"/>
              </a:moveTo>
              <a:lnTo>
                <a:pt x="211318" y="2563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800" kern="1200"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 rot="10800000">
        <a:off x="828552" y="1491310"/>
        <a:ext cx="10565" cy="10565"/>
      </dsp:txXfrm>
    </dsp:sp>
    <dsp:sp modelId="{CF2E759D-1C14-4240-A0A9-E1492F18C555}">
      <dsp:nvSpPr>
        <dsp:cNvPr id="0" name=""/>
        <dsp:cNvSpPr/>
      </dsp:nvSpPr>
      <dsp:spPr>
        <a:xfrm>
          <a:off x="89363" y="1374460"/>
          <a:ext cx="699849" cy="699849"/>
        </a:xfrm>
        <a:prstGeom prst="ellips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latin typeface="굴림" panose="020B0600000101010101" pitchFamily="50" charset="-127"/>
              <a:ea typeface="굴림" panose="020B0600000101010101" pitchFamily="50" charset="-127"/>
            </a:rPr>
            <a:t>저축</a:t>
          </a:r>
        </a:p>
      </dsp:txBody>
      <dsp:txXfrm>
        <a:off x="191854" y="1476951"/>
        <a:ext cx="494867" cy="4948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166084-C801-4949-AE93-4AFBF9D38EE2}" type="datetimeFigureOut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F6DFE-4781-45AB-B91B-94412979B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050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9BA24-7956-41A0-AFCF-7934E1FEC845}" type="datetime1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7701-08EC-4120-8D3E-1A3CA3A72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12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C0F37-81D7-44A0-8162-B4861B53B67C}" type="datetime1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1F4E7701-08EC-4120-8D3E-1A3CA3A720E1}" type="slidenum">
              <a:rPr lang="ko-KR" altLang="en-US" smtClean="0"/>
              <a:pPr/>
              <a:t>‹#›</a:t>
            </a:fld>
            <a:r>
              <a:rPr lang="ko-KR" altLang="en-US"/>
              <a:t> 쪽</a:t>
            </a:r>
          </a:p>
        </p:txBody>
      </p:sp>
    </p:spTree>
    <p:extLst>
      <p:ext uri="{BB962C8B-B14F-4D97-AF65-F5344CB8AC3E}">
        <p14:creationId xmlns:p14="http://schemas.microsoft.com/office/powerpoint/2010/main" val="92998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F5A3-4ED5-44EE-80DA-E7AEAC4BA35E}" type="datetime1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7701-08EC-4120-8D3E-1A3CA3A72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93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CF11-C882-412F-863D-035169A96D67}" type="datetime1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7701-08EC-4120-8D3E-1A3CA3A72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952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E23B8-0CD7-497B-86C1-DAB8C62FEA88}" type="datetime1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7701-08EC-4120-8D3E-1A3CA3A72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40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08DAD-6A6C-495B-AE58-381E5AEF40B8}" type="datetime1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7701-08EC-4120-8D3E-1A3CA3A72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85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9982-CCC4-4BB2-9BD7-9CB344A038A2}" type="datetime1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7701-08EC-4120-8D3E-1A3CA3A72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468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B9E8F-67A3-4472-91E2-A04C501916CC}" type="datetime1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7701-08EC-4120-8D3E-1A3CA3A72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203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461C-BC47-4F97-ADF5-AC43E6F225C6}" type="datetime1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7701-08EC-4120-8D3E-1A3CA3A72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919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9476-DD0D-4EBE-8834-CC0F51749A7F}" type="datetime1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7701-08EC-4120-8D3E-1A3CA3A72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29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F799-361E-47DF-9ACA-B8A57DD30858}" type="datetime1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7701-08EC-4120-8D3E-1A3CA3A72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207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FE39E-6EE3-48D1-879C-76CB7438C5BF}" type="datetime1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E7701-08EC-4120-8D3E-1A3CA3A720E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587FA5C-EC69-C1DC-29D1-0806AB3D2E9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CEAAF4"/>
              </a:clrFrom>
              <a:clrTo>
                <a:srgbClr val="CEAAF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" y="5853600"/>
            <a:ext cx="1339616" cy="9288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DAED18A-AB92-3026-C7EA-AAB6CDC3CC5E}"/>
              </a:ext>
            </a:extLst>
          </p:cNvPr>
          <p:cNvSpPr/>
          <p:nvPr userDrawn="1"/>
        </p:nvSpPr>
        <p:spPr>
          <a:xfrm>
            <a:off x="0" y="990000"/>
            <a:ext cx="9906000" cy="266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순서도: 카드 9">
            <a:extLst>
              <a:ext uri="{FF2B5EF4-FFF2-40B4-BE49-F238E27FC236}">
                <a16:creationId xmlns:a16="http://schemas.microsoft.com/office/drawing/2014/main" id="{3688F2F1-9830-3474-8227-9265CE303C68}"/>
              </a:ext>
            </a:extLst>
          </p:cNvPr>
          <p:cNvSpPr/>
          <p:nvPr userDrawn="1"/>
        </p:nvSpPr>
        <p:spPr>
          <a:xfrm flipV="1">
            <a:off x="1324800" y="0"/>
            <a:ext cx="8197200" cy="1256400"/>
          </a:xfrm>
          <a:prstGeom prst="flowChartPunchedCar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906000" cy="1256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04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돋움" panose="020B0600000101010101" pitchFamily="50" charset="-127"/>
          <a:ea typeface="돋움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순서도: 수동 입력 4">
            <a:extLst>
              <a:ext uri="{FF2B5EF4-FFF2-40B4-BE49-F238E27FC236}">
                <a16:creationId xmlns:a16="http://schemas.microsoft.com/office/drawing/2014/main" id="{A40601B9-AFED-88B2-9E2B-E7BB6EB84A1D}"/>
              </a:ext>
            </a:extLst>
          </p:cNvPr>
          <p:cNvSpPr/>
          <p:nvPr/>
        </p:nvSpPr>
        <p:spPr>
          <a:xfrm>
            <a:off x="0" y="3697200"/>
            <a:ext cx="9906000" cy="3160800"/>
          </a:xfrm>
          <a:prstGeom prst="flowChartManualInput">
            <a:avLst/>
          </a:prstGeom>
          <a:blipFill dpi="0" rotWithShape="1">
            <a:blip r:embed="rId2">
              <a:alphaModFix amt="50000"/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90E911-7DD3-731F-9DB1-259819C02428}"/>
              </a:ext>
            </a:extLst>
          </p:cNvPr>
          <p:cNvSpPr/>
          <p:nvPr/>
        </p:nvSpPr>
        <p:spPr>
          <a:xfrm>
            <a:off x="1285875" y="1980000"/>
            <a:ext cx="7453585" cy="1417311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urveUp">
              <a:avLst>
                <a:gd name="adj" fmla="val 36568"/>
              </a:avLst>
            </a:prstTxWarp>
            <a:spAutoFit/>
          </a:bodyPr>
          <a:lstStyle/>
          <a:p>
            <a:pPr algn="ctr"/>
            <a:r>
              <a:rPr lang="en-US" altLang="ko-KR" sz="5400" b="1">
                <a:ln w="0"/>
                <a:effectLst>
                  <a:reflection blurRad="6350" stA="55000" endA="300" endPos="455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Investment</a:t>
            </a:r>
            <a:r>
              <a:rPr lang="ko-KR" altLang="en-US" sz="5400" b="1">
                <a:ln w="0"/>
                <a:effectLst>
                  <a:reflection blurRad="6350" stA="55000" endA="300" endPos="455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en-US" altLang="ko-KR" sz="5400" b="1">
                <a:ln w="0"/>
                <a:effectLst>
                  <a:reflection blurRad="6350" stA="55000" endA="300" endPos="455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Techniques</a:t>
            </a:r>
            <a:endParaRPr lang="en-US" altLang="ko-KR" sz="5400" b="1" cap="none" spc="0">
              <a:ln w="0"/>
              <a:effectLst>
                <a:reflection blurRad="6350" stA="55000" endA="300" endPos="45500" dir="5400000" sy="-100000" algn="bl" rotWithShape="0"/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0354EB7-084E-EC35-7E0A-296F6C7A0E0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CEAAF4"/>
              </a:clrFrom>
              <a:clrTo>
                <a:srgbClr val="CEAAF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1" y="90000"/>
            <a:ext cx="1879615" cy="13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158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7BCAA6-5D12-4001-4AD6-0C2745E0F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목차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D665E2-090F-1CCE-77E1-46213582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7701-08EC-4120-8D3E-1A3CA3A720E1}" type="slidenum">
              <a:rPr lang="ko-KR" altLang="en-US" smtClean="0"/>
              <a:pPr/>
              <a:t>2</a:t>
            </a:fld>
            <a:r>
              <a:rPr lang="ko-KR" altLang="en-US"/>
              <a:t> 쪽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8854EF-60E7-669A-56F4-EAF46DE1DDF9}"/>
              </a:ext>
            </a:extLst>
          </p:cNvPr>
          <p:cNvSpPr/>
          <p:nvPr/>
        </p:nvSpPr>
        <p:spPr>
          <a:xfrm>
            <a:off x="3429000" y="2210400"/>
            <a:ext cx="5013000" cy="190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정육면체 6">
            <a:extLst>
              <a:ext uri="{FF2B5EF4-FFF2-40B4-BE49-F238E27FC236}">
                <a16:creationId xmlns:a16="http://schemas.microsoft.com/office/drawing/2014/main" id="{3DE0D7E6-11DF-F3C6-98AC-60DAB942E2F1}"/>
              </a:ext>
            </a:extLst>
          </p:cNvPr>
          <p:cNvSpPr/>
          <p:nvPr/>
        </p:nvSpPr>
        <p:spPr>
          <a:xfrm>
            <a:off x="3121200" y="1648800"/>
            <a:ext cx="784800" cy="748800"/>
          </a:xfrm>
          <a:prstGeom prst="cub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A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8FF135-65AA-B7F5-5A08-B3CCD666359A}"/>
              </a:ext>
            </a:extLst>
          </p:cNvPr>
          <p:cNvSpPr txBox="1"/>
          <p:nvPr/>
        </p:nvSpPr>
        <p:spPr>
          <a:xfrm>
            <a:off x="4000500" y="1648800"/>
            <a:ext cx="444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재테크의 특징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0E9BEC5-4860-DB94-5AC0-012B535839AD}"/>
              </a:ext>
            </a:extLst>
          </p:cNvPr>
          <p:cNvSpPr/>
          <p:nvPr/>
        </p:nvSpPr>
        <p:spPr>
          <a:xfrm>
            <a:off x="3429000" y="3356796"/>
            <a:ext cx="5013000" cy="190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정육면체 23">
            <a:extLst>
              <a:ext uri="{FF2B5EF4-FFF2-40B4-BE49-F238E27FC236}">
                <a16:creationId xmlns:a16="http://schemas.microsoft.com/office/drawing/2014/main" id="{846691C6-B41D-4C1D-F310-92F6CED3D2CA}"/>
              </a:ext>
            </a:extLst>
          </p:cNvPr>
          <p:cNvSpPr/>
          <p:nvPr/>
        </p:nvSpPr>
        <p:spPr>
          <a:xfrm>
            <a:off x="3121200" y="2795196"/>
            <a:ext cx="784800" cy="748800"/>
          </a:xfrm>
          <a:prstGeom prst="cub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B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D2933B-D1C5-D596-C8CC-A9096B9E03D2}"/>
              </a:ext>
            </a:extLst>
          </p:cNvPr>
          <p:cNvSpPr txBox="1"/>
          <p:nvPr/>
        </p:nvSpPr>
        <p:spPr>
          <a:xfrm>
            <a:off x="4000500" y="2795196"/>
            <a:ext cx="444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재테크의 방법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48C9A8E-D912-CEC8-D1EF-527D7B2545CC}"/>
              </a:ext>
            </a:extLst>
          </p:cNvPr>
          <p:cNvSpPr/>
          <p:nvPr/>
        </p:nvSpPr>
        <p:spPr>
          <a:xfrm>
            <a:off x="3429000" y="4503192"/>
            <a:ext cx="5013000" cy="190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정육면체 27">
            <a:extLst>
              <a:ext uri="{FF2B5EF4-FFF2-40B4-BE49-F238E27FC236}">
                <a16:creationId xmlns:a16="http://schemas.microsoft.com/office/drawing/2014/main" id="{0567195C-D748-1359-3244-06B2CED8DD3C}"/>
              </a:ext>
            </a:extLst>
          </p:cNvPr>
          <p:cNvSpPr/>
          <p:nvPr/>
        </p:nvSpPr>
        <p:spPr>
          <a:xfrm>
            <a:off x="3121200" y="3941592"/>
            <a:ext cx="784800" cy="748800"/>
          </a:xfrm>
          <a:prstGeom prst="cub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EC6C76-6004-F53F-7F9D-10AC3DEFA2F4}"/>
              </a:ext>
            </a:extLst>
          </p:cNvPr>
          <p:cNvSpPr txBox="1"/>
          <p:nvPr/>
        </p:nvSpPr>
        <p:spPr>
          <a:xfrm>
            <a:off x="4000500" y="3941592"/>
            <a:ext cx="444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수익률의 비교</a:t>
            </a: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E73A1CA-7036-507A-838E-0FC6D7F22DFE}"/>
              </a:ext>
            </a:extLst>
          </p:cNvPr>
          <p:cNvSpPr/>
          <p:nvPr/>
        </p:nvSpPr>
        <p:spPr>
          <a:xfrm>
            <a:off x="3429000" y="5649588"/>
            <a:ext cx="5013000" cy="190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정육면체 31">
            <a:extLst>
              <a:ext uri="{FF2B5EF4-FFF2-40B4-BE49-F238E27FC236}">
                <a16:creationId xmlns:a16="http://schemas.microsoft.com/office/drawing/2014/main" id="{84535AC0-C828-5CF7-FECE-160C633C3602}"/>
              </a:ext>
            </a:extLst>
          </p:cNvPr>
          <p:cNvSpPr/>
          <p:nvPr/>
        </p:nvSpPr>
        <p:spPr>
          <a:xfrm>
            <a:off x="3121200" y="5087988"/>
            <a:ext cx="784800" cy="748800"/>
          </a:xfrm>
          <a:prstGeom prst="cub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D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4E1D19-C321-00F6-54EE-1064BB3BB473}"/>
              </a:ext>
            </a:extLst>
          </p:cNvPr>
          <p:cNvSpPr txBox="1"/>
          <p:nvPr/>
        </p:nvSpPr>
        <p:spPr>
          <a:xfrm>
            <a:off x="4000500" y="5087988"/>
            <a:ext cx="444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부자 플랜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90F973BD-C65C-6DE6-AF89-5AC19DD5786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15" t="2863" r="5915" b="68083"/>
          <a:stretch/>
        </p:blipFill>
        <p:spPr>
          <a:xfrm>
            <a:off x="742950" y="3806890"/>
            <a:ext cx="1781175" cy="169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684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02540-DB09-2044-6E87-C36F41BC2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A. </a:t>
            </a:r>
            <a:r>
              <a:rPr lang="ko-KR" altLang="en-US"/>
              <a:t>재테크의 특징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627D5E-9DAB-C5B1-1862-EE2139A98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7701-08EC-4120-8D3E-1A3CA3A720E1}" type="slidenum">
              <a:rPr lang="ko-KR" altLang="en-US" smtClean="0"/>
              <a:pPr/>
              <a:t>3</a:t>
            </a:fld>
            <a:r>
              <a:rPr lang="ko-KR" altLang="en-US"/>
              <a:t> 쪽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4C4A9FC5-C1DE-F8D1-C8EE-243FA8151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688" y="1460500"/>
            <a:ext cx="8543925" cy="2641600"/>
          </a:xfrm>
        </p:spPr>
        <p:txBody>
          <a:bodyPr>
            <a:noAutofit/>
          </a:bodyPr>
          <a:lstStyle/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400" b="1">
                <a:latin typeface="돋움" panose="020B0600000101010101" pitchFamily="50" charset="-127"/>
                <a:ea typeface="돋움" panose="020B0600000101010101" pitchFamily="50" charset="-127"/>
              </a:rPr>
              <a:t>Investment strategies</a:t>
            </a: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latin typeface="돋움" panose="020B0600000101010101" pitchFamily="50" charset="-127"/>
                <a:ea typeface="돋움" panose="020B0600000101010101" pitchFamily="50" charset="-127"/>
              </a:rPr>
              <a:t>A value investor buys assets that they believe to be undervalued (and sells overvalued ones).</a:t>
            </a: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latin typeface="돋움" panose="020B0600000101010101" pitchFamily="50" charset="-127"/>
                <a:ea typeface="돋움" panose="020B0600000101010101" pitchFamily="50" charset="-127"/>
              </a:rPr>
              <a:t>Warren Buffett and Benjamin Graham are notable examples of value investors.</a:t>
            </a:r>
            <a:endParaRPr lang="ko-KR" altLang="en-US" sz="200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5E34342-E8FC-6BB8-94F9-CD707EC146B6}"/>
              </a:ext>
            </a:extLst>
          </p:cNvPr>
          <p:cNvSpPr txBox="1">
            <a:spLocks/>
          </p:cNvSpPr>
          <p:nvPr/>
        </p:nvSpPr>
        <p:spPr>
          <a:xfrm>
            <a:off x="547689" y="4216400"/>
            <a:ext cx="5662612" cy="1727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400" b="1">
                <a:latin typeface="돋움" panose="020B0600000101010101" pitchFamily="50" charset="-127"/>
                <a:ea typeface="돋움" panose="020B0600000101010101" pitchFamily="50" charset="-127"/>
              </a:rPr>
              <a:t>수익률과 위험</a:t>
            </a: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>
                <a:latin typeface="돋움" panose="020B0600000101010101" pitchFamily="50" charset="-127"/>
                <a:ea typeface="돋움" panose="020B0600000101010101" pitchFamily="50" charset="-127"/>
              </a:rPr>
              <a:t>위험은 기대수익률보다 매우 작은 수익이 생기거나 손실이 발생할 가능성을 말한다</a:t>
            </a:r>
            <a:r>
              <a:rPr lang="en-US" altLang="ko-KR" sz="200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ko-KR" altLang="en-US" sz="200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9" name="동영상">
            <a:hlinkClick r:id="" action="ppaction://media"/>
            <a:extLst>
              <a:ext uri="{FF2B5EF4-FFF2-40B4-BE49-F238E27FC236}">
                <a16:creationId xmlns:a16="http://schemas.microsoft.com/office/drawing/2014/main" id="{E7F4CAFC-10A9-5474-A34F-CC1A3BBE2B6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24625" y="4216400"/>
            <a:ext cx="239395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384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AED00C-D8EA-76BB-A74E-1FE620FE9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B. </a:t>
            </a:r>
            <a:r>
              <a:rPr lang="ko-KR" altLang="en-US"/>
              <a:t>재테크의 방법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206658-7BAA-12E3-5576-429D8F233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7701-08EC-4120-8D3E-1A3CA3A720E1}" type="slidenum">
              <a:rPr lang="ko-KR" altLang="en-US" smtClean="0"/>
              <a:pPr/>
              <a:t>4</a:t>
            </a:fld>
            <a:r>
              <a:rPr lang="ko-KR" altLang="en-US"/>
              <a:t> 쪽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F35FA9A-F3F3-F212-C2A5-DA7511E01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644964"/>
              </p:ext>
            </p:extLst>
          </p:nvPr>
        </p:nvGraphicFramePr>
        <p:xfrm>
          <a:off x="2116800" y="2566800"/>
          <a:ext cx="6796584" cy="3247753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497538">
                  <a:extLst>
                    <a:ext uri="{9D8B030D-6E8A-4147-A177-3AD203B41FA5}">
                      <a16:colId xmlns:a16="http://schemas.microsoft.com/office/drawing/2014/main" val="3554092835"/>
                    </a:ext>
                  </a:extLst>
                </a:gridCol>
                <a:gridCol w="2142698">
                  <a:extLst>
                    <a:ext uri="{9D8B030D-6E8A-4147-A177-3AD203B41FA5}">
                      <a16:colId xmlns:a16="http://schemas.microsoft.com/office/drawing/2014/main" val="1136789864"/>
                    </a:ext>
                  </a:extLst>
                </a:gridCol>
                <a:gridCol w="2156348">
                  <a:extLst>
                    <a:ext uri="{9D8B030D-6E8A-4147-A177-3AD203B41FA5}">
                      <a16:colId xmlns:a16="http://schemas.microsoft.com/office/drawing/2014/main" val="3464223436"/>
                    </a:ext>
                  </a:extLst>
                </a:gridCol>
              </a:tblGrid>
              <a:tr h="11692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은행에서 이자 수익을 얻음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위험성 높음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직간접 투자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8851573"/>
                  </a:ext>
                </a:extLst>
              </a:tr>
              <a:tr h="11288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다양한 상품과 조건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수익률이 높을 수 있으나 손실 가능성 또한 매우 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부동산 관련 지식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999117"/>
                  </a:ext>
                </a:extLst>
              </a:tr>
              <a:tr h="9495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최근의 저금리 기조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정부 정책의 변화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2658728"/>
                  </a:ext>
                </a:extLst>
              </a:tr>
            </a:tbl>
          </a:graphicData>
        </a:graphic>
      </p:graphicFrame>
      <p:sp>
        <p:nvSpPr>
          <p:cNvPr id="3" name="사각형: 잘린 위쪽 모서리 2">
            <a:extLst>
              <a:ext uri="{FF2B5EF4-FFF2-40B4-BE49-F238E27FC236}">
                <a16:creationId xmlns:a16="http://schemas.microsoft.com/office/drawing/2014/main" id="{E5170324-EEAB-9DED-EA09-EEB8AF48B8F3}"/>
              </a:ext>
            </a:extLst>
          </p:cNvPr>
          <p:cNvSpPr/>
          <p:nvPr/>
        </p:nvSpPr>
        <p:spPr>
          <a:xfrm>
            <a:off x="2116800" y="1819274"/>
            <a:ext cx="2493300" cy="747525"/>
          </a:xfrm>
          <a:prstGeom prst="snip2Same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평행 사변형 6">
            <a:extLst>
              <a:ext uri="{FF2B5EF4-FFF2-40B4-BE49-F238E27FC236}">
                <a16:creationId xmlns:a16="http://schemas.microsoft.com/office/drawing/2014/main" id="{184DA85A-E22B-903C-AA49-AE1344D7DA9F}"/>
              </a:ext>
            </a:extLst>
          </p:cNvPr>
          <p:cNvSpPr/>
          <p:nvPr/>
        </p:nvSpPr>
        <p:spPr>
          <a:xfrm>
            <a:off x="2116799" y="1952626"/>
            <a:ext cx="2493301" cy="614174"/>
          </a:xfrm>
          <a:prstGeom prst="parallelogram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예적금</a:t>
            </a:r>
          </a:p>
        </p:txBody>
      </p:sp>
      <p:sp>
        <p:nvSpPr>
          <p:cNvPr id="8" name="사각형: 잘린 위쪽 모서리 7">
            <a:extLst>
              <a:ext uri="{FF2B5EF4-FFF2-40B4-BE49-F238E27FC236}">
                <a16:creationId xmlns:a16="http://schemas.microsoft.com/office/drawing/2014/main" id="{3F6D2131-2C7B-ACDE-1F3B-66063A8D9D2C}"/>
              </a:ext>
            </a:extLst>
          </p:cNvPr>
          <p:cNvSpPr/>
          <p:nvPr/>
        </p:nvSpPr>
        <p:spPr>
          <a:xfrm>
            <a:off x="4610101" y="1819274"/>
            <a:ext cx="2143124" cy="747525"/>
          </a:xfrm>
          <a:prstGeom prst="snip2Same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평행 사변형 8">
            <a:extLst>
              <a:ext uri="{FF2B5EF4-FFF2-40B4-BE49-F238E27FC236}">
                <a16:creationId xmlns:a16="http://schemas.microsoft.com/office/drawing/2014/main" id="{DBE6A80B-0904-1D5F-1385-BB2C0E113B57}"/>
              </a:ext>
            </a:extLst>
          </p:cNvPr>
          <p:cNvSpPr/>
          <p:nvPr/>
        </p:nvSpPr>
        <p:spPr>
          <a:xfrm>
            <a:off x="4610100" y="1952626"/>
            <a:ext cx="2143125" cy="614174"/>
          </a:xfrm>
          <a:prstGeom prst="parallelogram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주식 투자</a:t>
            </a:r>
          </a:p>
        </p:txBody>
      </p:sp>
      <p:sp>
        <p:nvSpPr>
          <p:cNvPr id="10" name="사각형: 잘린 위쪽 모서리 9">
            <a:extLst>
              <a:ext uri="{FF2B5EF4-FFF2-40B4-BE49-F238E27FC236}">
                <a16:creationId xmlns:a16="http://schemas.microsoft.com/office/drawing/2014/main" id="{0B052312-4A1B-9631-1819-C59B107D4E67}"/>
              </a:ext>
            </a:extLst>
          </p:cNvPr>
          <p:cNvSpPr/>
          <p:nvPr/>
        </p:nvSpPr>
        <p:spPr>
          <a:xfrm>
            <a:off x="6753226" y="1819274"/>
            <a:ext cx="2160158" cy="747525"/>
          </a:xfrm>
          <a:prstGeom prst="snip2Same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A008CEB8-3071-F894-0302-65BA4DB9BBE0}"/>
              </a:ext>
            </a:extLst>
          </p:cNvPr>
          <p:cNvSpPr/>
          <p:nvPr/>
        </p:nvSpPr>
        <p:spPr>
          <a:xfrm>
            <a:off x="6753225" y="1952626"/>
            <a:ext cx="2160159" cy="614174"/>
          </a:xfrm>
          <a:prstGeom prst="parallelogram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부동산 투자</a:t>
            </a:r>
          </a:p>
        </p:txBody>
      </p:sp>
      <p:sp>
        <p:nvSpPr>
          <p:cNvPr id="14" name="사각형: 둥근 대각선 방향 모서리 13">
            <a:extLst>
              <a:ext uri="{FF2B5EF4-FFF2-40B4-BE49-F238E27FC236}">
                <a16:creationId xmlns:a16="http://schemas.microsoft.com/office/drawing/2014/main" id="{FAA1A455-13BB-B2AC-7A71-FD750F49F794}"/>
              </a:ext>
            </a:extLst>
          </p:cNvPr>
          <p:cNvSpPr/>
          <p:nvPr/>
        </p:nvSpPr>
        <p:spPr>
          <a:xfrm flipH="1">
            <a:off x="887469" y="2566799"/>
            <a:ext cx="1229329" cy="1157476"/>
          </a:xfrm>
          <a:prstGeom prst="round2Diag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내용</a:t>
            </a:r>
          </a:p>
        </p:txBody>
      </p:sp>
      <p:sp>
        <p:nvSpPr>
          <p:cNvPr id="16" name="사각형: 둥근 대각선 방향 모서리 15">
            <a:extLst>
              <a:ext uri="{FF2B5EF4-FFF2-40B4-BE49-F238E27FC236}">
                <a16:creationId xmlns:a16="http://schemas.microsoft.com/office/drawing/2014/main" id="{C15F6491-8395-8C8A-6279-B64C35DFA0E4}"/>
              </a:ext>
            </a:extLst>
          </p:cNvPr>
          <p:cNvSpPr/>
          <p:nvPr/>
        </p:nvSpPr>
        <p:spPr>
          <a:xfrm flipH="1">
            <a:off x="887465" y="3724275"/>
            <a:ext cx="1229329" cy="1142693"/>
          </a:xfrm>
          <a:prstGeom prst="round2Diag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특징</a:t>
            </a:r>
          </a:p>
        </p:txBody>
      </p:sp>
      <p:sp>
        <p:nvSpPr>
          <p:cNvPr id="17" name="사각형: 둥근 대각선 방향 모서리 16">
            <a:extLst>
              <a:ext uri="{FF2B5EF4-FFF2-40B4-BE49-F238E27FC236}">
                <a16:creationId xmlns:a16="http://schemas.microsoft.com/office/drawing/2014/main" id="{76EF2827-5CE4-F722-BCF3-A98DD1ADC828}"/>
              </a:ext>
            </a:extLst>
          </p:cNvPr>
          <p:cNvSpPr/>
          <p:nvPr/>
        </p:nvSpPr>
        <p:spPr>
          <a:xfrm flipH="1">
            <a:off x="887465" y="4866968"/>
            <a:ext cx="1229329" cy="947585"/>
          </a:xfrm>
          <a:prstGeom prst="round2Diag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고려사항</a:t>
            </a:r>
          </a:p>
        </p:txBody>
      </p:sp>
    </p:spTree>
    <p:extLst>
      <p:ext uri="{BB962C8B-B14F-4D97-AF65-F5344CB8AC3E}">
        <p14:creationId xmlns:p14="http://schemas.microsoft.com/office/powerpoint/2010/main" val="683608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내용 개체 틀 22">
            <a:extLst>
              <a:ext uri="{FF2B5EF4-FFF2-40B4-BE49-F238E27FC236}">
                <a16:creationId xmlns:a16="http://schemas.microsoft.com/office/drawing/2014/main" id="{5B58A2DF-B33A-B7A1-8CC0-B594398569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412048"/>
              </p:ext>
            </p:extLst>
          </p:nvPr>
        </p:nvGraphicFramePr>
        <p:xfrm>
          <a:off x="714375" y="1501775"/>
          <a:ext cx="840105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22D81A47-E802-2204-BAB2-3E0675871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C. </a:t>
            </a:r>
            <a:r>
              <a:rPr lang="ko-KR" altLang="en-US"/>
              <a:t>수익률의 비교</a:t>
            </a:r>
          </a:p>
        </p:txBody>
      </p:sp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DFE93A3F-B200-A0A5-426E-B53F8DB2F94A}"/>
              </a:ext>
            </a:extLst>
          </p:cNvPr>
          <p:cNvSpPr/>
          <p:nvPr/>
        </p:nvSpPr>
        <p:spPr>
          <a:xfrm>
            <a:off x="4048125" y="2457450"/>
            <a:ext cx="2019300" cy="361950"/>
          </a:xfrm>
          <a:prstGeom prst="homePlat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장기적 우상향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FBBDE5-ED7F-409D-00C6-043FF947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7701-08EC-4120-8D3E-1A3CA3A720E1}" type="slidenum">
              <a:rPr lang="ko-KR" altLang="en-US" smtClean="0"/>
              <a:pPr/>
              <a:t>5</a:t>
            </a:fld>
            <a:r>
              <a:rPr lang="ko-KR" altLang="en-US"/>
              <a:t> 쪽</a:t>
            </a:r>
          </a:p>
        </p:txBody>
      </p:sp>
    </p:spTree>
    <p:extLst>
      <p:ext uri="{BB962C8B-B14F-4D97-AF65-F5344CB8AC3E}">
        <p14:creationId xmlns:p14="http://schemas.microsoft.com/office/powerpoint/2010/main" val="3645599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2D2568-43A3-F0D0-A739-95486F241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D. </a:t>
            </a:r>
            <a:r>
              <a:rPr lang="ko-KR" altLang="en-US"/>
              <a:t>부자 플랜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A2E3E9-74A9-FD30-6836-6A251306A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E7701-08EC-4120-8D3E-1A3CA3A720E1}" type="slidenum">
              <a:rPr lang="ko-KR" altLang="en-US" smtClean="0"/>
              <a:pPr/>
              <a:t>6</a:t>
            </a:fld>
            <a:r>
              <a:rPr lang="ko-KR" altLang="en-US"/>
              <a:t> 쪽</a:t>
            </a: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8208FB4B-FD4B-6751-5B00-DC4C3B70F7E1}"/>
              </a:ext>
            </a:extLst>
          </p:cNvPr>
          <p:cNvGrpSpPr/>
          <p:nvPr/>
        </p:nvGrpSpPr>
        <p:grpSpPr>
          <a:xfrm>
            <a:off x="382138" y="1569492"/>
            <a:ext cx="4394579" cy="4271749"/>
            <a:chOff x="382138" y="1569492"/>
            <a:chExt cx="4394579" cy="4271749"/>
          </a:xfrm>
        </p:grpSpPr>
        <p:sp>
          <p:nvSpPr>
            <p:cNvPr id="7" name="사각형: 위쪽 모서리의 한쪽은 둥글고 다른 한쪽은 잘림 6">
              <a:extLst>
                <a:ext uri="{FF2B5EF4-FFF2-40B4-BE49-F238E27FC236}">
                  <a16:creationId xmlns:a16="http://schemas.microsoft.com/office/drawing/2014/main" id="{B9C6C6DD-D1B9-4D51-3A4D-4DF051DEFE0A}"/>
                </a:ext>
              </a:extLst>
            </p:cNvPr>
            <p:cNvSpPr/>
            <p:nvPr/>
          </p:nvSpPr>
          <p:spPr>
            <a:xfrm>
              <a:off x="382138" y="1569492"/>
              <a:ext cx="4394579" cy="4271749"/>
            </a:xfrm>
            <a:prstGeom prst="snip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8" name="다이어그램 7">
              <a:extLst>
                <a:ext uri="{FF2B5EF4-FFF2-40B4-BE49-F238E27FC236}">
                  <a16:creationId xmlns:a16="http://schemas.microsoft.com/office/drawing/2014/main" id="{457F64E6-9F2F-938E-A63B-9D6EB91C04B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508660606"/>
                </p:ext>
              </p:extLst>
            </p:nvPr>
          </p:nvGraphicFramePr>
          <p:xfrm>
            <a:off x="705107" y="1897041"/>
            <a:ext cx="2161049" cy="165137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1" name="화살표: 오각형 10">
              <a:extLst>
                <a:ext uri="{FF2B5EF4-FFF2-40B4-BE49-F238E27FC236}">
                  <a16:creationId xmlns:a16="http://schemas.microsoft.com/office/drawing/2014/main" id="{2DDD0FE2-E075-1D6B-465C-F5AD4D69578A}"/>
                </a:ext>
              </a:extLst>
            </p:cNvPr>
            <p:cNvSpPr/>
            <p:nvPr/>
          </p:nvSpPr>
          <p:spPr>
            <a:xfrm rot="5400000">
              <a:off x="3179362" y="1928249"/>
              <a:ext cx="1240056" cy="1220531"/>
            </a:xfrm>
            <a:prstGeom prst="homePlat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0114C44-D7B5-127E-5DAE-249CC464B4E2}"/>
                </a:ext>
              </a:extLst>
            </p:cNvPr>
            <p:cNvSpPr txBox="1"/>
            <p:nvPr/>
          </p:nvSpPr>
          <p:spPr>
            <a:xfrm>
              <a:off x="3314712" y="2080999"/>
              <a:ext cx="9693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>
                  <a:latin typeface="굴림" panose="020B0600000101010101" pitchFamily="50" charset="-127"/>
                  <a:ea typeface="굴림" panose="020B0600000101010101" pitchFamily="50" charset="-127"/>
                </a:rPr>
                <a:t>준비</a:t>
              </a:r>
              <a:endParaRPr lang="en-US" altLang="ko-KR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>
                  <a:latin typeface="굴림" panose="020B0600000101010101" pitchFamily="50" charset="-127"/>
                  <a:ea typeface="굴림" panose="020B0600000101010101" pitchFamily="50" charset="-127"/>
                </a:rPr>
                <a:t>중요</a:t>
              </a: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9C29E2AC-60BB-C4FB-5804-EAE80CA71518}"/>
                </a:ext>
              </a:extLst>
            </p:cNvPr>
            <p:cNvSpPr/>
            <p:nvPr/>
          </p:nvSpPr>
          <p:spPr>
            <a:xfrm>
              <a:off x="527199" y="4035530"/>
              <a:ext cx="4104456" cy="1728000"/>
            </a:xfrm>
            <a:prstGeom prst="roundRect">
              <a:avLst/>
            </a:prstGeom>
            <a:solidFill>
              <a:srgbClr val="7ADCE6"/>
            </a:solidFill>
            <a:ln w="254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설명선: 오른쪽 화살표 20">
              <a:extLst>
                <a:ext uri="{FF2B5EF4-FFF2-40B4-BE49-F238E27FC236}">
                  <a16:creationId xmlns:a16="http://schemas.microsoft.com/office/drawing/2014/main" id="{33F6A058-65F0-B70F-D852-A073A90C8713}"/>
                </a:ext>
              </a:extLst>
            </p:cNvPr>
            <p:cNvSpPr/>
            <p:nvPr/>
          </p:nvSpPr>
          <p:spPr>
            <a:xfrm>
              <a:off x="857519" y="4140527"/>
              <a:ext cx="1874064" cy="587070"/>
            </a:xfrm>
            <a:prstGeom prst="rightArrowCallout">
              <a:avLst>
                <a:gd name="adj1" fmla="val 50000"/>
                <a:gd name="adj2" fmla="val 25000"/>
                <a:gd name="adj3" fmla="val 25000"/>
                <a:gd name="adj4" fmla="val 81749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모바일 뱅킹 </a:t>
              </a:r>
              <a:endParaRPr lang="en-US" altLang="ko-KR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발달</a:t>
              </a:r>
            </a:p>
          </p:txBody>
        </p:sp>
        <p:sp>
          <p:nvSpPr>
            <p:cNvPr id="24" name="사각형: 둥근 한쪽 모서리 23">
              <a:extLst>
                <a:ext uri="{FF2B5EF4-FFF2-40B4-BE49-F238E27FC236}">
                  <a16:creationId xmlns:a16="http://schemas.microsoft.com/office/drawing/2014/main" id="{4AC75677-AA27-6668-ED3A-66FBFE3099DA}"/>
                </a:ext>
              </a:extLst>
            </p:cNvPr>
            <p:cNvSpPr/>
            <p:nvPr/>
          </p:nvSpPr>
          <p:spPr>
            <a:xfrm>
              <a:off x="1780883" y="4798235"/>
              <a:ext cx="2537476" cy="423498"/>
            </a:xfrm>
            <a:prstGeom prst="round1Rect">
              <a:avLst>
                <a:gd name="adj" fmla="val 50000"/>
              </a:avLst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쉬운 계좌 개설</a:t>
              </a:r>
            </a:p>
          </p:txBody>
        </p:sp>
        <p:sp>
          <p:nvSpPr>
            <p:cNvPr id="25" name="사각형: 둥근 한쪽 모서리 24">
              <a:extLst>
                <a:ext uri="{FF2B5EF4-FFF2-40B4-BE49-F238E27FC236}">
                  <a16:creationId xmlns:a16="http://schemas.microsoft.com/office/drawing/2014/main" id="{C0C950F8-E3DF-8AE1-A4AB-8AE19502CED1}"/>
                </a:ext>
              </a:extLst>
            </p:cNvPr>
            <p:cNvSpPr/>
            <p:nvPr/>
          </p:nvSpPr>
          <p:spPr>
            <a:xfrm flipH="1">
              <a:off x="1780883" y="5221733"/>
              <a:ext cx="2537476" cy="423498"/>
            </a:xfrm>
            <a:prstGeom prst="round1Rect">
              <a:avLst>
                <a:gd name="adj" fmla="val 50000"/>
              </a:avLst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다양한 상품</a:t>
              </a:r>
            </a:p>
          </p:txBody>
        </p:sp>
        <p:sp>
          <p:nvSpPr>
            <p:cNvPr id="28" name="사각형: 잘린 대각선 방향 모서리 27">
              <a:extLst>
                <a:ext uri="{FF2B5EF4-FFF2-40B4-BE49-F238E27FC236}">
                  <a16:creationId xmlns:a16="http://schemas.microsoft.com/office/drawing/2014/main" id="{431D981D-E133-B35D-094D-3EE36ABF458A}"/>
                </a:ext>
              </a:extLst>
            </p:cNvPr>
            <p:cNvSpPr/>
            <p:nvPr/>
          </p:nvSpPr>
          <p:spPr>
            <a:xfrm>
              <a:off x="3435710" y="3368254"/>
              <a:ext cx="1079072" cy="432159"/>
            </a:xfrm>
            <a:prstGeom prst="snip2Diag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관리</a:t>
              </a:r>
            </a:p>
          </p:txBody>
        </p:sp>
        <p:cxnSp>
          <p:nvCxnSpPr>
            <p:cNvPr id="32" name="연결선: 꺾임 31">
              <a:extLst>
                <a:ext uri="{FF2B5EF4-FFF2-40B4-BE49-F238E27FC236}">
                  <a16:creationId xmlns:a16="http://schemas.microsoft.com/office/drawing/2014/main" id="{73462BA0-7C75-1F36-4F70-9EF3304919C6}"/>
                </a:ext>
              </a:extLst>
            </p:cNvPr>
            <p:cNvCxnSpPr>
              <a:stCxn id="28" idx="2"/>
              <a:endCxn id="16" idx="0"/>
            </p:cNvCxnSpPr>
            <p:nvPr/>
          </p:nvCxnSpPr>
          <p:spPr>
            <a:xfrm rot="10800000" flipV="1">
              <a:off x="2579428" y="3584334"/>
              <a:ext cx="856283" cy="451196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94091EDB-501E-3882-B320-BCBA9D07D3BD}"/>
              </a:ext>
            </a:extLst>
          </p:cNvPr>
          <p:cNvGrpSpPr/>
          <p:nvPr/>
        </p:nvGrpSpPr>
        <p:grpSpPr>
          <a:xfrm>
            <a:off x="5126099" y="1569492"/>
            <a:ext cx="4394579" cy="4271749"/>
            <a:chOff x="5126099" y="1569492"/>
            <a:chExt cx="4394579" cy="4271749"/>
          </a:xfrm>
        </p:grpSpPr>
        <p:sp>
          <p:nvSpPr>
            <p:cNvPr id="46" name="사각형: 위쪽 모서리의 한쪽은 둥글고 다른 한쪽은 잘림 45">
              <a:extLst>
                <a:ext uri="{FF2B5EF4-FFF2-40B4-BE49-F238E27FC236}">
                  <a16:creationId xmlns:a16="http://schemas.microsoft.com/office/drawing/2014/main" id="{8D297E70-4688-96AC-2A5C-5E05E4312A92}"/>
                </a:ext>
              </a:extLst>
            </p:cNvPr>
            <p:cNvSpPr/>
            <p:nvPr/>
          </p:nvSpPr>
          <p:spPr>
            <a:xfrm flipH="1" flipV="1">
              <a:off x="5126099" y="1569492"/>
              <a:ext cx="4394579" cy="4271749"/>
            </a:xfrm>
            <a:prstGeom prst="snip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화살표: 왼쪽/오른쪽/위쪽 46">
              <a:extLst>
                <a:ext uri="{FF2B5EF4-FFF2-40B4-BE49-F238E27FC236}">
                  <a16:creationId xmlns:a16="http://schemas.microsoft.com/office/drawing/2014/main" id="{CE58819B-0DDA-4458-A4CA-52B67C528B9D}"/>
                </a:ext>
              </a:extLst>
            </p:cNvPr>
            <p:cNvSpPr/>
            <p:nvPr/>
          </p:nvSpPr>
          <p:spPr>
            <a:xfrm>
              <a:off x="6222367" y="1623025"/>
              <a:ext cx="2202042" cy="590922"/>
            </a:xfrm>
            <a:prstGeom prst="leftRightUpArrow">
              <a:avLst>
                <a:gd name="adj1" fmla="val 69342"/>
                <a:gd name="adj2" fmla="val 34671"/>
                <a:gd name="adj3" fmla="val 25000"/>
              </a:avLst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재테크</a:t>
              </a:r>
            </a:p>
          </p:txBody>
        </p:sp>
        <p:sp>
          <p:nvSpPr>
            <p:cNvPr id="48" name="별: 꼭짓점 8개 47">
              <a:extLst>
                <a:ext uri="{FF2B5EF4-FFF2-40B4-BE49-F238E27FC236}">
                  <a16:creationId xmlns:a16="http://schemas.microsoft.com/office/drawing/2014/main" id="{5EB52AE2-5687-02C3-8A44-D34308A5F523}"/>
                </a:ext>
              </a:extLst>
            </p:cNvPr>
            <p:cNvSpPr/>
            <p:nvPr/>
          </p:nvSpPr>
          <p:spPr>
            <a:xfrm rot="20859859">
              <a:off x="5535752" y="2321104"/>
              <a:ext cx="1315859" cy="929921"/>
            </a:xfrm>
            <a:prstGeom prst="star8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목표</a:t>
              </a:r>
            </a:p>
          </p:txBody>
        </p:sp>
        <p:sp>
          <p:nvSpPr>
            <p:cNvPr id="50" name="사각형: 둥근 한쪽 모서리 49">
              <a:extLst>
                <a:ext uri="{FF2B5EF4-FFF2-40B4-BE49-F238E27FC236}">
                  <a16:creationId xmlns:a16="http://schemas.microsoft.com/office/drawing/2014/main" id="{C2564F75-D995-F6CE-8E0A-089C994E5D84}"/>
                </a:ext>
              </a:extLst>
            </p:cNvPr>
            <p:cNvSpPr/>
            <p:nvPr/>
          </p:nvSpPr>
          <p:spPr>
            <a:xfrm>
              <a:off x="7015163" y="2349948"/>
              <a:ext cx="2318400" cy="357190"/>
            </a:xfrm>
            <a:prstGeom prst="round1Rect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안정적 삶 영위</a:t>
              </a:r>
            </a:p>
          </p:txBody>
        </p:sp>
        <p:sp>
          <p:nvSpPr>
            <p:cNvPr id="54" name="배지 53">
              <a:extLst>
                <a:ext uri="{FF2B5EF4-FFF2-40B4-BE49-F238E27FC236}">
                  <a16:creationId xmlns:a16="http://schemas.microsoft.com/office/drawing/2014/main" id="{7343354D-9BB2-168C-A372-457977EA8FBB}"/>
                </a:ext>
              </a:extLst>
            </p:cNvPr>
            <p:cNvSpPr/>
            <p:nvPr/>
          </p:nvSpPr>
          <p:spPr>
            <a:xfrm>
              <a:off x="7015162" y="2775910"/>
              <a:ext cx="2318401" cy="357190"/>
            </a:xfrm>
            <a:prstGeom prst="plaque">
              <a:avLst>
                <a:gd name="adj" fmla="val 35334"/>
              </a:avLst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내 집 마련</a:t>
              </a:r>
            </a:p>
          </p:txBody>
        </p:sp>
        <p:sp>
          <p:nvSpPr>
            <p:cNvPr id="55" name="순서도: 문서 54">
              <a:extLst>
                <a:ext uri="{FF2B5EF4-FFF2-40B4-BE49-F238E27FC236}">
                  <a16:creationId xmlns:a16="http://schemas.microsoft.com/office/drawing/2014/main" id="{DF5AB1A5-40E6-079B-9F75-8C0586AE3E91}"/>
                </a:ext>
              </a:extLst>
            </p:cNvPr>
            <p:cNvSpPr/>
            <p:nvPr/>
          </p:nvSpPr>
          <p:spPr>
            <a:xfrm>
              <a:off x="7015162" y="3201872"/>
              <a:ext cx="2318400" cy="429309"/>
            </a:xfrm>
            <a:prstGeom prst="flowChartDocumen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rPr>
                <a:t>순자산 확보</a:t>
              </a:r>
              <a:endParaRPr lang="ko-KR" altLang="en-US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8" name="순서도: 화면 표시 57">
              <a:extLst>
                <a:ext uri="{FF2B5EF4-FFF2-40B4-BE49-F238E27FC236}">
                  <a16:creationId xmlns:a16="http://schemas.microsoft.com/office/drawing/2014/main" id="{BF594E39-E7A5-E57E-1698-09B0A4125F69}"/>
                </a:ext>
              </a:extLst>
            </p:cNvPr>
            <p:cNvSpPr/>
            <p:nvPr/>
          </p:nvSpPr>
          <p:spPr>
            <a:xfrm>
              <a:off x="5574455" y="5212985"/>
              <a:ext cx="1229885" cy="522116"/>
            </a:xfrm>
            <a:prstGeom prst="flowChartDisplay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기록</a:t>
              </a:r>
            </a:p>
          </p:txBody>
        </p:sp>
        <p:sp>
          <p:nvSpPr>
            <p:cNvPr id="59" name="순서도: 화면 표시 58">
              <a:extLst>
                <a:ext uri="{FF2B5EF4-FFF2-40B4-BE49-F238E27FC236}">
                  <a16:creationId xmlns:a16="http://schemas.microsoft.com/office/drawing/2014/main" id="{D1640CA3-5EAA-7CAF-CF83-013EF0688C1A}"/>
                </a:ext>
              </a:extLst>
            </p:cNvPr>
            <p:cNvSpPr/>
            <p:nvPr/>
          </p:nvSpPr>
          <p:spPr>
            <a:xfrm flipH="1">
              <a:off x="5574455" y="3463791"/>
              <a:ext cx="1229885" cy="522116"/>
            </a:xfrm>
            <a:prstGeom prst="flowChartDisplay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절약</a:t>
              </a:r>
            </a:p>
          </p:txBody>
        </p:sp>
        <p:sp>
          <p:nvSpPr>
            <p:cNvPr id="60" name="화살표: 위쪽/아래쪽 59">
              <a:extLst>
                <a:ext uri="{FF2B5EF4-FFF2-40B4-BE49-F238E27FC236}">
                  <a16:creationId xmlns:a16="http://schemas.microsoft.com/office/drawing/2014/main" id="{08BFB103-F0E7-F86E-4D96-E2FF0B18788B}"/>
                </a:ext>
              </a:extLst>
            </p:cNvPr>
            <p:cNvSpPr/>
            <p:nvPr/>
          </p:nvSpPr>
          <p:spPr>
            <a:xfrm>
              <a:off x="5960003" y="3825899"/>
              <a:ext cx="458787" cy="1547095"/>
            </a:xfrm>
            <a:prstGeom prst="upDownArrow">
              <a:avLst/>
            </a:prstGeom>
            <a:solidFill>
              <a:srgbClr val="7ADCE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61" name="육각형 60">
              <a:extLst>
                <a:ext uri="{FF2B5EF4-FFF2-40B4-BE49-F238E27FC236}">
                  <a16:creationId xmlns:a16="http://schemas.microsoft.com/office/drawing/2014/main" id="{08324F07-860F-1EBC-823B-16154D28BF67}"/>
                </a:ext>
              </a:extLst>
            </p:cNvPr>
            <p:cNvSpPr/>
            <p:nvPr/>
          </p:nvSpPr>
          <p:spPr>
            <a:xfrm>
              <a:off x="5613133" y="4287142"/>
              <a:ext cx="1152525" cy="624607"/>
            </a:xfrm>
            <a:prstGeom prst="hexagon">
              <a:avLst/>
            </a:prstGeom>
            <a:solidFill>
              <a:srgbClr val="99CC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지출</a:t>
              </a:r>
            </a:p>
          </p:txBody>
        </p:sp>
        <p:graphicFrame>
          <p:nvGraphicFramePr>
            <p:cNvPr id="63" name="다이어그램 62">
              <a:extLst>
                <a:ext uri="{FF2B5EF4-FFF2-40B4-BE49-F238E27FC236}">
                  <a16:creationId xmlns:a16="http://schemas.microsoft.com/office/drawing/2014/main" id="{ABD2F35C-403B-8443-0CE0-7170ED65885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541208015"/>
                </p:ext>
              </p:extLst>
            </p:nvPr>
          </p:nvGraphicFramePr>
          <p:xfrm>
            <a:off x="6940375" y="3687982"/>
            <a:ext cx="2456765" cy="208201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81812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</a:spPr>
      <a:bodyPr rtlCol="0" anchor="ctr"/>
      <a:lstStyle>
        <a:defPPr algn="ctr">
          <a:defRPr smtClean="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1838</TotalTime>
  <Words>165</Words>
  <Application>Microsoft Office PowerPoint</Application>
  <PresentationFormat>A4 용지(210x297mm)</PresentationFormat>
  <Paragraphs>63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굴림</vt:lpstr>
      <vt:lpstr>궁서</vt:lpstr>
      <vt:lpstr>돋움</vt:lpstr>
      <vt:lpstr>맑은 고딕</vt:lpstr>
      <vt:lpstr>Arial</vt:lpstr>
      <vt:lpstr>Calibri</vt:lpstr>
      <vt:lpstr>Wingdings</vt:lpstr>
      <vt:lpstr>Office 테마</vt:lpstr>
      <vt:lpstr>PowerPoint 프레젠테이션</vt:lpstr>
      <vt:lpstr>목차</vt:lpstr>
      <vt:lpstr>A. 재테크의 특징</vt:lpstr>
      <vt:lpstr>B. 재테크의 방법</vt:lpstr>
      <vt:lpstr>C. 수익률의 비교</vt:lpstr>
      <vt:lpstr>D. 부자 플랜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영진닷컴</dc:creator>
  <cp:lastModifiedBy>영진닷컴</cp:lastModifiedBy>
  <cp:revision>7</cp:revision>
  <dcterms:created xsi:type="dcterms:W3CDTF">2024-02-04T00:45:49Z</dcterms:created>
  <dcterms:modified xsi:type="dcterms:W3CDTF">2024-02-07T10:47:39Z</dcterms:modified>
</cp:coreProperties>
</file>