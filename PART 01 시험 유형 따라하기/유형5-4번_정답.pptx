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3E6"/>
    <a:srgbClr val="4472C4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수면 장애 환자 수와 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1</a:t>
            </a: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인당 진료비</a:t>
            </a:r>
            <a:r>
              <a:rPr 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단위</a:t>
            </a:r>
            <a:r>
              <a:rPr 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</a:t>
            </a: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만</a:t>
            </a:r>
            <a:r>
              <a:rPr 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원</a:t>
            </a:r>
            <a:r>
              <a:rPr 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)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20613149108869752"/>
          <c:y val="0.17261296147934521"/>
          <c:w val="0.72982780162513128"/>
          <c:h val="0.586196142861760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환자 수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  <c:pt idx="4">
                  <c:v>2020년</c:v>
                </c:pt>
              </c:strCache>
            </c:strRef>
          </c:cat>
          <c:val>
            <c:numRef>
              <c:f>Sheet1!$B$3:$F$3</c:f>
              <c:numCache>
                <c:formatCode>_(* #,##0_);_(* \(#,##0\);_(* "-"_);_(@_)</c:formatCode>
                <c:ptCount val="5"/>
                <c:pt idx="0">
                  <c:v>543184</c:v>
                </c:pt>
                <c:pt idx="1">
                  <c:v>562673</c:v>
                </c:pt>
                <c:pt idx="2">
                  <c:v>601113</c:v>
                </c:pt>
                <c:pt idx="3">
                  <c:v>636061</c:v>
                </c:pt>
                <c:pt idx="4">
                  <c:v>656391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0731552"/>
        <c:axId val="360736800"/>
      </c:barChart>
      <c:lineChart>
        <c:grouping val="standard"/>
        <c:varyColors val="0"/>
        <c:ser>
          <c:idx val="1"/>
          <c:order val="1"/>
          <c:tx>
            <c:strRef>
              <c:f>Sheet1!$A$2</c:f>
              <c:strCache>
                <c:ptCount val="1"/>
                <c:pt idx="0">
                  <c:v>1인당 진료비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3.1215161649944367E-2"/>
                  <c:y val="4.62113440180924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175-48ED-BC46-4C490F629E1F}"/>
                </c:ext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  <c:pt idx="4">
                  <c:v>2020년</c:v>
                </c:pt>
              </c:strCache>
            </c:strRef>
          </c:cat>
          <c:val>
            <c:numRef>
              <c:f>Sheet1!$B$2:$F$2</c:f>
              <c:numCache>
                <c:formatCode>_(* #,##0_);_(* \(#,##0\);_(* "-"_);_(@_)</c:formatCode>
                <c:ptCount val="5"/>
                <c:pt idx="0">
                  <c:v>13</c:v>
                </c:pt>
                <c:pt idx="1">
                  <c:v>14</c:v>
                </c:pt>
                <c:pt idx="2">
                  <c:v>15</c:v>
                </c:pt>
                <c:pt idx="3">
                  <c:v>17</c:v>
                </c:pt>
                <c:pt idx="4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2069128"/>
        <c:axId val="562070112"/>
      </c:lineChart>
      <c:catAx>
        <c:axId val="3607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6800"/>
        <c:crosses val="autoZero"/>
        <c:auto val="1"/>
        <c:lblAlgn val="ctr"/>
        <c:lblOffset val="100"/>
        <c:noMultiLvlLbl val="0"/>
      </c:catAx>
      <c:valAx>
        <c:axId val="3607368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1552"/>
        <c:crosses val="autoZero"/>
        <c:crossBetween val="between"/>
      </c:valAx>
      <c:valAx>
        <c:axId val="562070112"/>
        <c:scaling>
          <c:orientation val="minMax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562069128"/>
        <c:crosses val="max"/>
        <c:crossBetween val="between"/>
        <c:majorUnit val="5"/>
      </c:valAx>
      <c:catAx>
        <c:axId val="562069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207011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한쪽 모서리는 잘리고 다른 쪽 모서리는 둥근 사각형 7">
            <a:extLst>
              <a:ext uri="{FF2B5EF4-FFF2-40B4-BE49-F238E27FC236}">
                <a16:creationId xmlns:a16="http://schemas.microsoft.com/office/drawing/2014/main" id="{C29A65C3-567C-C70A-DD4E-FD58ED8A9C09}"/>
              </a:ext>
            </a:extLst>
          </p:cNvPr>
          <p:cNvSpPr/>
          <p:nvPr userDrawn="1"/>
        </p:nvSpPr>
        <p:spPr>
          <a:xfrm>
            <a:off x="-1" y="571500"/>
            <a:ext cx="9906001" cy="5817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한쪽 모서리는 잘리고 다른 쪽 모서리는 둥근 사각형 7">
            <a:extLst>
              <a:ext uri="{FF2B5EF4-FFF2-40B4-BE49-F238E27FC236}">
                <a16:creationId xmlns:a16="http://schemas.microsoft.com/office/drawing/2014/main" id="{FEB4E838-9478-5CBF-ED45-08404FC5B79B}"/>
              </a:ext>
            </a:extLst>
          </p:cNvPr>
          <p:cNvSpPr/>
          <p:nvPr userDrawn="1"/>
        </p:nvSpPr>
        <p:spPr>
          <a:xfrm flipH="1">
            <a:off x="289559" y="0"/>
            <a:ext cx="9326881" cy="1153297"/>
          </a:xfrm>
          <a:prstGeom prst="notched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B44B21-CDFB-17B7-46DA-CB2639DC8F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EBFF6C0-F4B9-8D80-0403-CB8F3B26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 b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CE9E7CAA-EB8F-8429-45B3-BF5F58F0F538}"/>
              </a:ext>
            </a:extLst>
          </p:cNvPr>
          <p:cNvSpPr/>
          <p:nvPr/>
        </p:nvSpPr>
        <p:spPr>
          <a:xfrm>
            <a:off x="0" y="0"/>
            <a:ext cx="5804452" cy="6858000"/>
          </a:xfrm>
          <a:prstGeom prst="rtTriangle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418" y="2471596"/>
            <a:ext cx="7522390" cy="2006799"/>
          </a:xfrm>
        </p:spPr>
        <p:txBody>
          <a:bodyPr>
            <a:prstTxWarp prst="textSlantUp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Sleeponomics</a:t>
            </a:r>
            <a:endParaRPr lang="ko-KR" altLang="en-US" b="1" dirty="0">
              <a:effectLst>
                <a:reflection blurRad="6350" stA="50000" endA="300" endPos="50000" dist="29997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01" y="73457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한쪽 모서리가 잘린 사각형 2">
            <a:extLst>
              <a:ext uri="{FF2B5EF4-FFF2-40B4-BE49-F238E27FC236}">
                <a16:creationId xmlns:a16="http://schemas.microsoft.com/office/drawing/2014/main" id="{828296BA-9BCB-66A3-49D7-12AE1D403613}"/>
              </a:ext>
            </a:extLst>
          </p:cNvPr>
          <p:cNvSpPr/>
          <p:nvPr/>
        </p:nvSpPr>
        <p:spPr>
          <a:xfrm flipH="1">
            <a:off x="3146785" y="230791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0" t="34962" r="8617" b="35938"/>
          <a:stretch/>
        </p:blipFill>
        <p:spPr>
          <a:xfrm>
            <a:off x="321802" y="4092810"/>
            <a:ext cx="1829116" cy="1820487"/>
          </a:xfrm>
          <a:prstGeom prst="rect">
            <a:avLst/>
          </a:prstGeom>
        </p:spPr>
      </p:pic>
      <p:sp>
        <p:nvSpPr>
          <p:cNvPr id="10" name="한쪽 모서리가 잘린 사각형 2">
            <a:extLst>
              <a:ext uri="{FF2B5EF4-FFF2-40B4-BE49-F238E27FC236}">
                <a16:creationId xmlns:a16="http://schemas.microsoft.com/office/drawing/2014/main" id="{8FF272AB-48D8-78A8-AD04-4D2A88C82B04}"/>
              </a:ext>
            </a:extLst>
          </p:cNvPr>
          <p:cNvSpPr/>
          <p:nvPr/>
        </p:nvSpPr>
        <p:spPr>
          <a:xfrm flipH="1">
            <a:off x="3146785" y="345048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한쪽 모서리가 잘린 사각형 2">
            <a:extLst>
              <a:ext uri="{FF2B5EF4-FFF2-40B4-BE49-F238E27FC236}">
                <a16:creationId xmlns:a16="http://schemas.microsoft.com/office/drawing/2014/main" id="{EE992EB5-9C8F-3808-FF20-DD7D34E125CA}"/>
              </a:ext>
            </a:extLst>
          </p:cNvPr>
          <p:cNvSpPr/>
          <p:nvPr/>
        </p:nvSpPr>
        <p:spPr>
          <a:xfrm flipH="1">
            <a:off x="3146785" y="459305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한쪽 모서리가 잘린 사각형 2">
            <a:extLst>
              <a:ext uri="{FF2B5EF4-FFF2-40B4-BE49-F238E27FC236}">
                <a16:creationId xmlns:a16="http://schemas.microsoft.com/office/drawing/2014/main" id="{7F29ED3A-1E3E-07CA-DF71-CD7E6CBE2201}"/>
              </a:ext>
            </a:extLst>
          </p:cNvPr>
          <p:cNvSpPr/>
          <p:nvPr/>
        </p:nvSpPr>
        <p:spPr>
          <a:xfrm flipH="1">
            <a:off x="3146785" y="5709876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" name="한쪽 모서리가 잘린 사각형 2"/>
          <p:cNvSpPr/>
          <p:nvPr/>
        </p:nvSpPr>
        <p:spPr>
          <a:xfrm>
            <a:off x="2568409" y="190817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81715" y="192615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슬리포노믹스</a:t>
            </a:r>
          </a:p>
        </p:txBody>
      </p:sp>
      <p:sp>
        <p:nvSpPr>
          <p:cNvPr id="28" name="한쪽 모서리가 잘린 사각형 27"/>
          <p:cNvSpPr/>
          <p:nvPr/>
        </p:nvSpPr>
        <p:spPr>
          <a:xfrm>
            <a:off x="2568409" y="419331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07873" y="421129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수면 장애 환자 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인당 진료비</a:t>
            </a:r>
          </a:p>
        </p:txBody>
      </p:sp>
      <p:sp>
        <p:nvSpPr>
          <p:cNvPr id="33" name="한쪽 모서리가 잘린 사각형 32"/>
          <p:cNvSpPr/>
          <p:nvPr/>
        </p:nvSpPr>
        <p:spPr>
          <a:xfrm>
            <a:off x="2568409" y="305074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81715" y="306872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불면증 유형과 숙면 유도 제품</a:t>
            </a:r>
          </a:p>
        </p:txBody>
      </p:sp>
      <p:sp>
        <p:nvSpPr>
          <p:cNvPr id="38" name="한쪽 모서리가 잘린 사각형 37"/>
          <p:cNvSpPr/>
          <p:nvPr/>
        </p:nvSpPr>
        <p:spPr>
          <a:xfrm>
            <a:off x="2568409" y="5310139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73402" y="5328120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3" action="ppaction://hlinksldjump"/>
              </a:rPr>
              <a:t>수면 장애 원인과 부작용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슬리포노믹스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1192" y="3777945"/>
            <a:ext cx="6947848" cy="2151062"/>
          </a:xfrm>
          <a:prstGeom prst="rect">
            <a:avLst/>
          </a:prstGeom>
        </p:spPr>
        <p:txBody>
          <a:bodyPr/>
          <a:lstStyle/>
          <a:p>
            <a:pPr marL="361950" indent="-361950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슬리포노믹스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수면과 경제를 합친 합성어로 숙면을 위해 많은 돈을 지불함에 따라 성장하는 관련 산업</a:t>
            </a:r>
            <a:endParaRPr lang="en-US" altLang="ko-KR" sz="2000" dirty="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수면상태를 분석하는 슬립테크와 함께 성장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611190" y="1466545"/>
            <a:ext cx="7766455" cy="2391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Sleeponomics</a:t>
            </a: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altLang="ko-KR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Sleeponomics is a compound word that combines 'sleep' and 'economy' and is a related industry that grows as it pays a lot of money for a good night's sleep</a:t>
            </a: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77230" y="4489380"/>
            <a:ext cx="1748030" cy="134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</a:t>
            </a:r>
            <a:r>
              <a:rPr lang="ko-KR" altLang="en-US" dirty="0"/>
              <a:t> 불면증 유형과 숙면 유도 제품</a:t>
            </a:r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39664" y="1515290"/>
            <a:ext cx="2595600" cy="813813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234371" y="1515290"/>
            <a:ext cx="2595600" cy="813813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828774" y="1515290"/>
            <a:ext cx="2595600" cy="813813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939088" y="1515290"/>
            <a:ext cx="1996752" cy="80808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수면 장애 증상</a:t>
            </a: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533795" y="1515290"/>
            <a:ext cx="1996752" cy="80808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숙면 유도 제품</a:t>
            </a:r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7128198" y="1515290"/>
            <a:ext cx="1996752" cy="80808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슬립테크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400050" y="2327457"/>
            <a:ext cx="1257993" cy="1288800"/>
          </a:xfrm>
          <a:prstGeom prst="foldedCorner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입면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 flipH="1">
            <a:off x="400050" y="4899607"/>
            <a:ext cx="1257993" cy="1285200"/>
          </a:xfrm>
          <a:prstGeom prst="foldedCorner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조기각성</a:t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 flipH="1">
            <a:off x="400050" y="3616257"/>
            <a:ext cx="1257993" cy="1285200"/>
          </a:xfrm>
          <a:prstGeom prst="foldedCorner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숙면유지</a:t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42589372"/>
              </p:ext>
            </p:extLst>
          </p:nvPr>
        </p:nvGraphicFramePr>
        <p:xfrm>
          <a:off x="1645989" y="2327275"/>
          <a:ext cx="7778385" cy="386089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92795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128745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잠드는 데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30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분 이상 걸리는 증상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유도 기능 침구류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기능성 매트리스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베개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이불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유도 생활용품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안대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양말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유도 차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화장품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숙면기능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IT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제품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멘탈 케어 시스템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유도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IT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제품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컬러테라피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감성 조명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수면클리닉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전문 클리닉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양압기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수면 개선 전문 용품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128671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자는 동안 자주 깨서 숙면을 취하지 못하는 증상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128671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너무 이른 시간에 깨서 다시 잠들지 못하는 증상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수면 장애 환자 </a:t>
            </a:r>
            <a:r>
              <a:rPr lang="en-US" altLang="ko-KR" dirty="0"/>
              <a:t>1</a:t>
            </a:r>
            <a:r>
              <a:rPr lang="ko-KR" altLang="en-US" dirty="0"/>
              <a:t>인당 진료비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9D0E751-55A6-4253-AA03-647E97BCEA5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96381547"/>
              </p:ext>
            </p:extLst>
          </p:nvPr>
        </p:nvGraphicFramePr>
        <p:xfrm>
          <a:off x="681037" y="1504950"/>
          <a:ext cx="8543925" cy="467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화살표: 오각형 11">
            <a:extLst>
              <a:ext uri="{FF2B5EF4-FFF2-40B4-BE49-F238E27FC236}">
                <a16:creationId xmlns:a16="http://schemas.microsoft.com/office/drawing/2014/main" id="{E53F0560-EF9A-46CD-8450-DB2869120613}"/>
              </a:ext>
            </a:extLst>
          </p:cNvPr>
          <p:cNvSpPr/>
          <p:nvPr/>
        </p:nvSpPr>
        <p:spPr>
          <a:xfrm>
            <a:off x="3259345" y="2360151"/>
            <a:ext cx="1765092" cy="443930"/>
          </a:xfrm>
          <a:prstGeom prst="homePlat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지속적 증가</a:t>
            </a:r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677</TotalTime>
  <Words>192</Words>
  <Application>Microsoft Office PowerPoint</Application>
  <PresentationFormat>A4 용지(210x297mm)</PresentationFormat>
  <Paragraphs>54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Sleeponomics</vt:lpstr>
      <vt:lpstr>  목차</vt:lpstr>
      <vt:lpstr>1. 슬리포노믹스</vt:lpstr>
      <vt:lpstr>2. 불면증 유형과 숙면 유도 제품</vt:lpstr>
      <vt:lpstr>3. 수면 장애 환자 1인당 진료비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70</cp:revision>
  <dcterms:created xsi:type="dcterms:W3CDTF">2019-10-10T08:42:01Z</dcterms:created>
  <dcterms:modified xsi:type="dcterms:W3CDTF">2024-02-02T09:10:57Z</dcterms:modified>
</cp:coreProperties>
</file>