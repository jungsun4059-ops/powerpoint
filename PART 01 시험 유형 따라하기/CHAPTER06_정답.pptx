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gif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040" autoAdjust="0"/>
    <p:restoredTop sz="94660"/>
  </p:normalViewPr>
  <p:slideViewPr>
    <p:cSldViewPr snapToGrid="0">
      <p:cViewPr>
        <p:scale>
          <a:sx n="100" d="100"/>
          <a:sy n="100" d="100"/>
        </p:scale>
        <p:origin x="13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  <a:cs typeface="+mn-cs"/>
              </a:defRPr>
            </a:pPr>
            <a:r>
              <a:rPr lang="en-US" altLang="ko-KR" sz="2400" b="1">
                <a:latin typeface="궁서" panose="02030600000101010101" pitchFamily="18" charset="-127"/>
                <a:ea typeface="궁서" panose="02030600000101010101" pitchFamily="18" charset="-127"/>
              </a:rPr>
              <a:t>VR </a:t>
            </a:r>
            <a:r>
              <a:rPr lang="ko-KR" altLang="en-US" sz="2400" b="1">
                <a:latin typeface="궁서" panose="02030600000101010101" pitchFamily="18" charset="-127"/>
                <a:ea typeface="궁서" panose="02030600000101010101" pitchFamily="18" charset="-127"/>
              </a:rPr>
              <a:t>및 </a:t>
            </a:r>
            <a:r>
              <a:rPr lang="en-US" altLang="ko-KR" sz="2400" b="1">
                <a:latin typeface="궁서" panose="02030600000101010101" pitchFamily="18" charset="-127"/>
                <a:ea typeface="궁서" panose="02030600000101010101" pitchFamily="18" charset="-127"/>
              </a:rPr>
              <a:t>MR </a:t>
            </a:r>
            <a:r>
              <a:rPr lang="ko-KR" altLang="en-US" sz="2400" b="1">
                <a:latin typeface="궁서" panose="02030600000101010101" pitchFamily="18" charset="-127"/>
                <a:ea typeface="궁서" panose="02030600000101010101" pitchFamily="18" charset="-127"/>
              </a:rPr>
              <a:t>시장규모</a:t>
            </a:r>
            <a:r>
              <a:rPr lang="en-US" altLang="ko-KR" sz="2400" b="1">
                <a:latin typeface="궁서" panose="02030600000101010101" pitchFamily="18" charset="-127"/>
                <a:ea typeface="궁서" panose="02030600000101010101" pitchFamily="18" charset="-127"/>
              </a:rPr>
              <a:t>(</a:t>
            </a:r>
            <a:r>
              <a:rPr lang="ko-KR" altLang="en-US" sz="2400" b="1">
                <a:latin typeface="궁서" panose="02030600000101010101" pitchFamily="18" charset="-127"/>
                <a:ea typeface="궁서" panose="02030600000101010101" pitchFamily="18" charset="-127"/>
              </a:rPr>
              <a:t>단위</a:t>
            </a:r>
            <a:r>
              <a:rPr lang="en-US" altLang="ko-KR" sz="2400" b="1">
                <a:latin typeface="궁서" panose="02030600000101010101" pitchFamily="18" charset="-127"/>
                <a:ea typeface="궁서" panose="02030600000101010101" pitchFamily="18" charset="-127"/>
              </a:rPr>
              <a:t>:</a:t>
            </a:r>
            <a:r>
              <a:rPr lang="ko-KR" altLang="en-US" sz="2400" b="1">
                <a:latin typeface="궁서" panose="02030600000101010101" pitchFamily="18" charset="-127"/>
                <a:ea typeface="궁서" panose="02030600000101010101" pitchFamily="18" charset="-127"/>
              </a:rPr>
              <a:t>억원</a:t>
            </a:r>
            <a:r>
              <a:rPr lang="en-US" altLang="ko-KR" sz="2400" b="1">
                <a:latin typeface="궁서" panose="02030600000101010101" pitchFamily="18" charset="-127"/>
                <a:ea typeface="궁서" panose="02030600000101010101" pitchFamily="18" charset="-127"/>
              </a:rPr>
              <a:t>)</a:t>
            </a:r>
            <a:endParaRPr lang="ko-KR" altLang="en-US" sz="2400" b="1">
              <a:latin typeface="궁서" panose="02030600000101010101" pitchFamily="18" charset="-127"/>
              <a:ea typeface="궁서" panose="02030600000101010101" pitchFamily="18" charset="-127"/>
            </a:endParaRPr>
          </a:p>
        </c:rich>
      </c:tx>
      <c:overlay val="0"/>
      <c:spPr>
        <a:solidFill>
          <a:schemeClr val="bg1"/>
        </a:solidFill>
        <a:ln w="9525">
          <a:solidFill>
            <a:schemeClr val="tx1"/>
          </a:solidFill>
        </a:ln>
        <a:effectLst>
          <a:outerShdw blurRad="50800" dist="38100" algn="l" rotWithShape="0">
            <a:prstClr val="black">
              <a:alpha val="40000"/>
            </a:prstClr>
          </a:outerShdw>
        </a:effectLst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Sheet1!$B$1:$F$1</c:f>
              <c:strCache>
                <c:ptCount val="5"/>
                <c:pt idx="0">
                  <c:v>2014년</c:v>
                </c:pt>
                <c:pt idx="1">
                  <c:v>2015년</c:v>
                </c:pt>
                <c:pt idx="2">
                  <c:v>2016년</c:v>
                </c:pt>
                <c:pt idx="3">
                  <c:v>2017년</c:v>
                </c:pt>
                <c:pt idx="4">
                  <c:v>2018년</c:v>
                </c:pt>
              </c:strCache>
            </c:strRef>
          </c:cat>
          <c:val>
            <c:numRef>
              <c:f>Sheet1!$B$2:$F$2</c:f>
              <c:numCache>
                <c:formatCode>#,##0_ </c:formatCode>
                <c:ptCount val="5"/>
                <c:pt idx="0">
                  <c:v>20340</c:v>
                </c:pt>
                <c:pt idx="1">
                  <c:v>41000</c:v>
                </c:pt>
                <c:pt idx="2">
                  <c:v>74000</c:v>
                </c:pt>
                <c:pt idx="3">
                  <c:v>133000</c:v>
                </c:pt>
                <c:pt idx="4">
                  <c:v>240000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38-44C0-88FA-F2E75CE60A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19414608"/>
        <c:axId val="960108240"/>
      </c:barChart>
      <c:lineChart>
        <c:grouping val="standard"/>
        <c:varyColors val="0"/>
        <c:ser>
          <c:idx val="1"/>
          <c:order val="1"/>
          <c:tx>
            <c:strRef>
              <c:f>Sheet1!$A$3</c:f>
              <c:strCache>
                <c:ptCount val="1"/>
                <c:pt idx="0">
                  <c:v>MR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square"/>
            <c:size val="12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4"/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2C6-45B1-9327-724F83263E6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Sheet1!$B$1:$F$1</c:f>
              <c:strCache>
                <c:ptCount val="5"/>
                <c:pt idx="0">
                  <c:v>2014년</c:v>
                </c:pt>
                <c:pt idx="1">
                  <c:v>2015년</c:v>
                </c:pt>
                <c:pt idx="2">
                  <c:v>2016년</c:v>
                </c:pt>
                <c:pt idx="3">
                  <c:v>2017년</c:v>
                </c:pt>
                <c:pt idx="4">
                  <c:v>2018년</c:v>
                </c:pt>
              </c:strCache>
            </c:strRef>
          </c:cat>
          <c:val>
            <c:numRef>
              <c:f>Sheet1!$B$3:$F$3</c:f>
              <c:numCache>
                <c:formatCode>#,##0_ </c:formatCode>
                <c:ptCount val="5"/>
                <c:pt idx="0">
                  <c:v>2015</c:v>
                </c:pt>
                <c:pt idx="1">
                  <c:v>4500</c:v>
                </c:pt>
                <c:pt idx="2">
                  <c:v>7792</c:v>
                </c:pt>
                <c:pt idx="3">
                  <c:v>13226</c:v>
                </c:pt>
                <c:pt idx="4">
                  <c:v>22451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638-44C0-88FA-F2E75CE60A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64407215"/>
        <c:axId val="1793003215"/>
      </c:lineChart>
      <c:catAx>
        <c:axId val="1019414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960108240"/>
        <c:crosses val="autoZero"/>
        <c:auto val="1"/>
        <c:lblAlgn val="ctr"/>
        <c:lblOffset val="100"/>
        <c:noMultiLvlLbl val="0"/>
      </c:catAx>
      <c:valAx>
        <c:axId val="960108240"/>
        <c:scaling>
          <c:orientation val="minMax"/>
        </c:scaling>
        <c:delete val="0"/>
        <c:axPos val="l"/>
        <c:numFmt formatCode="#,##0_ 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1019414608"/>
        <c:crosses val="autoZero"/>
        <c:crossBetween val="between"/>
      </c:valAx>
      <c:valAx>
        <c:axId val="1793003215"/>
        <c:scaling>
          <c:orientation val="minMax"/>
          <c:max val="30000"/>
        </c:scaling>
        <c:delete val="0"/>
        <c:axPos val="r"/>
        <c:numFmt formatCode="#,##0_ 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1564407215"/>
        <c:crosses val="max"/>
        <c:crossBetween val="between"/>
        <c:majorUnit val="10000"/>
      </c:valAx>
      <c:catAx>
        <c:axId val="156440721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93003215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</c:dTable>
      <c:spPr>
        <a:solidFill>
          <a:schemeClr val="bg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FFF00">
        <a:alpha val="93000"/>
      </a:srgbClr>
    </a:solidFill>
    <a:ln w="9525">
      <a:solidFill>
        <a:schemeClr val="tx1"/>
      </a:solidFill>
    </a:ln>
    <a:effectLst/>
  </c:spPr>
  <c:txPr>
    <a:bodyPr/>
    <a:lstStyle/>
    <a:p>
      <a:pPr>
        <a:defRPr sz="1600">
          <a:solidFill>
            <a:schemeClr val="tx1"/>
          </a:solidFill>
          <a:latin typeface="돋움" panose="020B0600000101010101" pitchFamily="50" charset="-127"/>
          <a:ea typeface="돋움" panose="020B0600000101010101" pitchFamily="50" charset="-127"/>
        </a:defRPr>
      </a:pPr>
      <a:endParaRPr lang="ko-K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0.36102</cdr:x>
      <cdr:y>0.19512</cdr:y>
    </cdr:from>
    <cdr:to>
      <cdr:x>0.62635</cdr:x>
      <cdr:y>0.36848</cdr:y>
    </cdr:to>
    <cdr:sp macro="" textlink="">
      <cdr:nvSpPr>
        <cdr:cNvPr id="2" name="화살표: 오른쪽 1">
          <a:extLst xmlns:a="http://schemas.openxmlformats.org/drawingml/2006/main">
            <a:ext uri="{FF2B5EF4-FFF2-40B4-BE49-F238E27FC236}">
              <a16:creationId xmlns:a16="http://schemas.microsoft.com/office/drawing/2014/main" id="{03880632-3FDB-124E-39CC-FD3388924913}"/>
            </a:ext>
          </a:extLst>
        </cdr:cNvPr>
        <cdr:cNvSpPr/>
      </cdr:nvSpPr>
      <cdr:spPr>
        <a:xfrm xmlns:a="http://schemas.openxmlformats.org/drawingml/2006/main">
          <a:off x="3084512" y="849051"/>
          <a:ext cx="2266950" cy="754324"/>
        </a:xfrm>
        <a:prstGeom xmlns:a="http://schemas.openxmlformats.org/drawingml/2006/main" prst="rightArrow">
          <a:avLst/>
        </a:prstGeom>
      </cdr:spPr>
      <cdr:style>
        <a:lnRef xmlns:a="http://schemas.openxmlformats.org/drawingml/2006/main" idx="1">
          <a:schemeClr val="accent1"/>
        </a:lnRef>
        <a:fillRef xmlns:a="http://schemas.openxmlformats.org/drawingml/2006/main" idx="2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pPr algn="ctr"/>
          <a:r>
            <a:rPr lang="ko-KR" altLang="en-US" sz="18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지속적 성장세</a:t>
          </a:r>
          <a:endParaRPr lang="ko-KR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2FA7E-5816-4D59-A577-E7022ADE44CD}" type="datetimeFigureOut">
              <a:rPr lang="ko-KR" altLang="en-US" smtClean="0"/>
              <a:t>2024-02-01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C70FB-9DE4-4736-BDF4-8CF63472AF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678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794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627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95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64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89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955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992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594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141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119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34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99F5A0-017E-F170-D685-4F2A69E5358F}"/>
              </a:ext>
            </a:extLst>
          </p:cNvPr>
          <p:cNvSpPr/>
          <p:nvPr userDrawn="1"/>
        </p:nvSpPr>
        <p:spPr>
          <a:xfrm>
            <a:off x="0" y="612000"/>
            <a:ext cx="9906000" cy="54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26420-4545-4CF2-BF52-022BBE086FC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811413E-5B5F-EC47-921F-3EE57EAC1AD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6264000"/>
            <a:ext cx="1479628" cy="547200"/>
          </a:xfrm>
          <a:prstGeom prst="rect">
            <a:avLst/>
          </a:prstGeom>
        </p:spPr>
      </p:pic>
      <p:sp>
        <p:nvSpPr>
          <p:cNvPr id="12" name="사각형: 둥근 한쪽 모서리 11">
            <a:extLst>
              <a:ext uri="{FF2B5EF4-FFF2-40B4-BE49-F238E27FC236}">
                <a16:creationId xmlns:a16="http://schemas.microsoft.com/office/drawing/2014/main" id="{BC97B647-C187-1811-122A-DD54E3BBF4A8}"/>
              </a:ext>
            </a:extLst>
          </p:cNvPr>
          <p:cNvSpPr/>
          <p:nvPr userDrawn="1"/>
        </p:nvSpPr>
        <p:spPr>
          <a:xfrm>
            <a:off x="0" y="0"/>
            <a:ext cx="8820000" cy="1152000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906000" cy="115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82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돋움" panose="020B0600000101010101" pitchFamily="50" charset="-127"/>
          <a:ea typeface="돋움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56D8512-E958-D707-3D9A-236780176ECE}"/>
              </a:ext>
            </a:extLst>
          </p:cNvPr>
          <p:cNvSpPr/>
          <p:nvPr/>
        </p:nvSpPr>
        <p:spPr>
          <a:xfrm>
            <a:off x="0" y="0"/>
            <a:ext cx="5580000" cy="6858000"/>
          </a:xfrm>
          <a:prstGeom prst="rect">
            <a:avLst/>
          </a:prstGeom>
          <a:blipFill dpi="0" rotWithShape="1">
            <a:blip r:embed="rId2">
              <a:alphaModFix amt="50000"/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0AA5AA-2595-8DA5-CAC7-6DA52BBAEE2E}"/>
              </a:ext>
            </a:extLst>
          </p:cNvPr>
          <p:cNvSpPr/>
          <p:nvPr/>
        </p:nvSpPr>
        <p:spPr>
          <a:xfrm>
            <a:off x="1623600" y="2797200"/>
            <a:ext cx="6973200" cy="141840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Triangle">
              <a:avLst/>
            </a:prstTxWarp>
            <a:spAutoFit/>
          </a:bodyPr>
          <a:lstStyle/>
          <a:p>
            <a:pPr algn="ctr"/>
            <a:r>
              <a:rPr lang="en-US" altLang="ko-KR" sz="5400" b="1" cap="none" spc="0">
                <a:ln w="0"/>
                <a:effectLst>
                  <a:reflection blurRad="6350" stA="50000" endA="300" endPos="50000" dist="29997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Mixed Reality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096D12D-E1A5-93CD-EBA3-B3C09E7A7CE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D9D9B"/>
              </a:clrFrom>
              <a:clrTo>
                <a:srgbClr val="9D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126000"/>
            <a:ext cx="2214000" cy="81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83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04550-297B-FD10-FE83-88323A078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  목차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9B3166-0FC1-D23A-5A52-06840F8F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DCD2DFE2-CE4A-9A9F-5C44-6F409BD87D80}"/>
              </a:ext>
            </a:extLst>
          </p:cNvPr>
          <p:cNvSpPr/>
          <p:nvPr/>
        </p:nvSpPr>
        <p:spPr>
          <a:xfrm>
            <a:off x="2566800" y="1789200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Ⅰ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74BA44-EBD6-1F52-B131-8EB65C54CCEE}"/>
              </a:ext>
            </a:extLst>
          </p:cNvPr>
          <p:cNvSpPr/>
          <p:nvPr/>
        </p:nvSpPr>
        <p:spPr>
          <a:xfrm>
            <a:off x="3981600" y="2250000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EF6238-7614-0A9C-20D8-E40825D7FE43}"/>
              </a:ext>
            </a:extLst>
          </p:cNvPr>
          <p:cNvSpPr txBox="1"/>
          <p:nvPr/>
        </p:nvSpPr>
        <p:spPr>
          <a:xfrm>
            <a:off x="4089400" y="1789200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혼합현실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(MR)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이란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5" name="사각형: 잘린 한쪽 모서리 44">
            <a:extLst>
              <a:ext uri="{FF2B5EF4-FFF2-40B4-BE49-F238E27FC236}">
                <a16:creationId xmlns:a16="http://schemas.microsoft.com/office/drawing/2014/main" id="{ABCA6D75-D313-1220-016B-8D90C77EC69F}"/>
              </a:ext>
            </a:extLst>
          </p:cNvPr>
          <p:cNvSpPr/>
          <p:nvPr/>
        </p:nvSpPr>
        <p:spPr>
          <a:xfrm>
            <a:off x="2566800" y="2888064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Ⅱ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262D27F-97E3-3319-6A10-E0620C665B32}"/>
              </a:ext>
            </a:extLst>
          </p:cNvPr>
          <p:cNvSpPr/>
          <p:nvPr/>
        </p:nvSpPr>
        <p:spPr>
          <a:xfrm>
            <a:off x="3981600" y="3348864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3AF90C-AD6A-8C06-F0BF-B00EF70798A2}"/>
              </a:ext>
            </a:extLst>
          </p:cNvPr>
          <p:cNvSpPr txBox="1"/>
          <p:nvPr/>
        </p:nvSpPr>
        <p:spPr>
          <a:xfrm>
            <a:off x="4089400" y="2888064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VR, AR, MR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기술 비교</a:t>
            </a:r>
          </a:p>
        </p:txBody>
      </p:sp>
      <p:sp>
        <p:nvSpPr>
          <p:cNvPr id="48" name="사각형: 잘린 한쪽 모서리 47">
            <a:extLst>
              <a:ext uri="{FF2B5EF4-FFF2-40B4-BE49-F238E27FC236}">
                <a16:creationId xmlns:a16="http://schemas.microsoft.com/office/drawing/2014/main" id="{29227316-2C62-6CE1-4E94-5232C0549EFA}"/>
              </a:ext>
            </a:extLst>
          </p:cNvPr>
          <p:cNvSpPr/>
          <p:nvPr/>
        </p:nvSpPr>
        <p:spPr>
          <a:xfrm>
            <a:off x="2566800" y="3986928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Ⅲ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0D507D0-04E3-1EBD-BE4D-D95942EA7967}"/>
              </a:ext>
            </a:extLst>
          </p:cNvPr>
          <p:cNvSpPr/>
          <p:nvPr/>
        </p:nvSpPr>
        <p:spPr>
          <a:xfrm>
            <a:off x="3981600" y="4447728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291386-EE91-A3AE-15ED-4346CFD8FAA4}"/>
              </a:ext>
            </a:extLst>
          </p:cNvPr>
          <p:cNvSpPr txBox="1"/>
          <p:nvPr/>
        </p:nvSpPr>
        <p:spPr>
          <a:xfrm>
            <a:off x="4089400" y="3986928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글로벌 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VR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및 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MR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시장규모</a:t>
            </a:r>
          </a:p>
        </p:txBody>
      </p:sp>
      <p:sp>
        <p:nvSpPr>
          <p:cNvPr id="51" name="사각형: 잘린 한쪽 모서리 50">
            <a:extLst>
              <a:ext uri="{FF2B5EF4-FFF2-40B4-BE49-F238E27FC236}">
                <a16:creationId xmlns:a16="http://schemas.microsoft.com/office/drawing/2014/main" id="{DADFF4F5-30E8-DF4F-E0CE-5E1E0632C24F}"/>
              </a:ext>
            </a:extLst>
          </p:cNvPr>
          <p:cNvSpPr/>
          <p:nvPr/>
        </p:nvSpPr>
        <p:spPr>
          <a:xfrm>
            <a:off x="2566800" y="5085792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Ⅳ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B23E5F5-F019-E9CC-474A-95C5616CC7AF}"/>
              </a:ext>
            </a:extLst>
          </p:cNvPr>
          <p:cNvSpPr/>
          <p:nvPr/>
        </p:nvSpPr>
        <p:spPr>
          <a:xfrm>
            <a:off x="3981600" y="5546592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6E111B-06B4-10C3-1FA2-7EC4AC9AE7B7}"/>
              </a:ext>
            </a:extLst>
          </p:cNvPr>
          <p:cNvSpPr txBox="1"/>
          <p:nvPr/>
        </p:nvSpPr>
        <p:spPr>
          <a:xfrm>
            <a:off x="4089400" y="5085792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  <a:hlinkClick r:id="rId2" action="ppaction://hlinksldjump"/>
              </a:rPr>
              <a:t>혼합현실 이해와 기술사례</a:t>
            </a: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3B373F6-7FE7-298D-CD2E-1A35F2DC58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7" t="5970" r="58703" b="73597"/>
          <a:stretch/>
        </p:blipFill>
        <p:spPr>
          <a:xfrm>
            <a:off x="560717" y="4447729"/>
            <a:ext cx="1624502" cy="127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972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7C7F2-448C-B836-E564-2577DE60E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  Ⅰ. </a:t>
            </a:r>
            <a:r>
              <a:rPr lang="ko-KR" altLang="en-US"/>
              <a:t>혼합현실</a:t>
            </a:r>
            <a:r>
              <a:rPr lang="en-US" altLang="ko-KR"/>
              <a:t>(MR)</a:t>
            </a:r>
            <a:r>
              <a:rPr lang="ko-KR" altLang="en-US"/>
              <a:t>이란</a:t>
            </a:r>
            <a:r>
              <a:rPr lang="en-US" altLang="ko-KR"/>
              <a:t>?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1623E6-EDD4-FB1C-D7E8-70227A39C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1560251"/>
            <a:ext cx="8543925" cy="2193925"/>
          </a:xfrm>
        </p:spPr>
        <p:txBody>
          <a:bodyPr>
            <a:noAutofit/>
          </a:bodyPr>
          <a:lstStyle/>
          <a:p>
            <a:pPr marL="447675" indent="-44767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b="1">
                <a:latin typeface="굴림" panose="020B0600000101010101" pitchFamily="50" charset="-127"/>
                <a:ea typeface="굴림" panose="020B0600000101010101" pitchFamily="50" charset="-127"/>
              </a:rPr>
              <a:t>Mixed Reality(MR)</a:t>
            </a:r>
          </a:p>
          <a:p>
            <a:pPr marL="809625" lvl="1" indent="-3524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>
                <a:latin typeface="굴림" panose="020B0600000101010101" pitchFamily="50" charset="-127"/>
                <a:ea typeface="굴림" panose="020B0600000101010101" pitchFamily="50" charset="-127"/>
              </a:rPr>
              <a:t>A reality created by mixing various methods</a:t>
            </a:r>
          </a:p>
          <a:p>
            <a:pPr marL="809625" lvl="1" indent="-3524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>
                <a:latin typeface="굴림" panose="020B0600000101010101" pitchFamily="50" charset="-127"/>
                <a:ea typeface="굴림" panose="020B0600000101010101" pitchFamily="50" charset="-127"/>
              </a:rPr>
              <a:t>A word that refers to all the ways that exist between reality, virtual reality(VR) and augmented reality(AR)</a:t>
            </a:r>
            <a:endParaRPr lang="ko-KR" altLang="en-US" sz="20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9CA168-64E9-08CD-FE9A-6F0FD2F9B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03A12C3-3255-1BEA-C38F-100FA280D542}"/>
              </a:ext>
            </a:extLst>
          </p:cNvPr>
          <p:cNvSpPr txBox="1">
            <a:spLocks/>
          </p:cNvSpPr>
          <p:nvPr/>
        </p:nvSpPr>
        <p:spPr>
          <a:xfrm>
            <a:off x="681038" y="3919538"/>
            <a:ext cx="6919911" cy="21939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b="1">
                <a:latin typeface="굴림" panose="020B0600000101010101" pitchFamily="50" charset="-127"/>
                <a:ea typeface="굴림" panose="020B0600000101010101" pitchFamily="50" charset="-127"/>
              </a:rPr>
              <a:t>혼합현실</a:t>
            </a:r>
            <a:endParaRPr lang="en-US" altLang="ko-KR" sz="2400" b="1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809625" lvl="1" indent="-3524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>
                <a:latin typeface="굴림" panose="020B0600000101010101" pitchFamily="50" charset="-127"/>
                <a:ea typeface="굴림" panose="020B0600000101010101" pitchFamily="50" charset="-127"/>
              </a:rPr>
              <a:t>다양한 방식을 혼합해 만들어낸 현실로 현실과 가상현실</a:t>
            </a:r>
            <a:r>
              <a:rPr lang="en-US" altLang="ko-KR" sz="200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000">
                <a:latin typeface="굴림" panose="020B0600000101010101" pitchFamily="50" charset="-127"/>
                <a:ea typeface="굴림" panose="020B0600000101010101" pitchFamily="50" charset="-127"/>
              </a:rPr>
              <a:t>증강현실 사이에 존재할 수 있는 모든 방식을 통틀어 일컫는 말</a:t>
            </a:r>
          </a:p>
        </p:txBody>
      </p:sp>
      <p:pic>
        <p:nvPicPr>
          <p:cNvPr id="7" name="동영상">
            <a:hlinkClick r:id="" action="ppaction://media"/>
            <a:extLst>
              <a:ext uri="{FF2B5EF4-FFF2-40B4-BE49-F238E27FC236}">
                <a16:creationId xmlns:a16="http://schemas.microsoft.com/office/drawing/2014/main" id="{B03FB3DE-F142-C1BC-74F0-CF45168B8B4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81341" y="4410075"/>
            <a:ext cx="1891258" cy="145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465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02CFD4-5638-1A4F-0684-DC121B66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  Ⅱ. VR, AR, MR </a:t>
            </a:r>
            <a:r>
              <a:rPr lang="ko-KR" altLang="en-US"/>
              <a:t>기술 비교</a:t>
            </a:r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C10940A5-9480-8A28-223B-5A3C6226D8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8085303"/>
              </p:ext>
            </p:extLst>
          </p:nvPr>
        </p:nvGraphicFramePr>
        <p:xfrm>
          <a:off x="1666875" y="2343150"/>
          <a:ext cx="7658100" cy="375285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266872074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745887304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605185899"/>
                    </a:ext>
                  </a:extLst>
                </a:gridCol>
              </a:tblGrid>
              <a:tr h="13957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 세계를 차단하고 디지털 환경만 구축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 정보 위에 가상 정보를 업혀서 보여주는 기술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 정보 기반에 가상 정보를 융합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039021"/>
                  </a:ext>
                </a:extLst>
              </a:tr>
              <a:tr h="117853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몰입감 뛰어남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현실과 상호작용 가능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현실과 상호작용 우수</a:t>
                      </a:r>
                      <a:endParaRPr lang="en-US" altLang="ko-KR" sz="180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사실감</a:t>
                      </a:r>
                      <a:r>
                        <a:rPr lang="en-US" altLang="ko-KR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몰입감 극대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4795179"/>
                  </a:ext>
                </a:extLst>
              </a:tr>
              <a:tr h="117853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현실과 상호작용 약함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시야와 정보 분리</a:t>
                      </a:r>
                      <a:endParaRPr lang="en-US" altLang="ko-KR" sz="180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몰입감 떨어짐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데이터의 대용량</a:t>
                      </a:r>
                      <a:endParaRPr lang="en-US" altLang="ko-KR" sz="180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장비나 기술적 제약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573447"/>
                  </a:ext>
                </a:extLst>
              </a:tr>
            </a:tbl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CC8098-7EDA-4F89-0F4A-93E89FD07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4</a:t>
            </a:fld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387CD04-B37A-301C-F57C-562C0FE10C04}"/>
              </a:ext>
            </a:extLst>
          </p:cNvPr>
          <p:cNvGrpSpPr/>
          <p:nvPr/>
        </p:nvGrpSpPr>
        <p:grpSpPr>
          <a:xfrm>
            <a:off x="1666875" y="1419225"/>
            <a:ext cx="2557462" cy="923925"/>
            <a:chOff x="1666875" y="1419225"/>
            <a:chExt cx="2543175" cy="923925"/>
          </a:xfrm>
        </p:grpSpPr>
        <p:sp>
          <p:nvSpPr>
            <p:cNvPr id="6" name="사각형: 잘린 한쪽 모서리 5">
              <a:extLst>
                <a:ext uri="{FF2B5EF4-FFF2-40B4-BE49-F238E27FC236}">
                  <a16:creationId xmlns:a16="http://schemas.microsoft.com/office/drawing/2014/main" id="{FEF59EC1-5EFB-956D-D020-021BE2A108F6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snip1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십자형 8">
              <a:extLst>
                <a:ext uri="{FF2B5EF4-FFF2-40B4-BE49-F238E27FC236}">
                  <a16:creationId xmlns:a16="http://schemas.microsoft.com/office/drawing/2014/main" id="{C711AFC1-D55E-2E97-46E5-48F720A6D3C1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plu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가상현실</a:t>
              </a:r>
              <a:r>
                <a:rPr lang="en-US" altLang="ko-KR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(VR)</a:t>
              </a:r>
              <a:endPara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6C54C620-6EDF-D612-B9F2-35F3979339C7}"/>
              </a:ext>
            </a:extLst>
          </p:cNvPr>
          <p:cNvGrpSpPr/>
          <p:nvPr/>
        </p:nvGrpSpPr>
        <p:grpSpPr>
          <a:xfrm>
            <a:off x="4224337" y="1419225"/>
            <a:ext cx="2543175" cy="923925"/>
            <a:chOff x="1666875" y="1419225"/>
            <a:chExt cx="2543175" cy="923925"/>
          </a:xfrm>
        </p:grpSpPr>
        <p:sp>
          <p:nvSpPr>
            <p:cNvPr id="32" name="사각형: 잘린 한쪽 모서리 31">
              <a:extLst>
                <a:ext uri="{FF2B5EF4-FFF2-40B4-BE49-F238E27FC236}">
                  <a16:creationId xmlns:a16="http://schemas.microsoft.com/office/drawing/2014/main" id="{5D8C52E7-3386-F371-BA79-E7C91DCD8C12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snip1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십자형 32">
              <a:extLst>
                <a:ext uri="{FF2B5EF4-FFF2-40B4-BE49-F238E27FC236}">
                  <a16:creationId xmlns:a16="http://schemas.microsoft.com/office/drawing/2014/main" id="{2C7C478D-3C05-3899-3D08-725ABDC43802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plu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증강현실</a:t>
              </a:r>
              <a:r>
                <a:rPr lang="en-US" altLang="ko-KR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(AR)</a:t>
              </a:r>
              <a:endPara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346F9F6-90AB-6909-3F5D-FE3F7FE04AF3}"/>
              </a:ext>
            </a:extLst>
          </p:cNvPr>
          <p:cNvGrpSpPr/>
          <p:nvPr/>
        </p:nvGrpSpPr>
        <p:grpSpPr>
          <a:xfrm>
            <a:off x="6767512" y="1419225"/>
            <a:ext cx="2557463" cy="923925"/>
            <a:chOff x="1666875" y="1419225"/>
            <a:chExt cx="2543175" cy="923925"/>
          </a:xfrm>
        </p:grpSpPr>
        <p:sp>
          <p:nvSpPr>
            <p:cNvPr id="35" name="사각형: 잘린 한쪽 모서리 34">
              <a:extLst>
                <a:ext uri="{FF2B5EF4-FFF2-40B4-BE49-F238E27FC236}">
                  <a16:creationId xmlns:a16="http://schemas.microsoft.com/office/drawing/2014/main" id="{F8644F8D-E3AA-55E8-6CFE-3C179564F3AF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snip1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십자형 35">
              <a:extLst>
                <a:ext uri="{FF2B5EF4-FFF2-40B4-BE49-F238E27FC236}">
                  <a16:creationId xmlns:a16="http://schemas.microsoft.com/office/drawing/2014/main" id="{330423F2-B22C-0224-70D1-2D3C3EEA8B9F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plu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혼합현실</a:t>
              </a:r>
              <a:r>
                <a:rPr lang="en-US" altLang="ko-KR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(MR)</a:t>
              </a:r>
              <a:endPara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37" name="화살표: 오각형 36">
            <a:extLst>
              <a:ext uri="{FF2B5EF4-FFF2-40B4-BE49-F238E27FC236}">
                <a16:creationId xmlns:a16="http://schemas.microsoft.com/office/drawing/2014/main" id="{59B72147-470E-53AC-72BD-095A0AA53E2A}"/>
              </a:ext>
            </a:extLst>
          </p:cNvPr>
          <p:cNvSpPr/>
          <p:nvPr/>
        </p:nvSpPr>
        <p:spPr>
          <a:xfrm flipH="1">
            <a:off x="352423" y="2343150"/>
            <a:ext cx="1314449" cy="1390650"/>
          </a:xfrm>
          <a:prstGeom prst="homePlate">
            <a:avLst>
              <a:gd name="adj" fmla="val 44203"/>
            </a:avLst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구현</a:t>
            </a:r>
            <a:endParaRPr lang="en-US" altLang="ko-KR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방식</a:t>
            </a:r>
          </a:p>
        </p:txBody>
      </p:sp>
      <p:sp>
        <p:nvSpPr>
          <p:cNvPr id="38" name="화살표: 오각형 37">
            <a:extLst>
              <a:ext uri="{FF2B5EF4-FFF2-40B4-BE49-F238E27FC236}">
                <a16:creationId xmlns:a16="http://schemas.microsoft.com/office/drawing/2014/main" id="{70A0C9D9-DDA2-C8EE-3C5C-55C078BE06AF}"/>
              </a:ext>
            </a:extLst>
          </p:cNvPr>
          <p:cNvSpPr/>
          <p:nvPr/>
        </p:nvSpPr>
        <p:spPr>
          <a:xfrm flipH="1">
            <a:off x="352422" y="3733801"/>
            <a:ext cx="1314449" cy="1181100"/>
          </a:xfrm>
          <a:prstGeom prst="homePlate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장점</a:t>
            </a:r>
          </a:p>
        </p:txBody>
      </p:sp>
      <p:sp>
        <p:nvSpPr>
          <p:cNvPr id="39" name="화살표: 오각형 38">
            <a:extLst>
              <a:ext uri="{FF2B5EF4-FFF2-40B4-BE49-F238E27FC236}">
                <a16:creationId xmlns:a16="http://schemas.microsoft.com/office/drawing/2014/main" id="{4CB6634E-8955-F6B0-D5BA-F66E08169DB5}"/>
              </a:ext>
            </a:extLst>
          </p:cNvPr>
          <p:cNvSpPr/>
          <p:nvPr/>
        </p:nvSpPr>
        <p:spPr>
          <a:xfrm flipH="1">
            <a:off x="352421" y="4914900"/>
            <a:ext cx="1314449" cy="1181100"/>
          </a:xfrm>
          <a:prstGeom prst="homePlate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단점</a:t>
            </a:r>
            <a:endParaRPr lang="en-US" altLang="ko-KR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8037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72CBD-5632-57D5-C6A0-408E54223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  Ⅲ. </a:t>
            </a:r>
            <a:r>
              <a:rPr lang="ko-KR" altLang="en-US"/>
              <a:t>글로벌 </a:t>
            </a:r>
            <a:r>
              <a:rPr lang="en-US" altLang="ko-KR"/>
              <a:t>VR </a:t>
            </a:r>
            <a:r>
              <a:rPr lang="ko-KR" altLang="en-US"/>
              <a:t>및 </a:t>
            </a:r>
            <a:r>
              <a:rPr lang="en-US" altLang="ko-KR"/>
              <a:t>MR </a:t>
            </a:r>
            <a:r>
              <a:rPr lang="ko-KR" altLang="en-US"/>
              <a:t>시장규모</a:t>
            </a:r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9974F648-BF9A-1170-C323-3A2CCB7581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7859551"/>
              </p:ext>
            </p:extLst>
          </p:nvPr>
        </p:nvGraphicFramePr>
        <p:xfrm>
          <a:off x="681038" y="1475998"/>
          <a:ext cx="8543925" cy="4648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CF9B66-0F6E-55EF-F394-EDDB2F714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07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8C30BF-4C98-5685-E006-92B4A808B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EBB802-78B5-1DEE-BCC8-5BC70DA28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2D9346-789B-0966-F0D9-3AF200341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720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2595</TotalTime>
  <Words>189</Words>
  <Application>Microsoft Office PowerPoint</Application>
  <PresentationFormat>A4 용지(210x297mm)</PresentationFormat>
  <Paragraphs>45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굴림</vt:lpstr>
      <vt:lpstr>궁서</vt:lpstr>
      <vt:lpstr>돋움</vt:lpstr>
      <vt:lpstr>맑은 고딕</vt:lpstr>
      <vt:lpstr>Arial</vt:lpstr>
      <vt:lpstr>Calibri</vt:lpstr>
      <vt:lpstr>Wingdings</vt:lpstr>
      <vt:lpstr>Office 테마</vt:lpstr>
      <vt:lpstr>PowerPoint 프레젠테이션</vt:lpstr>
      <vt:lpstr>  목차</vt:lpstr>
      <vt:lpstr>  Ⅰ. 혼합현실(MR)이란?</vt:lpstr>
      <vt:lpstr>  Ⅱ. VR, AR, MR 기술 비교</vt:lpstr>
      <vt:lpstr>  Ⅲ. 글로벌 VR 및 MR 시장규모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영진닷컴</dc:creator>
  <cp:lastModifiedBy>영진닷컴</cp:lastModifiedBy>
  <cp:revision>9</cp:revision>
  <dcterms:created xsi:type="dcterms:W3CDTF">2023-12-06T01:53:31Z</dcterms:created>
  <dcterms:modified xsi:type="dcterms:W3CDTF">2024-02-01T08:12:29Z</dcterms:modified>
</cp:coreProperties>
</file>