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v" ContentType="video/x-ms-wm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JPG" ContentType="image/gif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8"/>
  </p:notesMasterIdLst>
  <p:sldIdLst>
    <p:sldId id="259" r:id="rId2"/>
    <p:sldId id="258" r:id="rId3"/>
    <p:sldId id="260" r:id="rId4"/>
    <p:sldId id="261" r:id="rId5"/>
    <p:sldId id="262" r:id="rId6"/>
    <p:sldId id="263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1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16C3-086C-4999-9D43-E0453338D530}" type="datetimeFigureOut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A097A8-FC4E-4A31-A641-44758014BD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319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488F5D5-D739-4194-9FB2-B3FFF2557B62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3400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AF39B6C1-C06A-4EC1-A19F-0D832ECFCA8C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838575" y="6356352"/>
            <a:ext cx="2228850" cy="365125"/>
          </a:xfrm>
        </p:spPr>
        <p:txBody>
          <a:bodyPr/>
          <a:lstStyle>
            <a:lvl1pPr algn="ctr">
              <a:defRPr sz="1300"/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588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E23892CB-BD2D-4A71-8D3D-DCEEE98ECA83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853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924DC29-BEBB-424F-831F-847E9A04BE09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10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CEB95358-A838-478D-9B72-79859A83FD9B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5879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화살표: 갈매기형 수장 9">
            <a:extLst>
              <a:ext uri="{FF2B5EF4-FFF2-40B4-BE49-F238E27FC236}">
                <a16:creationId xmlns:a16="http://schemas.microsoft.com/office/drawing/2014/main" id="{DF9E731E-3FEE-1D6A-6EC3-CA0122511138}"/>
              </a:ext>
            </a:extLst>
          </p:cNvPr>
          <p:cNvSpPr/>
          <p:nvPr userDrawn="1"/>
        </p:nvSpPr>
        <p:spPr>
          <a:xfrm flipH="1">
            <a:off x="0" y="600635"/>
            <a:ext cx="9906000" cy="552662"/>
          </a:xfrm>
          <a:prstGeom prst="chevron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빗면 7">
            <a:extLst>
              <a:ext uri="{FF2B5EF4-FFF2-40B4-BE49-F238E27FC236}">
                <a16:creationId xmlns:a16="http://schemas.microsoft.com/office/drawing/2014/main" id="{54899E65-DB58-365F-E83C-F82FFB31FE09}"/>
              </a:ext>
            </a:extLst>
          </p:cNvPr>
          <p:cNvSpPr/>
          <p:nvPr userDrawn="1"/>
        </p:nvSpPr>
        <p:spPr>
          <a:xfrm flipH="1">
            <a:off x="1147725" y="0"/>
            <a:ext cx="7610550" cy="1153297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F512B37-9BAB-DD61-6392-CC3E01BE9F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94" y="6257241"/>
            <a:ext cx="1479665" cy="54721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4676058-C2F6-CE06-4361-207B7E81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6" y="0"/>
            <a:ext cx="9899849" cy="1153297"/>
          </a:xfrm>
          <a:prstGeom prst="rect">
            <a:avLst/>
          </a:prstGeom>
        </p:spPr>
        <p:txBody>
          <a:bodyPr anchor="ctr"/>
          <a:lstStyle>
            <a:lvl1pPr algn="ctr">
              <a:defRPr sz="4000">
                <a:solidFill>
                  <a:schemeClr val="bg1"/>
                </a:solidFill>
                <a:latin typeface="돋움" panose="020B0600000101010101" pitchFamily="50" charset="-127"/>
                <a:ea typeface="돋움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6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F0E52529-CE08-4C4E-88D6-ECF8AD3D837F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282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19743A8B-73CB-479E-98FA-9C44118C786D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334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5493C1A0-D60E-4A2A-A02E-AC8186A6BAEC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612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068FCF2-0E46-4553-8496-689BE494DA6B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827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D35FBC78-C7A9-4B14-A845-FC2879A5F943}" type="datetime1">
              <a:rPr lang="ko-KR" altLang="en-US" smtClean="0"/>
              <a:t>2024-02-02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947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B3139-E43D-4DDB-814A-10276AA4F43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7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wmv"/><Relationship Id="rId1" Type="http://schemas.microsoft.com/office/2007/relationships/media" Target="../media/media1.wmv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3936274"/>
            <a:ext cx="9906000" cy="2921726"/>
          </a:xfrm>
          <a:prstGeom prst="rect">
            <a:avLst/>
          </a:prstGeom>
          <a:blipFill dpi="0" rotWithShape="1"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B08C1C9-8BFC-4BE1-8505-B31AFCC1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1763" y="1532811"/>
            <a:ext cx="5922474" cy="1466170"/>
          </a:xfrm>
        </p:spPr>
        <p:txBody>
          <a:bodyPr>
            <a:prstTxWarp prst="textChevronInverted">
              <a:avLst/>
            </a:prstTxWarp>
          </a:bodyPr>
          <a:lstStyle/>
          <a:p>
            <a:r>
              <a:rPr lang="en-US" altLang="ko-KR" sz="6000" b="1" dirty="0">
                <a:effectLst>
                  <a:reflection blurRad="6350" stA="60000" endA="900" endPos="58000" dir="5400000" sy="-100000" algn="bl" rotWithShape="0"/>
                </a:effectLst>
                <a:latin typeface="돋움" panose="020B0600000101010101" pitchFamily="50" charset="-127"/>
                <a:ea typeface="돋움" panose="020B0600000101010101" pitchFamily="50" charset="-127"/>
              </a:rPr>
              <a:t>Chronic Fatigue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417A86-4430-4B4F-A502-D670DF6CC75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E9D9B"/>
              </a:clrFrom>
              <a:clrTo>
                <a:srgbClr val="9E9D9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618" y="44125"/>
            <a:ext cx="2181080" cy="806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39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F67A3-2BEF-4441-96D7-AC1E5C27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A80A21B-1C34-4403-A974-17613A903BF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  목차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CFDC00CE-D75A-49E0-A109-492C77298C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61" t="32879" b="32974"/>
          <a:stretch/>
        </p:blipFill>
        <p:spPr>
          <a:xfrm>
            <a:off x="7401586" y="1897319"/>
            <a:ext cx="1727019" cy="1600201"/>
          </a:xfrm>
          <a:prstGeom prst="rect">
            <a:avLst/>
          </a:prstGeom>
        </p:spPr>
      </p:pic>
      <p:sp>
        <p:nvSpPr>
          <p:cNvPr id="19" name="모서리가 둥근 직사각형 18"/>
          <p:cNvSpPr/>
          <p:nvPr/>
        </p:nvSpPr>
        <p:spPr>
          <a:xfrm>
            <a:off x="1464722" y="2350078"/>
            <a:ext cx="5195465" cy="15395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06367" y="1897319"/>
            <a:ext cx="4754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만성피로의 정의</a:t>
            </a:r>
          </a:p>
        </p:txBody>
      </p:sp>
      <p:sp>
        <p:nvSpPr>
          <p:cNvPr id="3" name="사각형: 둥근 한쪽 모서리 2"/>
          <p:cNvSpPr/>
          <p:nvPr/>
        </p:nvSpPr>
        <p:spPr>
          <a:xfrm>
            <a:off x="950614" y="1861427"/>
            <a:ext cx="823865" cy="642604"/>
          </a:xfrm>
          <a:prstGeom prst="round1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1</a:t>
            </a:r>
            <a:endParaRPr lang="ko-KR" alt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1464722" y="3431455"/>
            <a:ext cx="5195465" cy="15395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06367" y="2978696"/>
            <a:ext cx="4754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만성피로의 유발과 증상</a:t>
            </a:r>
          </a:p>
        </p:txBody>
      </p:sp>
      <p:sp>
        <p:nvSpPr>
          <p:cNvPr id="29" name="사각형: 둥근 한쪽 모서리 28"/>
          <p:cNvSpPr/>
          <p:nvPr/>
        </p:nvSpPr>
        <p:spPr>
          <a:xfrm>
            <a:off x="950614" y="2942804"/>
            <a:ext cx="823865" cy="642604"/>
          </a:xfrm>
          <a:prstGeom prst="round1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2</a:t>
            </a:r>
            <a:endParaRPr lang="ko-KR" alt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1464722" y="4512832"/>
            <a:ext cx="5195465" cy="15395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806367" y="4060073"/>
            <a:ext cx="4754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직장인의 만성피로</a:t>
            </a:r>
          </a:p>
        </p:txBody>
      </p:sp>
      <p:sp>
        <p:nvSpPr>
          <p:cNvPr id="36" name="사각형: 둥근 한쪽 모서리 35"/>
          <p:cNvSpPr/>
          <p:nvPr/>
        </p:nvSpPr>
        <p:spPr>
          <a:xfrm>
            <a:off x="950614" y="4024181"/>
            <a:ext cx="823865" cy="642604"/>
          </a:xfrm>
          <a:prstGeom prst="round1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3</a:t>
            </a:r>
            <a:endParaRPr lang="ko-KR" alt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1464722" y="5594210"/>
            <a:ext cx="5195465" cy="15395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240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806367" y="5141451"/>
            <a:ext cx="47544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  <a:hlinkClick r:id="rId3" action="ppaction://hlinksldjump"/>
              </a:rPr>
              <a:t>만성피로의 치료 및 예방</a:t>
            </a:r>
            <a:endParaRPr lang="ko-KR" altLang="en-US" sz="24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43" name="사각형: 둥근 한쪽 모서리 42"/>
          <p:cNvSpPr/>
          <p:nvPr/>
        </p:nvSpPr>
        <p:spPr>
          <a:xfrm>
            <a:off x="950614" y="5105559"/>
            <a:ext cx="823865" cy="642604"/>
          </a:xfrm>
          <a:prstGeom prst="round1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4</a:t>
            </a:r>
            <a:endParaRPr lang="ko-KR" altLang="en-US" sz="24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249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858544-C66C-4DCC-8236-11BE5768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A6056FBD-BCC7-4E75-B5E6-4FBC7AE735A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만성피로의 정의</a:t>
            </a:r>
          </a:p>
        </p:txBody>
      </p:sp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A43E2F25-EBD4-4E9E-B7FD-0DD365416DD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34155" y="1582842"/>
            <a:ext cx="8963582" cy="2348466"/>
          </a:xfrm>
          <a:prstGeom prst="rect">
            <a:avLst/>
          </a:prstGeom>
        </p:spPr>
        <p:txBody>
          <a:bodyPr/>
          <a:lstStyle/>
          <a:p>
            <a:pPr marL="357188" indent="-357188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b="1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  <a:cs typeface="한양신명조,한컴돋움"/>
              </a:rPr>
              <a:t>Chronic fatigue syndrome</a:t>
            </a:r>
            <a:r>
              <a:rPr lang="en-US" altLang="ko-KR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 lvl="1" indent="-325438" latinLnBrk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Self-reported impairment in short-term memory or concentration</a:t>
            </a:r>
          </a:p>
          <a:p>
            <a:pPr lvl="1" indent="-325438" latinLnBrk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Tender cervical or axillary nodes</a:t>
            </a:r>
          </a:p>
          <a:p>
            <a:pPr lvl="1" indent="-325438" latinLnBrk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ko-KR" sz="2000" dirty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rPr>
              <a:t>Post-exertional malaise lasting more than 24 hours </a:t>
            </a:r>
          </a:p>
        </p:txBody>
      </p:sp>
      <p:sp>
        <p:nvSpPr>
          <p:cNvPr id="5" name="내용 개체 틀 1">
            <a:extLst>
              <a:ext uri="{FF2B5EF4-FFF2-40B4-BE49-F238E27FC236}">
                <a16:creationId xmlns:a16="http://schemas.microsoft.com/office/drawing/2014/main" id="{BEF6380C-942C-41C2-B9B2-280C4B273AFB}"/>
              </a:ext>
            </a:extLst>
          </p:cNvPr>
          <p:cNvSpPr txBox="1">
            <a:spLocks/>
          </p:cNvSpPr>
          <p:nvPr/>
        </p:nvSpPr>
        <p:spPr>
          <a:xfrm>
            <a:off x="534155" y="3968075"/>
            <a:ext cx="6711772" cy="20333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7188" indent="-357188" latinLnBrk="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400" b="1" dirty="0">
                <a:latin typeface="굴림" panose="020B0600000101010101" pitchFamily="50" charset="-127"/>
                <a:ea typeface="굴림" panose="020B0600000101010101" pitchFamily="50" charset="-127"/>
              </a:rPr>
              <a:t>만성피로증후군</a:t>
            </a:r>
            <a:endParaRPr lang="en-US" altLang="ko-KR" sz="24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lvl="1" indent="-325438" latinLnBrk="0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ko-KR" altLang="en-US" sz="2000" dirty="0">
                <a:latin typeface="굴림" pitchFamily="50" charset="-127"/>
                <a:ea typeface="굴림" pitchFamily="50" charset="-127"/>
              </a:rPr>
              <a:t>특별한 원인이 밝혀지지 않은 상태로</a:t>
            </a:r>
            <a:r>
              <a:rPr lang="en-US" altLang="ko-KR" sz="2000" dirty="0">
                <a:latin typeface="굴림" pitchFamily="50" charset="-127"/>
                <a:ea typeface="굴림" pitchFamily="50" charset="-127"/>
              </a:rPr>
              <a:t>,</a:t>
            </a:r>
            <a:r>
              <a:rPr lang="ko-KR" altLang="en-US" sz="2000" dirty="0">
                <a:latin typeface="굴림" pitchFamily="50" charset="-127"/>
                <a:ea typeface="굴림" pitchFamily="50" charset="-127"/>
              </a:rPr>
              <a:t> 일을 줄이고 휴식을 취해도 </a:t>
            </a:r>
            <a:r>
              <a:rPr lang="en-US" altLang="ko-KR" sz="2000" dirty="0">
                <a:latin typeface="굴림" pitchFamily="50" charset="-127"/>
                <a:ea typeface="굴림" pitchFamily="50" charset="-127"/>
              </a:rPr>
              <a:t>6</a:t>
            </a:r>
            <a:r>
              <a:rPr lang="ko-KR" altLang="en-US" sz="2000" dirty="0">
                <a:latin typeface="굴림" pitchFamily="50" charset="-127"/>
                <a:ea typeface="굴림" pitchFamily="50" charset="-127"/>
              </a:rPr>
              <a:t>개월 이상 지속되거나 반복되는 심한 피로 증상</a:t>
            </a:r>
            <a:endParaRPr lang="en-US" altLang="ko-KR" sz="2000" dirty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6" name="동영상">
            <a:hlinkClick r:id="" action="ppaction://media"/>
            <a:extLst>
              <a:ext uri="{FF2B5EF4-FFF2-40B4-BE49-F238E27FC236}">
                <a16:creationId xmlns:a16="http://schemas.microsoft.com/office/drawing/2014/main" id="{82F08340-7F5E-4C05-B8E5-2DDE264AE7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516537" y="4471479"/>
            <a:ext cx="19812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22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90991D5-C103-4BC1-9A08-CD7E6ECF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7F65C8A-5058-4601-9F8E-241095381541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4859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EFAB0D0-AF68-4A64-9522-052C3F3E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C0440D4-52C5-4F9F-A507-04557B9A8BF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8213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E98731A-7DBC-4F86-9832-AD41B1C37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B3139-E43D-4DDB-814A-10276AA4F432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E11138DC-642E-4E98-9ED1-8275F76599B5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165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>
            <a:lumMod val="40000"/>
            <a:lumOff val="60000"/>
          </a:schemeClr>
        </a:solidFill>
        <a:ln w="3175">
          <a:solidFill>
            <a:schemeClr val="tx1"/>
          </a:solidFill>
        </a:ln>
      </a:spPr>
      <a:bodyPr rtlCol="0" anchor="ctr"/>
      <a:lstStyle>
        <a:defPPr algn="ctr">
          <a:defRPr dirty="0">
            <a:solidFill>
              <a:schemeClr val="tx1"/>
            </a:solidFill>
            <a:latin typeface="굴림" pitchFamily="50" charset="-127"/>
            <a:ea typeface="굴림" pitchFamily="50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994</TotalTime>
  <Words>69</Words>
  <Application>Microsoft Office PowerPoint</Application>
  <PresentationFormat>A4 용지(210x297mm)</PresentationFormat>
  <Paragraphs>22</Paragraphs>
  <Slides>6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굴림</vt:lpstr>
      <vt:lpstr>돋움</vt:lpstr>
      <vt:lpstr>맑은 고딕</vt:lpstr>
      <vt:lpstr>Arial</vt:lpstr>
      <vt:lpstr>Calibri</vt:lpstr>
      <vt:lpstr>Wingdings</vt:lpstr>
      <vt:lpstr>Office 테마</vt:lpstr>
      <vt:lpstr>Chronic Fatigue</vt:lpstr>
      <vt:lpstr>  목차</vt:lpstr>
      <vt:lpstr>1. 만성피로의 정의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영진닷컴</cp:lastModifiedBy>
  <cp:revision>102</cp:revision>
  <dcterms:created xsi:type="dcterms:W3CDTF">2019-10-10T08:42:01Z</dcterms:created>
  <dcterms:modified xsi:type="dcterms:W3CDTF">2024-02-02T09:14:37Z</dcterms:modified>
</cp:coreProperties>
</file>