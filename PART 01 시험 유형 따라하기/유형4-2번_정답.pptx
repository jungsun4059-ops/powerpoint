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v" ContentType="video/x-ms-wm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media/image3.JPG" ContentType="image/gif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8"/>
  </p:notesMasterIdLst>
  <p:handoutMasterIdLst>
    <p:handoutMasterId r:id="rId9"/>
  </p:handoutMasterIdLst>
  <p:sldIdLst>
    <p:sldId id="259" r:id="rId2"/>
    <p:sldId id="258" r:id="rId3"/>
    <p:sldId id="260" r:id="rId4"/>
    <p:sldId id="261" r:id="rId5"/>
    <p:sldId id="267" r:id="rId6"/>
    <p:sldId id="264" r:id="rId7"/>
  </p:sldIdLst>
  <p:sldSz cx="9906000" cy="6858000" type="A4"/>
  <p:notesSz cx="9923463" cy="678656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테마 스타일 1 - 강조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35758FB7-9AC5-4552-8A53-C91805E547FA}" styleName="테마 스타일 1 - 강조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4190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66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0167" cy="34050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5620999" y="0"/>
            <a:ext cx="4300167" cy="34050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1A6B67-5047-42CF-9809-902AD862B613}" type="datetimeFigureOut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6446057"/>
            <a:ext cx="4300167" cy="34050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5620999" y="6446057"/>
            <a:ext cx="4300167" cy="34050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58D004-EA30-48C8-B64E-A7498F1E0A07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8569372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0167" cy="34050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20999" y="0"/>
            <a:ext cx="4300167" cy="34050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2016C3-086C-4999-9D43-E0453338D530}" type="datetimeFigureOut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306763" y="847725"/>
            <a:ext cx="3309937" cy="22907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92347" y="3266033"/>
            <a:ext cx="7938770" cy="267221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6446057"/>
            <a:ext cx="4300167" cy="34050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20999" y="6446057"/>
            <a:ext cx="4300167" cy="34050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A097A8-FC4E-4A31-A641-44758014BD4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0319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F488F5D5-D739-4194-9FB2-B3FFF2557B62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13400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AF39B6C1-C06A-4EC1-A19F-0D832ECFCA8C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69402" y="6355580"/>
            <a:ext cx="2228850" cy="365125"/>
          </a:xfrm>
        </p:spPr>
        <p:txBody>
          <a:bodyPr/>
          <a:lstStyle>
            <a:lvl1pPr>
              <a:defRPr sz="1300"/>
            </a:lvl1pPr>
          </a:lstStyle>
          <a:p>
            <a:fld id="{A9CB3139-E43D-4DDB-814A-10276AA4F43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4588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E23892CB-BD2D-4A71-8D3D-DCEEE98ECA83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22853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D924DC29-BEBB-424F-831F-847E9A04BE09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64106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CEB95358-A838-478D-9B72-79859A83FD9B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75879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fld id="{A9CB3139-E43D-4DDB-814A-10276AA4F43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E69701-C1D0-FABA-C90C-92EFAFC4DFDE}"/>
              </a:ext>
            </a:extLst>
          </p:cNvPr>
          <p:cNvSpPr/>
          <p:nvPr userDrawn="1"/>
        </p:nvSpPr>
        <p:spPr>
          <a:xfrm>
            <a:off x="0" y="683742"/>
            <a:ext cx="9906000" cy="46955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순서도: 지연 6">
            <a:extLst>
              <a:ext uri="{FF2B5EF4-FFF2-40B4-BE49-F238E27FC236}">
                <a16:creationId xmlns:a16="http://schemas.microsoft.com/office/drawing/2014/main" id="{DACEC771-D78A-96F3-843F-24F6DD1B6667}"/>
              </a:ext>
            </a:extLst>
          </p:cNvPr>
          <p:cNvSpPr/>
          <p:nvPr userDrawn="1"/>
        </p:nvSpPr>
        <p:spPr>
          <a:xfrm>
            <a:off x="632254" y="0"/>
            <a:ext cx="8641492" cy="1153297"/>
          </a:xfrm>
          <a:prstGeom prst="flowChartDelay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DA3511B-5275-7820-C059-20FBEAB47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6" y="0"/>
            <a:ext cx="9899849" cy="1153297"/>
          </a:xfrm>
          <a:prstGeom prst="rect">
            <a:avLst/>
          </a:prstGeom>
        </p:spPr>
        <p:txBody>
          <a:bodyPr anchor="ctr"/>
          <a:lstStyle>
            <a:lvl1pPr algn="ctr">
              <a:defRPr sz="4000">
                <a:solidFill>
                  <a:schemeClr val="bg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A9180F5-C971-F711-4CAC-69F53699057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7B7B7D"/>
              </a:clrFrom>
              <a:clrTo>
                <a:srgbClr val="7B7B7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741" y="6176963"/>
            <a:ext cx="1758518" cy="505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6635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F0E52529-CE08-4C4E-88D6-ECF8AD3D837F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91282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19743A8B-73CB-479E-98FA-9C44118C786D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38334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dirty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5493C1A0-D60E-4A2A-A02E-AC8186A6BAEC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661253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D068FCF2-0E46-4553-8496-689BE494DA6B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48270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D35FBC78-C7A9-4B14-A845-FC2879A5F943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44947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41735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slide" Target="slide4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1.wmv"/><Relationship Id="rId1" Type="http://schemas.microsoft.com/office/2007/relationships/media" Target="../media/media1.wmv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육각형 2"/>
          <p:cNvSpPr/>
          <p:nvPr/>
        </p:nvSpPr>
        <p:spPr>
          <a:xfrm>
            <a:off x="0" y="0"/>
            <a:ext cx="5719156" cy="6858000"/>
          </a:xfrm>
          <a:prstGeom prst="hexagon">
            <a:avLst/>
          </a:prstGeom>
          <a:blipFill dpi="0" rotWithShape="1">
            <a:blip r:embed="rId2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accent1">
                <a:shade val="50000"/>
                <a:alpha val="99000"/>
              </a:schemeClr>
            </a:solidFill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B08C1C9-8BFC-4BE1-8505-B31AFCC1E3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8678" y="2154100"/>
            <a:ext cx="7274400" cy="1411111"/>
          </a:xfrm>
        </p:spPr>
        <p:txBody>
          <a:bodyPr>
            <a:prstTxWarp prst="textChevron">
              <a:avLst/>
            </a:prstTxWarp>
          </a:bodyPr>
          <a:lstStyle/>
          <a:p>
            <a:r>
              <a:rPr lang="en-US" altLang="ko-KR" b="1" dirty="0">
                <a:effectLst>
                  <a:reflection blurRad="6350" stA="55000" endA="300" endPos="45500" dir="5400000" sy="-100000" algn="bl" rotWithShape="0"/>
                </a:effectLst>
                <a:latin typeface="굴림" panose="020B0600000101010101" pitchFamily="50" charset="-127"/>
                <a:ea typeface="굴림" panose="020B0600000101010101" pitchFamily="50" charset="-127"/>
              </a:rPr>
              <a:t>Health Care</a:t>
            </a:r>
            <a:endParaRPr lang="ko-KR" altLang="en-US" b="1" dirty="0">
              <a:effectLst>
                <a:reflection blurRad="6350" stA="55000" endA="300" endPos="45500" dir="5400000" sy="-100000" algn="bl" rotWithShape="0"/>
              </a:effectLst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clrChange>
              <a:clrFrom>
                <a:srgbClr val="7C7C7E"/>
              </a:clrFrom>
              <a:clrTo>
                <a:srgbClr val="7C7C7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9320" y="5853119"/>
            <a:ext cx="2321495" cy="709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39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CF67A3-2BEF-4441-96D7-AC1E5C275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A80A21B-1C34-4403-A974-17613A903BF5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  목차</a:t>
            </a:r>
          </a:p>
        </p:txBody>
      </p:sp>
      <p:sp>
        <p:nvSpPr>
          <p:cNvPr id="19" name="L 도형 18"/>
          <p:cNvSpPr/>
          <p:nvPr/>
        </p:nvSpPr>
        <p:spPr>
          <a:xfrm flipH="1">
            <a:off x="3902016" y="2254082"/>
            <a:ext cx="4680000" cy="168372"/>
          </a:xfrm>
          <a:prstGeom prst="corner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278202" y="1816801"/>
            <a:ext cx="39862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돋움" panose="020B0600000101010101" pitchFamily="50" charset="-127"/>
                <a:ea typeface="돋움" panose="020B0600000101010101" pitchFamily="50" charset="-127"/>
              </a:rPr>
              <a:t>건강 관리</a:t>
            </a:r>
          </a:p>
        </p:txBody>
      </p:sp>
      <p:sp>
        <p:nvSpPr>
          <p:cNvPr id="29" name="L 도형 28"/>
          <p:cNvSpPr/>
          <p:nvPr/>
        </p:nvSpPr>
        <p:spPr>
          <a:xfrm flipH="1">
            <a:off x="3902016" y="4527505"/>
            <a:ext cx="4680000" cy="168779"/>
          </a:xfrm>
          <a:prstGeom prst="corner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278202" y="4031939"/>
            <a:ext cx="39862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돋움" panose="020B0600000101010101" pitchFamily="50" charset="-127"/>
                <a:ea typeface="돋움" panose="020B0600000101010101" pitchFamily="50" charset="-127"/>
              </a:rPr>
              <a:t>건강을 해치는 흡연</a:t>
            </a:r>
            <a:r>
              <a:rPr lang="en-US" altLang="ko-KR" sz="2400" dirty="0">
                <a:latin typeface="돋움" panose="020B0600000101010101" pitchFamily="50" charset="-127"/>
                <a:ea typeface="돋움" panose="020B0600000101010101" pitchFamily="50" charset="-127"/>
              </a:rPr>
              <a:t>/</a:t>
            </a:r>
            <a:r>
              <a:rPr lang="ko-KR" altLang="en-US" sz="2400" dirty="0">
                <a:latin typeface="돋움" panose="020B0600000101010101" pitchFamily="50" charset="-127"/>
                <a:ea typeface="돋움" panose="020B0600000101010101" pitchFamily="50" charset="-127"/>
              </a:rPr>
              <a:t>음주</a:t>
            </a:r>
          </a:p>
        </p:txBody>
      </p:sp>
      <p:sp>
        <p:nvSpPr>
          <p:cNvPr id="34" name="L 도형 33"/>
          <p:cNvSpPr/>
          <p:nvPr/>
        </p:nvSpPr>
        <p:spPr>
          <a:xfrm flipH="1">
            <a:off x="3902016" y="3393047"/>
            <a:ext cx="4680000" cy="168779"/>
          </a:xfrm>
          <a:prstGeom prst="corner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278202" y="2913969"/>
            <a:ext cx="39862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돋움" panose="020B0600000101010101" pitchFamily="50" charset="-127"/>
                <a:ea typeface="돋움" panose="020B0600000101010101" pitchFamily="50" charset="-127"/>
                <a:hlinkClick r:id="rId2" action="ppaction://hlinksldjump"/>
              </a:rPr>
              <a:t>균형있는 식생활</a:t>
            </a:r>
            <a:endParaRPr lang="ko-KR" altLang="en-US" sz="24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39" name="L 도형 38"/>
          <p:cNvSpPr/>
          <p:nvPr/>
        </p:nvSpPr>
        <p:spPr>
          <a:xfrm flipH="1">
            <a:off x="3902016" y="5661704"/>
            <a:ext cx="4680000" cy="168779"/>
          </a:xfrm>
          <a:prstGeom prst="corner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278202" y="5207146"/>
            <a:ext cx="39862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돋움" panose="020B0600000101010101" pitchFamily="50" charset="-127"/>
                <a:ea typeface="돋움" panose="020B0600000101010101" pitchFamily="50" charset="-127"/>
              </a:rPr>
              <a:t>운동과 식습관 개선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000" t="32052" b="32604"/>
          <a:stretch/>
        </p:blipFill>
        <p:spPr>
          <a:xfrm>
            <a:off x="409198" y="1648539"/>
            <a:ext cx="2019905" cy="1777131"/>
          </a:xfrm>
          <a:prstGeom prst="rect">
            <a:avLst/>
          </a:prstGeom>
        </p:spPr>
      </p:pic>
      <p:sp>
        <p:nvSpPr>
          <p:cNvPr id="3" name="사각형: 잘린 대각선 방향 모서리 2"/>
          <p:cNvSpPr/>
          <p:nvPr/>
        </p:nvSpPr>
        <p:spPr>
          <a:xfrm>
            <a:off x="2873209" y="1780909"/>
            <a:ext cx="1080000" cy="642604"/>
          </a:xfrm>
          <a:prstGeom prst="snip2Diag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돋움" panose="020B0600000101010101" pitchFamily="50" charset="-127"/>
                <a:ea typeface="돋움" panose="020B0600000101010101" pitchFamily="50" charset="-127"/>
              </a:rPr>
              <a:t>1</a:t>
            </a:r>
            <a:endParaRPr lang="ko-KR" altLang="en-US" sz="24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28" name="사각형: 잘린 대각선 방향 모서리 27"/>
          <p:cNvSpPr/>
          <p:nvPr/>
        </p:nvSpPr>
        <p:spPr>
          <a:xfrm>
            <a:off x="2873209" y="4053761"/>
            <a:ext cx="1080000" cy="642604"/>
          </a:xfrm>
          <a:prstGeom prst="snip2Diag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돋움" panose="020B0600000101010101" pitchFamily="50" charset="-127"/>
                <a:ea typeface="돋움" panose="020B0600000101010101" pitchFamily="50" charset="-127"/>
              </a:rPr>
              <a:t>3</a:t>
            </a:r>
            <a:endParaRPr lang="ko-KR" altLang="en-US" sz="24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33" name="사각형: 잘린 대각선 방향 모서리 32"/>
          <p:cNvSpPr/>
          <p:nvPr/>
        </p:nvSpPr>
        <p:spPr>
          <a:xfrm>
            <a:off x="2873209" y="2919642"/>
            <a:ext cx="1080000" cy="642604"/>
          </a:xfrm>
          <a:prstGeom prst="snip2Diag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돋움" panose="020B0600000101010101" pitchFamily="50" charset="-127"/>
                <a:ea typeface="돋움" panose="020B0600000101010101" pitchFamily="50" charset="-127"/>
              </a:rPr>
              <a:t>2</a:t>
            </a:r>
            <a:endParaRPr lang="ko-KR" altLang="en-US" sz="24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38" name="사각형: 잘린 대각선 방향 모서리 37"/>
          <p:cNvSpPr/>
          <p:nvPr/>
        </p:nvSpPr>
        <p:spPr>
          <a:xfrm>
            <a:off x="2873209" y="5187880"/>
            <a:ext cx="1080000" cy="642604"/>
          </a:xfrm>
          <a:prstGeom prst="snip2Diag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돋움" panose="020B0600000101010101" pitchFamily="50" charset="-127"/>
                <a:ea typeface="돋움" panose="020B0600000101010101" pitchFamily="50" charset="-127"/>
              </a:rPr>
              <a:t>4</a:t>
            </a:r>
            <a:endParaRPr lang="ko-KR" altLang="en-US" sz="24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249958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6858544-C66C-4DCC-8236-11BE5768B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A6056FBD-BCC7-4E75-B5E6-4FBC7AE735A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건강 관리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A43E2F25-EBD4-4E9E-B7FD-0DD365416DD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05095" y="1581049"/>
            <a:ext cx="6910388" cy="2149475"/>
          </a:xfrm>
          <a:prstGeom prst="rect">
            <a:avLst/>
          </a:prstGeom>
        </p:spPr>
        <p:txBody>
          <a:bodyPr/>
          <a:lstStyle/>
          <a:p>
            <a:pPr marL="357188" indent="-357188" latinLnBrk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2400" b="1" dirty="0">
                <a:latin typeface="굴림" panose="020B0600000101010101" pitchFamily="50" charset="-127"/>
                <a:ea typeface="굴림" panose="020B0600000101010101" pitchFamily="50" charset="-127"/>
              </a:rPr>
              <a:t>Health care</a:t>
            </a:r>
          </a:p>
          <a:p>
            <a:pPr marL="714375" lvl="1" indent="-357188" latinLnBrk="0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Char char="ü"/>
            </a:pPr>
            <a:r>
              <a:rPr lang="en-US" altLang="ko-KR" sz="2000" dirty="0">
                <a:latin typeface="굴림" panose="020B0600000101010101" pitchFamily="50" charset="-127"/>
                <a:ea typeface="굴림" panose="020B0600000101010101" pitchFamily="50" charset="-127"/>
              </a:rPr>
              <a:t>In general, health care refers to physical health</a:t>
            </a:r>
          </a:p>
          <a:p>
            <a:pPr marL="714375" lvl="1" indent="-357188" latinLnBrk="0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Char char="ü"/>
            </a:pPr>
            <a:r>
              <a:rPr lang="en-US" altLang="ko-KR" sz="2000" dirty="0">
                <a:latin typeface="굴림" panose="020B0600000101010101" pitchFamily="50" charset="-127"/>
                <a:ea typeface="굴림" panose="020B0600000101010101" pitchFamily="50" charset="-127"/>
              </a:rPr>
              <a:t>Regular health care satisfies one's desire for health and makes one mentally happy</a:t>
            </a:r>
            <a:endParaRPr lang="ko-KR" altLang="en-US" sz="2000" dirty="0">
              <a:solidFill>
                <a:prstClr val="black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5" name="내용 개체 틀 1">
            <a:extLst>
              <a:ext uri="{FF2B5EF4-FFF2-40B4-BE49-F238E27FC236}">
                <a16:creationId xmlns:a16="http://schemas.microsoft.com/office/drawing/2014/main" id="{BEF6380C-942C-41C2-B9B2-280C4B273AFB}"/>
              </a:ext>
            </a:extLst>
          </p:cNvPr>
          <p:cNvSpPr txBox="1">
            <a:spLocks/>
          </p:cNvSpPr>
          <p:nvPr/>
        </p:nvSpPr>
        <p:spPr>
          <a:xfrm>
            <a:off x="505095" y="3879442"/>
            <a:ext cx="8586654" cy="203331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7188" indent="-357188" latinLnBrk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2400" b="1" dirty="0">
                <a:latin typeface="굴림" panose="020B0600000101010101" pitchFamily="50" charset="-127"/>
                <a:ea typeface="굴림" panose="020B0600000101010101" pitchFamily="50" charset="-127"/>
              </a:rPr>
              <a:t>건강 관리</a:t>
            </a:r>
            <a:endParaRPr lang="en-US" altLang="ko-KR" sz="24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marL="714375" lvl="1" indent="-357188" latinLnBrk="0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Char char="ü"/>
              <a:defRPr/>
            </a:pPr>
            <a:r>
              <a:rPr lang="ko-KR" altLang="en-US" sz="2000" dirty="0">
                <a:latin typeface="굴림" panose="020B0600000101010101" pitchFamily="50" charset="-127"/>
                <a:ea typeface="굴림" panose="020B0600000101010101" pitchFamily="50" charset="-127"/>
              </a:rPr>
              <a:t>일반적으로 신체적 건강을 가리키는 경우가 많으며 규칙적인 건강 관리는 자신의 건강을 향한 욕구를 충족시키는 동시에 정신적으로도 행복하게 함</a:t>
            </a:r>
            <a:endParaRPr lang="en-US" altLang="ko-KR" sz="2000" dirty="0">
              <a:solidFill>
                <a:prstClr val="black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pic>
        <p:nvPicPr>
          <p:cNvPr id="6" name="동영상">
            <a:hlinkClick r:id="" action="ppaction://media"/>
            <a:extLst>
              <a:ext uri="{FF2B5EF4-FFF2-40B4-BE49-F238E27FC236}">
                <a16:creationId xmlns:a16="http://schemas.microsoft.com/office/drawing/2014/main" id="{82F08340-7F5E-4C05-B8E5-2DDE264AE74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434898" y="1905000"/>
            <a:ext cx="19812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122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975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90991D5-C103-4BC1-9A08-CD7E6ECFC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47F65C8A-5058-4601-9F8E-241095381541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>
                <a:cs typeface="+mn-cs"/>
              </a:rPr>
              <a:t>2. </a:t>
            </a:r>
            <a:r>
              <a:rPr lang="ko-KR" altLang="en-US" dirty="0" err="1">
                <a:cs typeface="+mn-cs"/>
              </a:rPr>
              <a:t>균형있는</a:t>
            </a:r>
            <a:r>
              <a:rPr lang="ko-KR" altLang="en-US" dirty="0">
                <a:cs typeface="+mn-cs"/>
              </a:rPr>
              <a:t> 식생활</a:t>
            </a:r>
            <a:endParaRPr lang="ko-KR" altLang="en-US" dirty="0"/>
          </a:p>
        </p:txBody>
      </p:sp>
      <p:sp>
        <p:nvSpPr>
          <p:cNvPr id="9" name="한쪽 모서리가 잘린 사각형 6">
            <a:extLst>
              <a:ext uri="{FF2B5EF4-FFF2-40B4-BE49-F238E27FC236}">
                <a16:creationId xmlns:a16="http://schemas.microsoft.com/office/drawing/2014/main" id="{8087F8E9-02A7-4507-A6C3-46C9BD3C567C}"/>
              </a:ext>
            </a:extLst>
          </p:cNvPr>
          <p:cNvSpPr/>
          <p:nvPr/>
        </p:nvSpPr>
        <p:spPr>
          <a:xfrm>
            <a:off x="1682794" y="1533574"/>
            <a:ext cx="2595600" cy="842962"/>
          </a:xfrm>
          <a:prstGeom prst="rtTriangle">
            <a:avLst/>
          </a:prstGeom>
          <a:solidFill>
            <a:schemeClr val="accent5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0" name="한쪽 모서리가 잘린 사각형 7">
            <a:extLst>
              <a:ext uri="{FF2B5EF4-FFF2-40B4-BE49-F238E27FC236}">
                <a16:creationId xmlns:a16="http://schemas.microsoft.com/office/drawing/2014/main" id="{9B2A0D7D-A0EC-4605-946B-5D11163ABCF6}"/>
              </a:ext>
            </a:extLst>
          </p:cNvPr>
          <p:cNvSpPr/>
          <p:nvPr/>
        </p:nvSpPr>
        <p:spPr>
          <a:xfrm>
            <a:off x="4277501" y="1533574"/>
            <a:ext cx="2502859" cy="842962"/>
          </a:xfrm>
          <a:prstGeom prst="rtTriangle">
            <a:avLst/>
          </a:prstGeom>
          <a:solidFill>
            <a:schemeClr val="accent5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 typeface="Arial" pitchFamily="34" charset="0"/>
              <a:buChar char="•"/>
            </a:pPr>
            <a:endParaRPr lang="ko-KR" altLang="en-US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1" name="한쪽 모서리가 잘린 사각형 8">
            <a:extLst>
              <a:ext uri="{FF2B5EF4-FFF2-40B4-BE49-F238E27FC236}">
                <a16:creationId xmlns:a16="http://schemas.microsoft.com/office/drawing/2014/main" id="{0AEBD14B-B30D-4D33-8BEB-F70F9E96BEBA}"/>
              </a:ext>
            </a:extLst>
          </p:cNvPr>
          <p:cNvSpPr/>
          <p:nvPr/>
        </p:nvSpPr>
        <p:spPr>
          <a:xfrm>
            <a:off x="6788986" y="1533574"/>
            <a:ext cx="2672056" cy="842962"/>
          </a:xfrm>
          <a:prstGeom prst="rtTriangle">
            <a:avLst/>
          </a:prstGeom>
          <a:solidFill>
            <a:schemeClr val="accent5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2" name="오각형 11">
            <a:extLst>
              <a:ext uri="{FF2B5EF4-FFF2-40B4-BE49-F238E27FC236}">
                <a16:creationId xmlns:a16="http://schemas.microsoft.com/office/drawing/2014/main" id="{D0239B3D-E6FB-4DAD-BC48-2CF1D55D21F5}"/>
              </a:ext>
            </a:extLst>
          </p:cNvPr>
          <p:cNvSpPr/>
          <p:nvPr/>
        </p:nvSpPr>
        <p:spPr>
          <a:xfrm>
            <a:off x="1682794" y="1533573"/>
            <a:ext cx="2595600" cy="844089"/>
          </a:xfrm>
          <a:prstGeom prst="pentagon">
            <a:avLst/>
          </a:prstGeom>
          <a:solidFill>
            <a:schemeClr val="accent5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밥류</a:t>
            </a:r>
          </a:p>
        </p:txBody>
      </p:sp>
      <p:sp>
        <p:nvSpPr>
          <p:cNvPr id="13" name="오각형 12">
            <a:extLst>
              <a:ext uri="{FF2B5EF4-FFF2-40B4-BE49-F238E27FC236}">
                <a16:creationId xmlns:a16="http://schemas.microsoft.com/office/drawing/2014/main" id="{CD39E153-3ACE-4D80-9611-E147BEF857B9}"/>
              </a:ext>
            </a:extLst>
          </p:cNvPr>
          <p:cNvSpPr/>
          <p:nvPr/>
        </p:nvSpPr>
        <p:spPr>
          <a:xfrm>
            <a:off x="4277501" y="1533573"/>
            <a:ext cx="2502859" cy="844089"/>
          </a:xfrm>
          <a:prstGeom prst="pentagon">
            <a:avLst/>
          </a:prstGeom>
          <a:solidFill>
            <a:schemeClr val="accent5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면류</a:t>
            </a:r>
          </a:p>
        </p:txBody>
      </p:sp>
      <p:sp>
        <p:nvSpPr>
          <p:cNvPr id="14" name="오각형 13">
            <a:extLst>
              <a:ext uri="{FF2B5EF4-FFF2-40B4-BE49-F238E27FC236}">
                <a16:creationId xmlns:a16="http://schemas.microsoft.com/office/drawing/2014/main" id="{FD367D93-0C68-429B-A433-9D0381AE5ECD}"/>
              </a:ext>
            </a:extLst>
          </p:cNvPr>
          <p:cNvSpPr/>
          <p:nvPr/>
        </p:nvSpPr>
        <p:spPr>
          <a:xfrm>
            <a:off x="6797612" y="1533573"/>
            <a:ext cx="2669891" cy="844089"/>
          </a:xfrm>
          <a:prstGeom prst="pentagon">
            <a:avLst/>
          </a:prstGeom>
          <a:solidFill>
            <a:schemeClr val="accent5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빵류</a:t>
            </a:r>
          </a:p>
        </p:txBody>
      </p:sp>
      <p:sp>
        <p:nvSpPr>
          <p:cNvPr id="15" name="오각형 12">
            <a:extLst>
              <a:ext uri="{FF2B5EF4-FFF2-40B4-BE49-F238E27FC236}">
                <a16:creationId xmlns:a16="http://schemas.microsoft.com/office/drawing/2014/main" id="{77050217-396B-4D79-83D2-B08A5E952EA6}"/>
              </a:ext>
            </a:extLst>
          </p:cNvPr>
          <p:cNvSpPr/>
          <p:nvPr/>
        </p:nvSpPr>
        <p:spPr>
          <a:xfrm>
            <a:off x="448736" y="2375704"/>
            <a:ext cx="1251339" cy="1204961"/>
          </a:xfrm>
          <a:prstGeom prst="teardrop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bg1"/>
              </a:gs>
            </a:gsLst>
            <a:lin ang="5400000" scaled="1"/>
            <a:tileRect/>
          </a:gra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구분</a:t>
            </a:r>
            <a:endParaRPr lang="en-US" altLang="ko-KR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6" name="오각형 14">
            <a:extLst>
              <a:ext uri="{FF2B5EF4-FFF2-40B4-BE49-F238E27FC236}">
                <a16:creationId xmlns:a16="http://schemas.microsoft.com/office/drawing/2014/main" id="{9011564F-F957-448A-951A-AD5CAA892458}"/>
              </a:ext>
            </a:extLst>
          </p:cNvPr>
          <p:cNvSpPr/>
          <p:nvPr/>
        </p:nvSpPr>
        <p:spPr>
          <a:xfrm>
            <a:off x="448736" y="4714695"/>
            <a:ext cx="1251337" cy="1136805"/>
          </a:xfrm>
          <a:prstGeom prst="teardrop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bg1"/>
              </a:gs>
            </a:gsLst>
            <a:lin ang="5400000" scaled="1"/>
            <a:tileRect/>
          </a:gra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비선호</a:t>
            </a:r>
          </a:p>
        </p:txBody>
      </p:sp>
      <p:sp>
        <p:nvSpPr>
          <p:cNvPr id="17" name="오각형 17">
            <a:extLst>
              <a:ext uri="{FF2B5EF4-FFF2-40B4-BE49-F238E27FC236}">
                <a16:creationId xmlns:a16="http://schemas.microsoft.com/office/drawing/2014/main" id="{85C30C28-AEC0-4A43-9320-4D0E50E3A893}"/>
              </a:ext>
            </a:extLst>
          </p:cNvPr>
          <p:cNvSpPr/>
          <p:nvPr/>
        </p:nvSpPr>
        <p:spPr>
          <a:xfrm>
            <a:off x="448736" y="3581792"/>
            <a:ext cx="1251339" cy="1141530"/>
          </a:xfrm>
          <a:prstGeom prst="teardrop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bg1"/>
              </a:gs>
            </a:gsLst>
            <a:lin ang="5400000" scaled="1"/>
            <a:tileRect/>
          </a:gra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선호</a:t>
            </a:r>
            <a:endParaRPr lang="en-US" altLang="ko-KR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B9CB352A-EDBE-4FC2-96CC-BAA4DBC177D2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1097372541"/>
              </p:ext>
            </p:extLst>
          </p:nvPr>
        </p:nvGraphicFramePr>
        <p:xfrm>
          <a:off x="1689118" y="2376488"/>
          <a:ext cx="7778385" cy="3469046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2592795">
                  <a:extLst>
                    <a:ext uri="{9D8B030D-6E8A-4147-A177-3AD203B41FA5}">
                      <a16:colId xmlns:a16="http://schemas.microsoft.com/office/drawing/2014/main" val="2146560551"/>
                    </a:ext>
                  </a:extLst>
                </a:gridCol>
                <a:gridCol w="2522161">
                  <a:extLst>
                    <a:ext uri="{9D8B030D-6E8A-4147-A177-3AD203B41FA5}">
                      <a16:colId xmlns:a16="http://schemas.microsoft.com/office/drawing/2014/main" val="380537234"/>
                    </a:ext>
                  </a:extLst>
                </a:gridCol>
                <a:gridCol w="2663429">
                  <a:extLst>
                    <a:ext uri="{9D8B030D-6E8A-4147-A177-3AD203B41FA5}">
                      <a16:colId xmlns:a16="http://schemas.microsoft.com/office/drawing/2014/main" val="2204403766"/>
                    </a:ext>
                  </a:extLst>
                </a:gridCol>
              </a:tblGrid>
              <a:tr h="1211245"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800" dirty="0">
                          <a:latin typeface="굴림" panose="020B0600000101010101" pitchFamily="50" charset="-127"/>
                          <a:ea typeface="굴림" panose="020B0600000101010101" pitchFamily="50" charset="-127"/>
                          <a:cs typeface="ZWAdobeF" pitchFamily="2" charset="0"/>
                        </a:rPr>
                        <a:t>진지한 식사</a:t>
                      </a:r>
                      <a:endParaRPr lang="en-US" altLang="ko-KR" sz="1800" dirty="0">
                        <a:latin typeface="굴림" panose="020B0600000101010101" pitchFamily="50" charset="-127"/>
                        <a:ea typeface="굴림" panose="020B0600000101010101" pitchFamily="50" charset="-127"/>
                        <a:cs typeface="ZWAdobeF" pitchFamily="2" charset="0"/>
                      </a:endParaRPr>
                    </a:p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800" dirty="0">
                          <a:latin typeface="굴림" panose="020B0600000101010101" pitchFamily="50" charset="-127"/>
                          <a:ea typeface="굴림" panose="020B0600000101010101" pitchFamily="50" charset="-127"/>
                          <a:cs typeface="ZWAdobeF" pitchFamily="2" charset="0"/>
                        </a:rPr>
                        <a:t>쌀</a:t>
                      </a:r>
                      <a:r>
                        <a:rPr lang="en-US" altLang="ko-KR" sz="1800" dirty="0">
                          <a:latin typeface="굴림" panose="020B0600000101010101" pitchFamily="50" charset="-127"/>
                          <a:ea typeface="굴림" panose="020B0600000101010101" pitchFamily="50" charset="-127"/>
                          <a:cs typeface="ZWAdobeF" pitchFamily="2" charset="0"/>
                        </a:rPr>
                        <a:t>, </a:t>
                      </a:r>
                      <a:r>
                        <a:rPr lang="ko-KR" altLang="en-US" sz="1800" dirty="0">
                          <a:latin typeface="굴림" panose="020B0600000101010101" pitchFamily="50" charset="-127"/>
                          <a:ea typeface="굴림" panose="020B0600000101010101" pitchFamily="50" charset="-127"/>
                          <a:cs typeface="ZWAdobeF" pitchFamily="2" charset="0"/>
                        </a:rPr>
                        <a:t>현미</a:t>
                      </a:r>
                      <a:r>
                        <a:rPr lang="en-US" altLang="ko-KR" sz="1800" dirty="0">
                          <a:latin typeface="굴림" panose="020B0600000101010101" pitchFamily="50" charset="-127"/>
                          <a:ea typeface="굴림" panose="020B0600000101010101" pitchFamily="50" charset="-127"/>
                          <a:cs typeface="ZWAdobeF" pitchFamily="2" charset="0"/>
                        </a:rPr>
                        <a:t>, </a:t>
                      </a:r>
                      <a:r>
                        <a:rPr lang="ko-KR" altLang="en-US" sz="1800" dirty="0">
                          <a:latin typeface="굴림" panose="020B0600000101010101" pitchFamily="50" charset="-127"/>
                          <a:ea typeface="굴림" panose="020B0600000101010101" pitchFamily="50" charset="-127"/>
                          <a:cs typeface="ZWAdobeF" pitchFamily="2" charset="0"/>
                        </a:rPr>
                        <a:t>잡곡</a:t>
                      </a:r>
                      <a:endParaRPr lang="en-US" altLang="ko-KR" sz="1800" dirty="0">
                        <a:solidFill>
                          <a:schemeClr val="tx1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ZWAdobeF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800" dirty="0">
                          <a:latin typeface="굴림" panose="020B0600000101010101" pitchFamily="50" charset="-127"/>
                          <a:ea typeface="굴림" panose="020B0600000101010101" pitchFamily="50" charset="-127"/>
                          <a:cs typeface="ZWAdobeF" pitchFamily="2" charset="0"/>
                        </a:rPr>
                        <a:t>다양한 형태</a:t>
                      </a:r>
                      <a:endParaRPr lang="en-US" altLang="ko-KR" sz="1800" dirty="0">
                        <a:latin typeface="굴림" panose="020B0600000101010101" pitchFamily="50" charset="-127"/>
                        <a:ea typeface="굴림" panose="020B0600000101010101" pitchFamily="50" charset="-127"/>
                        <a:cs typeface="ZWAdobeF" pitchFamily="2" charset="0"/>
                      </a:endParaRPr>
                    </a:p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800" dirty="0">
                          <a:latin typeface="굴림" panose="020B0600000101010101" pitchFamily="50" charset="-127"/>
                          <a:ea typeface="굴림" panose="020B0600000101010101" pitchFamily="50" charset="-127"/>
                          <a:cs typeface="ZWAdobeF" pitchFamily="2" charset="0"/>
                        </a:rPr>
                        <a:t>국수</a:t>
                      </a:r>
                      <a:r>
                        <a:rPr lang="en-US" altLang="ko-KR" sz="1800" dirty="0">
                          <a:latin typeface="굴림" panose="020B0600000101010101" pitchFamily="50" charset="-127"/>
                          <a:ea typeface="굴림" panose="020B0600000101010101" pitchFamily="50" charset="-127"/>
                          <a:cs typeface="ZWAdobeF" pitchFamily="2" charset="0"/>
                        </a:rPr>
                        <a:t>, </a:t>
                      </a:r>
                      <a:r>
                        <a:rPr lang="ko-KR" altLang="en-US" sz="1800" dirty="0">
                          <a:latin typeface="굴림" panose="020B0600000101010101" pitchFamily="50" charset="-127"/>
                          <a:ea typeface="굴림" panose="020B0600000101010101" pitchFamily="50" charset="-127"/>
                          <a:cs typeface="ZWAdobeF" pitchFamily="2" charset="0"/>
                        </a:rPr>
                        <a:t>라면</a:t>
                      </a:r>
                      <a:r>
                        <a:rPr lang="en-US" altLang="ko-KR" sz="1800" dirty="0">
                          <a:latin typeface="굴림" panose="020B0600000101010101" pitchFamily="50" charset="-127"/>
                          <a:ea typeface="굴림" panose="020B0600000101010101" pitchFamily="50" charset="-127"/>
                          <a:cs typeface="ZWAdobeF" pitchFamily="2" charset="0"/>
                        </a:rPr>
                        <a:t>, </a:t>
                      </a:r>
                      <a:r>
                        <a:rPr lang="ko-KR" altLang="en-US" sz="1800" dirty="0">
                          <a:latin typeface="굴림" panose="020B0600000101010101" pitchFamily="50" charset="-127"/>
                          <a:ea typeface="굴림" panose="020B0600000101010101" pitchFamily="50" charset="-127"/>
                          <a:cs typeface="ZWAdobeF" pitchFamily="2" charset="0"/>
                        </a:rPr>
                        <a:t>스파게티</a:t>
                      </a:r>
                      <a:endParaRPr lang="ko-KR" altLang="en-US" sz="1800" dirty="0">
                        <a:solidFill>
                          <a:schemeClr val="tx1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ZWAdobeF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800" dirty="0">
                          <a:latin typeface="굴림" panose="020B0600000101010101" pitchFamily="50" charset="-127"/>
                          <a:ea typeface="굴림" panose="020B0600000101010101" pitchFamily="50" charset="-127"/>
                          <a:cs typeface="ZWAdobeF" pitchFamily="2" charset="0"/>
                        </a:rPr>
                        <a:t>간편한 식사</a:t>
                      </a:r>
                      <a:endParaRPr lang="en-US" altLang="ko-KR" sz="1800" dirty="0">
                        <a:latin typeface="굴림" panose="020B0600000101010101" pitchFamily="50" charset="-127"/>
                        <a:ea typeface="굴림" panose="020B0600000101010101" pitchFamily="50" charset="-127"/>
                        <a:cs typeface="ZWAdobeF" pitchFamily="2" charset="0"/>
                      </a:endParaRPr>
                    </a:p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800" dirty="0">
                          <a:latin typeface="굴림" panose="020B0600000101010101" pitchFamily="50" charset="-127"/>
                          <a:ea typeface="굴림" panose="020B0600000101010101" pitchFamily="50" charset="-127"/>
                          <a:cs typeface="ZWAdobeF" pitchFamily="2" charset="0"/>
                        </a:rPr>
                        <a:t>식빵</a:t>
                      </a:r>
                      <a:r>
                        <a:rPr lang="en-US" altLang="ko-KR" sz="1800" dirty="0">
                          <a:latin typeface="굴림" panose="020B0600000101010101" pitchFamily="50" charset="-127"/>
                          <a:ea typeface="굴림" panose="020B0600000101010101" pitchFamily="50" charset="-127"/>
                          <a:cs typeface="ZWAdobeF" pitchFamily="2" charset="0"/>
                        </a:rPr>
                        <a:t>, </a:t>
                      </a:r>
                      <a:r>
                        <a:rPr lang="ko-KR" altLang="en-US" sz="1800" dirty="0">
                          <a:latin typeface="굴림" panose="020B0600000101010101" pitchFamily="50" charset="-127"/>
                          <a:ea typeface="굴림" panose="020B0600000101010101" pitchFamily="50" charset="-127"/>
                          <a:cs typeface="ZWAdobeF" pitchFamily="2" charset="0"/>
                        </a:rPr>
                        <a:t>도넛</a:t>
                      </a:r>
                      <a:r>
                        <a:rPr lang="en-US" altLang="ko-KR" sz="1800" dirty="0">
                          <a:latin typeface="굴림" panose="020B0600000101010101" pitchFamily="50" charset="-127"/>
                          <a:ea typeface="굴림" panose="020B0600000101010101" pitchFamily="50" charset="-127"/>
                          <a:cs typeface="ZWAdobeF" pitchFamily="2" charset="0"/>
                        </a:rPr>
                        <a:t>, </a:t>
                      </a:r>
                      <a:r>
                        <a:rPr lang="ko-KR" altLang="en-US" sz="1800" dirty="0">
                          <a:latin typeface="굴림" panose="020B0600000101010101" pitchFamily="50" charset="-127"/>
                          <a:ea typeface="굴림" panose="020B0600000101010101" pitchFamily="50" charset="-127"/>
                          <a:cs typeface="ZWAdobeF" pitchFamily="2" charset="0"/>
                        </a:rPr>
                        <a:t>바게트</a:t>
                      </a:r>
                      <a:endParaRPr lang="ko-KR" altLang="en-US" sz="1800" dirty="0">
                        <a:solidFill>
                          <a:schemeClr val="tx1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ZWAdobeF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1468742"/>
                  </a:ext>
                </a:extLst>
              </a:tr>
              <a:tr h="1134899"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800" dirty="0">
                          <a:latin typeface="굴림" panose="020B0600000101010101" pitchFamily="50" charset="-127"/>
                          <a:ea typeface="굴림" panose="020B0600000101010101" pitchFamily="50" charset="-127"/>
                          <a:cs typeface="ZWAdobeF" pitchFamily="2" charset="0"/>
                        </a:rPr>
                        <a:t>건강에 좋기 때문에</a:t>
                      </a:r>
                      <a:r>
                        <a:rPr lang="en-US" altLang="ko-KR" sz="1800" dirty="0">
                          <a:latin typeface="굴림" panose="020B0600000101010101" pitchFamily="50" charset="-127"/>
                          <a:ea typeface="굴림" panose="020B0600000101010101" pitchFamily="50" charset="-127"/>
                          <a:cs typeface="ZWAdobeF" pitchFamily="2" charset="0"/>
                        </a:rPr>
                        <a:t>,</a:t>
                      </a:r>
                    </a:p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800" dirty="0">
                          <a:latin typeface="굴림" panose="020B0600000101010101" pitchFamily="50" charset="-127"/>
                          <a:ea typeface="굴림" panose="020B0600000101010101" pitchFamily="50" charset="-127"/>
                          <a:cs typeface="ZWAdobeF" pitchFamily="2" charset="0"/>
                        </a:rPr>
                        <a:t>소화가 잘 되어서</a:t>
                      </a:r>
                      <a:endParaRPr lang="ko-KR" altLang="en-US" sz="1800" dirty="0">
                        <a:solidFill>
                          <a:schemeClr val="tx1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ZWAdobeF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800" dirty="0">
                          <a:latin typeface="굴림" panose="020B0600000101010101" pitchFamily="50" charset="-127"/>
                          <a:ea typeface="굴림" panose="020B0600000101010101" pitchFamily="50" charset="-127"/>
                          <a:cs typeface="ZWAdobeF" pitchFamily="2" charset="0"/>
                        </a:rPr>
                        <a:t>빠른 시간 먹기 편해서</a:t>
                      </a:r>
                      <a:r>
                        <a:rPr lang="en-US" altLang="ko-KR" sz="1800" dirty="0">
                          <a:latin typeface="굴림" panose="020B0600000101010101" pitchFamily="50" charset="-127"/>
                          <a:ea typeface="굴림" panose="020B0600000101010101" pitchFamily="50" charset="-127"/>
                          <a:cs typeface="ZWAdobeF" pitchFamily="2" charset="0"/>
                        </a:rPr>
                        <a:t>,</a:t>
                      </a:r>
                    </a:p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800" dirty="0">
                          <a:latin typeface="굴림" panose="020B0600000101010101" pitchFamily="50" charset="-127"/>
                          <a:ea typeface="굴림" panose="020B0600000101010101" pitchFamily="50" charset="-127"/>
                          <a:cs typeface="ZWAdobeF" pitchFamily="2" charset="0"/>
                        </a:rPr>
                        <a:t>식감이 좋아서</a:t>
                      </a:r>
                      <a:endParaRPr lang="en-US" altLang="ko-KR" sz="1800" dirty="0">
                        <a:latin typeface="굴림" panose="020B0600000101010101" pitchFamily="50" charset="-127"/>
                        <a:ea typeface="굴림" panose="020B0600000101010101" pitchFamily="50" charset="-127"/>
                        <a:cs typeface="ZWAdobeF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800" dirty="0">
                          <a:latin typeface="굴림" panose="020B0600000101010101" pitchFamily="50" charset="-127"/>
                          <a:ea typeface="굴림" panose="020B0600000101010101" pitchFamily="50" charset="-127"/>
                          <a:cs typeface="ZWAdobeF" pitchFamily="2" charset="0"/>
                        </a:rPr>
                        <a:t>휴대가 편리해서</a:t>
                      </a:r>
                      <a:r>
                        <a:rPr lang="en-US" altLang="ko-KR" sz="1800" dirty="0">
                          <a:latin typeface="굴림" panose="020B0600000101010101" pitchFamily="50" charset="-127"/>
                          <a:ea typeface="굴림" panose="020B0600000101010101" pitchFamily="50" charset="-127"/>
                          <a:cs typeface="ZWAdobeF" pitchFamily="2" charset="0"/>
                        </a:rPr>
                        <a:t>,</a:t>
                      </a:r>
                    </a:p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800" dirty="0">
                          <a:latin typeface="굴림" panose="020B0600000101010101" pitchFamily="50" charset="-127"/>
                          <a:ea typeface="굴림" panose="020B0600000101010101" pitchFamily="50" charset="-127"/>
                          <a:cs typeface="ZWAdobeF" pitchFamily="2" charset="0"/>
                        </a:rPr>
                        <a:t>음료와 어울려서</a:t>
                      </a:r>
                      <a:endParaRPr lang="ko-KR" altLang="en-US" sz="1800" dirty="0">
                        <a:solidFill>
                          <a:schemeClr val="tx1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ZWAdobeF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8415507"/>
                  </a:ext>
                </a:extLst>
              </a:tr>
              <a:tr h="1122902"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800" baseline="0" dirty="0">
                          <a:latin typeface="굴림" panose="020B0600000101010101" pitchFamily="50" charset="-127"/>
                          <a:ea typeface="굴림" panose="020B0600000101010101" pitchFamily="50" charset="-127"/>
                          <a:cs typeface="ZWAdobeF" pitchFamily="2" charset="0"/>
                        </a:rPr>
                        <a:t>식단 준비의 번거로움</a:t>
                      </a:r>
                      <a:endParaRPr lang="ko-KR" altLang="en-US" sz="1800" dirty="0">
                        <a:solidFill>
                          <a:schemeClr val="tx1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ZWAdobeF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800" baseline="0" dirty="0">
                          <a:latin typeface="굴림" panose="020B0600000101010101" pitchFamily="50" charset="-127"/>
                          <a:ea typeface="굴림" panose="020B0600000101010101" pitchFamily="50" charset="-127"/>
                          <a:cs typeface="ZWAdobeF" pitchFamily="2" charset="0"/>
                        </a:rPr>
                        <a:t>밥이 곧 식사라는</a:t>
                      </a:r>
                      <a:endParaRPr lang="en-US" altLang="ko-KR" sz="1800" baseline="0" dirty="0">
                        <a:latin typeface="굴림" panose="020B0600000101010101" pitchFamily="50" charset="-127"/>
                        <a:ea typeface="굴림" panose="020B0600000101010101" pitchFamily="50" charset="-127"/>
                        <a:cs typeface="ZWAdobeF" pitchFamily="2" charset="0"/>
                      </a:endParaRPr>
                    </a:p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800" baseline="0" dirty="0">
                          <a:latin typeface="굴림" panose="020B0600000101010101" pitchFamily="50" charset="-127"/>
                          <a:ea typeface="굴림" panose="020B0600000101010101" pitchFamily="50" charset="-127"/>
                          <a:cs typeface="ZWAdobeF" pitchFamily="2" charset="0"/>
                        </a:rPr>
                        <a:t>이미지</a:t>
                      </a:r>
                      <a:endParaRPr lang="en-US" altLang="ko-KR" sz="1800" baseline="0" dirty="0">
                        <a:latin typeface="굴림" panose="020B0600000101010101" pitchFamily="50" charset="-127"/>
                        <a:ea typeface="굴림" panose="020B0600000101010101" pitchFamily="50" charset="-127"/>
                        <a:cs typeface="ZWAdobeF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800" baseline="0" dirty="0">
                          <a:latin typeface="굴림" panose="020B0600000101010101" pitchFamily="50" charset="-127"/>
                          <a:ea typeface="굴림" panose="020B0600000101010101" pitchFamily="50" charset="-127"/>
                          <a:cs typeface="ZWAdobeF" pitchFamily="2" charset="0"/>
                        </a:rPr>
                        <a:t>선택적 간식거리로</a:t>
                      </a:r>
                      <a:endParaRPr lang="en-US" altLang="ko-KR" sz="1800" baseline="0" dirty="0">
                        <a:latin typeface="굴림" panose="020B0600000101010101" pitchFamily="50" charset="-127"/>
                        <a:ea typeface="굴림" panose="020B0600000101010101" pitchFamily="50" charset="-127"/>
                        <a:cs typeface="ZWAdobeF" pitchFamily="2" charset="0"/>
                      </a:endParaRPr>
                    </a:p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800" baseline="0" dirty="0">
                          <a:latin typeface="굴림" panose="020B0600000101010101" pitchFamily="50" charset="-127"/>
                          <a:ea typeface="굴림" panose="020B0600000101010101" pitchFamily="50" charset="-127"/>
                          <a:cs typeface="ZWAdobeF" pitchFamily="2" charset="0"/>
                        </a:rPr>
                        <a:t>인식</a:t>
                      </a:r>
                      <a:endParaRPr lang="en-US" altLang="ko-KR" sz="1800" baseline="0" dirty="0">
                        <a:latin typeface="굴림" panose="020B0600000101010101" pitchFamily="50" charset="-127"/>
                        <a:ea typeface="굴림" panose="020B0600000101010101" pitchFamily="50" charset="-127"/>
                        <a:cs typeface="ZWAdobeF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0224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48594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EFAB0D0-AF68-4A64-9522-052C3F3E9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C0440D4-52C5-4F9F-A507-04557B9A8BFB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890449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E98731A-7DBC-4F86-9832-AD41B1C37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11138DC-642E-4E98-9ED1-8275F76599B5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444386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793</TotalTime>
  <Words>133</Words>
  <Application>Microsoft Office PowerPoint</Application>
  <PresentationFormat>A4 용지(210x297mm)</PresentationFormat>
  <Paragraphs>45</Paragraphs>
  <Slides>6</Slides>
  <Notes>0</Notes>
  <HiddenSlides>0</HiddenSlides>
  <MMClips>1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3" baseType="lpstr">
      <vt:lpstr>굴림</vt:lpstr>
      <vt:lpstr>돋움</vt:lpstr>
      <vt:lpstr>맑은 고딕</vt:lpstr>
      <vt:lpstr>Arial</vt:lpstr>
      <vt:lpstr>Calibri</vt:lpstr>
      <vt:lpstr>Wingdings</vt:lpstr>
      <vt:lpstr>Office 테마</vt:lpstr>
      <vt:lpstr>Health Care</vt:lpstr>
      <vt:lpstr>  목차</vt:lpstr>
      <vt:lpstr>1. 건강 관리</vt:lpstr>
      <vt:lpstr>2. 균형있는 식생활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Windows 사용자</dc:creator>
  <cp:lastModifiedBy>영진닷컴</cp:lastModifiedBy>
  <cp:revision>127</cp:revision>
  <cp:lastPrinted>2023-03-18T01:50:07Z</cp:lastPrinted>
  <dcterms:created xsi:type="dcterms:W3CDTF">2019-10-10T08:42:01Z</dcterms:created>
  <dcterms:modified xsi:type="dcterms:W3CDTF">2024-02-02T09:12:34Z</dcterms:modified>
</cp:coreProperties>
</file>