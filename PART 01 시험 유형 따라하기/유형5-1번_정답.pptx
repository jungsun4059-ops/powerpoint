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9" r:id="rId2"/>
    <p:sldId id="258" r:id="rId3"/>
    <p:sldId id="260" r:id="rId4"/>
    <p:sldId id="261" r:id="rId5"/>
    <p:sldId id="262" r:id="rId6"/>
    <p:sldId id="265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9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alt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자녀 사교육 과목 구성</a:t>
            </a:r>
            <a:r>
              <a:rPr lang="en-US" alt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(%)</a:t>
            </a:r>
            <a:endParaRPr lang="ko-KR" sz="2400" b="1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남자아동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676-4FFA-86E9-17685374D8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국어</c:v>
                </c:pt>
                <c:pt idx="1">
                  <c:v>수학</c:v>
                </c:pt>
                <c:pt idx="2">
                  <c:v>영어</c:v>
                </c:pt>
                <c:pt idx="3">
                  <c:v>태권도</c:v>
                </c:pt>
                <c:pt idx="4">
                  <c:v>미술</c:v>
                </c:pt>
              </c:strCache>
            </c:strRef>
          </c:cat>
          <c:val>
            <c:numRef>
              <c:f>Sheet1!$B$2:$F$2</c:f>
              <c:numCache>
                <c:formatCode>_-* #,##0.0_-;\-* #,##0.0_-;_-* "-"?_-;_-@_-</c:formatCode>
                <c:ptCount val="5"/>
                <c:pt idx="0">
                  <c:v>49.4</c:v>
                </c:pt>
                <c:pt idx="1">
                  <c:v>32.9</c:v>
                </c:pt>
                <c:pt idx="2">
                  <c:v>31</c:v>
                </c:pt>
                <c:pt idx="3">
                  <c:v>24.7</c:v>
                </c:pt>
                <c:pt idx="4">
                  <c:v>26.6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0731552"/>
        <c:axId val="360736800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여자아동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국어</c:v>
                </c:pt>
                <c:pt idx="1">
                  <c:v>수학</c:v>
                </c:pt>
                <c:pt idx="2">
                  <c:v>영어</c:v>
                </c:pt>
                <c:pt idx="3">
                  <c:v>태권도</c:v>
                </c:pt>
                <c:pt idx="4">
                  <c:v>미술</c:v>
                </c:pt>
              </c:strCache>
            </c:strRef>
          </c:cat>
          <c:val>
            <c:numRef>
              <c:f>Sheet1!$B$3:$F$3</c:f>
              <c:numCache>
                <c:formatCode>_-* #,##0.0_-;\-* #,##0.0_-;_-* "-"?_-;_-@_-</c:formatCode>
                <c:ptCount val="5"/>
                <c:pt idx="0">
                  <c:v>45.9</c:v>
                </c:pt>
                <c:pt idx="1">
                  <c:v>39</c:v>
                </c:pt>
                <c:pt idx="2">
                  <c:v>35.6</c:v>
                </c:pt>
                <c:pt idx="3">
                  <c:v>12.3</c:v>
                </c:pt>
                <c:pt idx="4">
                  <c:v>30.1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2069128"/>
        <c:axId val="562070112"/>
      </c:lineChart>
      <c:catAx>
        <c:axId val="360731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6800"/>
        <c:crosses val="autoZero"/>
        <c:auto val="1"/>
        <c:lblAlgn val="ctr"/>
        <c:lblOffset val="100"/>
        <c:noMultiLvlLbl val="0"/>
      </c:catAx>
      <c:valAx>
        <c:axId val="36073680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1552"/>
        <c:crosses val="autoZero"/>
        <c:crossBetween val="between"/>
      </c:valAx>
      <c:valAx>
        <c:axId val="562070112"/>
        <c:scaling>
          <c:orientation val="minMax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562069128"/>
        <c:crosses val="max"/>
        <c:crossBetween val="between"/>
        <c:majorUnit val="20"/>
      </c:valAx>
      <c:catAx>
        <c:axId val="5620691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62070112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0D0A15-FC92-4F01-96A1-FB1948B422D4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1D6E6-4813-4D2A-B51F-CD2C0EBAD05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32123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7AD81B74-0088-81CE-4CC2-A316828B1285}"/>
              </a:ext>
            </a:extLst>
          </p:cNvPr>
          <p:cNvSpPr/>
          <p:nvPr userDrawn="1"/>
        </p:nvSpPr>
        <p:spPr>
          <a:xfrm flipH="1">
            <a:off x="0" y="826476"/>
            <a:ext cx="9906000" cy="325523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물결 6">
            <a:extLst>
              <a:ext uri="{FF2B5EF4-FFF2-40B4-BE49-F238E27FC236}">
                <a16:creationId xmlns:a16="http://schemas.microsoft.com/office/drawing/2014/main" id="{DE88A014-E4E8-DB11-7C6B-DBE6799C32F2}"/>
              </a:ext>
            </a:extLst>
          </p:cNvPr>
          <p:cNvSpPr/>
          <p:nvPr userDrawn="1"/>
        </p:nvSpPr>
        <p:spPr>
          <a:xfrm>
            <a:off x="1089804" y="0"/>
            <a:ext cx="7726392" cy="1152000"/>
          </a:xfrm>
          <a:prstGeom prst="wav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0E9410C-53BF-ED51-2608-8DC4A72458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6265307"/>
            <a:ext cx="1479665" cy="54721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2AA3206-5E94-3FD4-94A5-012D62B67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2000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5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데이터 2"/>
          <p:cNvSpPr/>
          <p:nvPr/>
        </p:nvSpPr>
        <p:spPr>
          <a:xfrm>
            <a:off x="4186844" y="0"/>
            <a:ext cx="5719156" cy="6858000"/>
          </a:xfrm>
          <a:prstGeom prst="flowChartInputOutpu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45" y="236947"/>
            <a:ext cx="2181080" cy="80661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655" y="2587800"/>
            <a:ext cx="7274400" cy="1411111"/>
          </a:xfrm>
          <a:effectLst>
            <a:reflection blurRad="6350" stA="52000" endA="300" endPos="35000" dir="5400000" sy="-100000" algn="bl" rotWithShape="0"/>
          </a:effectLst>
        </p:spPr>
        <p:txBody>
          <a:bodyPr>
            <a:prstTxWarp prst="textFadeLeft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5000" endA="50" endPos="85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Children Education</a:t>
            </a:r>
            <a:r>
              <a:rPr lang="ko-KR" altLang="en-US" b="1" dirty="0">
                <a:effectLst>
                  <a:reflection blurRad="6350" stA="55000" endA="50" endPos="85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19" name="화살표: 오른쪽 18"/>
          <p:cNvSpPr/>
          <p:nvPr/>
        </p:nvSpPr>
        <p:spPr>
          <a:xfrm>
            <a:off x="1682147" y="2265875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11701" y="1851307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자녀 교육</a:t>
            </a:r>
          </a:p>
        </p:txBody>
      </p:sp>
      <p:sp>
        <p:nvSpPr>
          <p:cNvPr id="29" name="화살표: 오른쪽 28"/>
          <p:cNvSpPr/>
          <p:nvPr/>
        </p:nvSpPr>
        <p:spPr>
          <a:xfrm>
            <a:off x="1682147" y="4539299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11701" y="4070753"/>
            <a:ext cx="4437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사교육 과목 구성율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4" name="화살표: 오른쪽 33"/>
          <p:cNvSpPr/>
          <p:nvPr/>
        </p:nvSpPr>
        <p:spPr>
          <a:xfrm>
            <a:off x="1682147" y="3404841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11701" y="2948475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학습지 구독</a:t>
            </a:r>
          </a:p>
        </p:txBody>
      </p:sp>
      <p:sp>
        <p:nvSpPr>
          <p:cNvPr id="39" name="화살표: 오른쪽 38"/>
          <p:cNvSpPr/>
          <p:nvPr/>
        </p:nvSpPr>
        <p:spPr>
          <a:xfrm>
            <a:off x="1682147" y="5673498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03388" y="5241652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변화하는 교육 트렌드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298" b="67465"/>
          <a:stretch/>
        </p:blipFill>
        <p:spPr>
          <a:xfrm>
            <a:off x="7369955" y="1690478"/>
            <a:ext cx="1999172" cy="1775694"/>
          </a:xfrm>
          <a:prstGeom prst="rect">
            <a:avLst/>
          </a:prstGeom>
        </p:spPr>
      </p:pic>
      <p:sp>
        <p:nvSpPr>
          <p:cNvPr id="3" name="사다리꼴 2"/>
          <p:cNvSpPr/>
          <p:nvPr/>
        </p:nvSpPr>
        <p:spPr>
          <a:xfrm>
            <a:off x="998395" y="1815415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A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사다리꼴 27"/>
          <p:cNvSpPr/>
          <p:nvPr/>
        </p:nvSpPr>
        <p:spPr>
          <a:xfrm>
            <a:off x="998395" y="4088267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C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사다리꼴 32"/>
          <p:cNvSpPr/>
          <p:nvPr/>
        </p:nvSpPr>
        <p:spPr>
          <a:xfrm>
            <a:off x="998395" y="2954148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B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8" name="사다리꼴 37"/>
          <p:cNvSpPr/>
          <p:nvPr/>
        </p:nvSpPr>
        <p:spPr>
          <a:xfrm>
            <a:off x="998395" y="5222386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D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A. </a:t>
            </a:r>
            <a:r>
              <a:rPr lang="ko-KR" altLang="en-US" dirty="0"/>
              <a:t>자녀 교육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44147" y="1538968"/>
            <a:ext cx="8336984" cy="2151063"/>
          </a:xfrm>
          <a:prstGeom prst="rect">
            <a:avLst/>
          </a:prstGeom>
        </p:spPr>
        <p:txBody>
          <a:bodyPr/>
          <a:lstStyle/>
          <a:p>
            <a:pPr marL="355600" indent="-355600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Children education</a:t>
            </a:r>
          </a:p>
          <a:p>
            <a:pPr marL="719138" lvl="1" indent="-352425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Children education develops humanity formation and social adaptability as a social being</a:t>
            </a:r>
          </a:p>
          <a:p>
            <a:pPr marL="719138" lvl="1" indent="-352425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These include personality traits and knowledge transfer</a:t>
            </a:r>
            <a:endParaRPr lang="ko-KR" altLang="en-US" sz="2000" dirty="0">
              <a:solidFill>
                <a:prstClr val="black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444147" y="3916459"/>
            <a:ext cx="6911000" cy="2033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자녀 교육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719138" lvl="1" indent="-344488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교육은 자녀를 사회적 존재로서 인간성 형성과 사회 적응성을 기르는 데 중점을 두고 있으며 여기에는 성격 특성과 지식 전달을 포함하고 있음</a:t>
            </a:r>
            <a:endParaRPr lang="en-US" altLang="ko-KR" sz="2000" dirty="0">
              <a:solidFill>
                <a:prstClr val="black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96844" y="4516874"/>
            <a:ext cx="1981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cs typeface="+mn-cs"/>
              </a:rPr>
              <a:t>B. </a:t>
            </a:r>
            <a:r>
              <a:rPr lang="ko-KR" altLang="en-US" dirty="0">
                <a:cs typeface="+mn-cs"/>
              </a:rPr>
              <a:t>학습지 구독</a:t>
            </a:r>
            <a:endParaRPr lang="ko-KR" altLang="en-US" dirty="0"/>
          </a:p>
        </p:txBody>
      </p:sp>
      <p:sp>
        <p:nvSpPr>
          <p:cNvPr id="9" name="한쪽 모서리가 잘린 사각형 6">
            <a:extLst>
              <a:ext uri="{FF2B5EF4-FFF2-40B4-BE49-F238E27FC236}">
                <a16:creationId xmlns:a16="http://schemas.microsoft.com/office/drawing/2014/main" id="{8087F8E9-02A7-4507-A6C3-46C9BD3C567C}"/>
              </a:ext>
            </a:extLst>
          </p:cNvPr>
          <p:cNvSpPr/>
          <p:nvPr/>
        </p:nvSpPr>
        <p:spPr>
          <a:xfrm>
            <a:off x="1652364" y="1536126"/>
            <a:ext cx="2595600" cy="842962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한쪽 모서리가 잘린 사각형 7">
            <a:extLst>
              <a:ext uri="{FF2B5EF4-FFF2-40B4-BE49-F238E27FC236}">
                <a16:creationId xmlns:a16="http://schemas.microsoft.com/office/drawing/2014/main" id="{9B2A0D7D-A0EC-4605-946B-5D11163ABCF6}"/>
              </a:ext>
            </a:extLst>
          </p:cNvPr>
          <p:cNvSpPr/>
          <p:nvPr/>
        </p:nvSpPr>
        <p:spPr>
          <a:xfrm>
            <a:off x="4238445" y="1536126"/>
            <a:ext cx="2595600" cy="842962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1" name="한쪽 모서리가 잘린 사각형 8">
            <a:extLst>
              <a:ext uri="{FF2B5EF4-FFF2-40B4-BE49-F238E27FC236}">
                <a16:creationId xmlns:a16="http://schemas.microsoft.com/office/drawing/2014/main" id="{0AEBD14B-B30D-4D33-8BEB-F70F9E96BEBA}"/>
              </a:ext>
            </a:extLst>
          </p:cNvPr>
          <p:cNvSpPr/>
          <p:nvPr/>
        </p:nvSpPr>
        <p:spPr>
          <a:xfrm>
            <a:off x="6824222" y="1536126"/>
            <a:ext cx="2595600" cy="842962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" name="순서도: 지연 11">
            <a:extLst>
              <a:ext uri="{FF2B5EF4-FFF2-40B4-BE49-F238E27FC236}">
                <a16:creationId xmlns:a16="http://schemas.microsoft.com/office/drawing/2014/main" id="{D0239B3D-E6FB-4DAD-BC48-2CF1D55D21F5}"/>
              </a:ext>
            </a:extLst>
          </p:cNvPr>
          <p:cNvSpPr/>
          <p:nvPr/>
        </p:nvSpPr>
        <p:spPr>
          <a:xfrm>
            <a:off x="1652364" y="1536125"/>
            <a:ext cx="1952917" cy="844089"/>
          </a:xfrm>
          <a:prstGeom prst="flowChartDelay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사유</a:t>
            </a:r>
          </a:p>
        </p:txBody>
      </p:sp>
      <p:sp>
        <p:nvSpPr>
          <p:cNvPr id="13" name="순서도: 지연 12">
            <a:extLst>
              <a:ext uri="{FF2B5EF4-FFF2-40B4-BE49-F238E27FC236}">
                <a16:creationId xmlns:a16="http://schemas.microsoft.com/office/drawing/2014/main" id="{CD39E153-3ACE-4D80-9611-E147BEF857B9}"/>
              </a:ext>
            </a:extLst>
          </p:cNvPr>
          <p:cNvSpPr/>
          <p:nvPr/>
        </p:nvSpPr>
        <p:spPr>
          <a:xfrm>
            <a:off x="4238445" y="1536125"/>
            <a:ext cx="1952917" cy="844089"/>
          </a:xfrm>
          <a:prstGeom prst="flowChartDelay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관심 분야</a:t>
            </a:r>
          </a:p>
        </p:txBody>
      </p:sp>
      <p:sp>
        <p:nvSpPr>
          <p:cNvPr id="14" name="순서도: 지연 13">
            <a:extLst>
              <a:ext uri="{FF2B5EF4-FFF2-40B4-BE49-F238E27FC236}">
                <a16:creationId xmlns:a16="http://schemas.microsoft.com/office/drawing/2014/main" id="{FD367D93-0C68-429B-A433-9D0381AE5ECD}"/>
              </a:ext>
            </a:extLst>
          </p:cNvPr>
          <p:cNvSpPr/>
          <p:nvPr/>
        </p:nvSpPr>
        <p:spPr>
          <a:xfrm>
            <a:off x="6824222" y="1536125"/>
            <a:ext cx="1952917" cy="844089"/>
          </a:xfrm>
          <a:prstGeom prst="flowChartDelay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비고</a:t>
            </a:r>
          </a:p>
        </p:txBody>
      </p:sp>
      <p:sp>
        <p:nvSpPr>
          <p:cNvPr id="15" name="오각형 12">
            <a:extLst>
              <a:ext uri="{FF2B5EF4-FFF2-40B4-BE49-F238E27FC236}">
                <a16:creationId xmlns:a16="http://schemas.microsoft.com/office/drawing/2014/main" id="{77050217-396B-4D79-83D2-B08A5E952EA6}"/>
              </a:ext>
            </a:extLst>
          </p:cNvPr>
          <p:cNvSpPr/>
          <p:nvPr/>
        </p:nvSpPr>
        <p:spPr>
          <a:xfrm flipH="1">
            <a:off x="509219" y="2369631"/>
            <a:ext cx="1143008" cy="1171556"/>
          </a:xfrm>
          <a:prstGeom prst="flowChartDocumen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미취학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자녀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6" name="오각형 14">
            <a:extLst>
              <a:ext uri="{FF2B5EF4-FFF2-40B4-BE49-F238E27FC236}">
                <a16:creationId xmlns:a16="http://schemas.microsoft.com/office/drawing/2014/main" id="{9011564F-F957-448A-951A-AD5CAA892458}"/>
              </a:ext>
            </a:extLst>
          </p:cNvPr>
          <p:cNvSpPr/>
          <p:nvPr/>
        </p:nvSpPr>
        <p:spPr>
          <a:xfrm flipH="1">
            <a:off x="509216" y="4742077"/>
            <a:ext cx="1143009" cy="1180197"/>
          </a:xfrm>
          <a:prstGeom prst="flowChartDocumen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미구독</a:t>
            </a:r>
          </a:p>
        </p:txBody>
      </p:sp>
      <p:sp>
        <p:nvSpPr>
          <p:cNvPr id="17" name="오각형 17">
            <a:extLst>
              <a:ext uri="{FF2B5EF4-FFF2-40B4-BE49-F238E27FC236}">
                <a16:creationId xmlns:a16="http://schemas.microsoft.com/office/drawing/2014/main" id="{85C30C28-AEC0-4A43-9320-4D0E50E3A893}"/>
              </a:ext>
            </a:extLst>
          </p:cNvPr>
          <p:cNvSpPr/>
          <p:nvPr/>
        </p:nvSpPr>
        <p:spPr>
          <a:xfrm flipH="1">
            <a:off x="509219" y="3551489"/>
            <a:ext cx="1143008" cy="1183436"/>
          </a:xfrm>
          <a:prstGeom prst="flowChartDocumen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초등생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자녀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9CB352A-EDBE-4FC2-96CC-BAA4DBC177D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66196738"/>
              </p:ext>
            </p:extLst>
          </p:nvPr>
        </p:nvGraphicFramePr>
        <p:xfrm>
          <a:off x="1647052" y="2378075"/>
          <a:ext cx="7778385" cy="3552687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592795">
                  <a:extLst>
                    <a:ext uri="{9D8B030D-6E8A-4147-A177-3AD203B41FA5}">
                      <a16:colId xmlns:a16="http://schemas.microsoft.com/office/drawing/2014/main" val="2146560551"/>
                    </a:ext>
                  </a:extLst>
                </a:gridCol>
                <a:gridCol w="2592795">
                  <a:extLst>
                    <a:ext uri="{9D8B030D-6E8A-4147-A177-3AD203B41FA5}">
                      <a16:colId xmlns:a16="http://schemas.microsoft.com/office/drawing/2014/main" val="380537234"/>
                    </a:ext>
                  </a:extLst>
                </a:gridCol>
                <a:gridCol w="2592795">
                  <a:extLst>
                    <a:ext uri="{9D8B030D-6E8A-4147-A177-3AD203B41FA5}">
                      <a16:colId xmlns:a16="http://schemas.microsoft.com/office/drawing/2014/main" val="2204403766"/>
                    </a:ext>
                  </a:extLst>
                </a:gridCol>
              </a:tblGrid>
              <a:tr h="11846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방문교사 신뢰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학습 효과가 있어서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한글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놀이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정서 발달 관련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브랜드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출판사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반복 학습의 효과성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68742"/>
                  </a:ext>
                </a:extLst>
              </a:tr>
              <a:tr h="11840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특정 내용의 보충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자녀가 배우고 싶어서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인지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논리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수리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외국어 관련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프로그램의 과학성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교재 구성의 세밀함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15507"/>
                  </a:ext>
                </a:extLst>
              </a:tr>
              <a:tr h="1184002">
                <a:tc gridSpan="2"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다른 대체 교육 활용</a:t>
                      </a:r>
                      <a:r>
                        <a:rPr lang="en-US" altLang="ko-KR" sz="1800" baseline="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baseline="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부모의 직접 교육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불확실한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</a:t>
                      </a: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신뢰도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22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C. </a:t>
            </a:r>
            <a:r>
              <a:rPr lang="ko-KR" altLang="en-US" dirty="0"/>
              <a:t>사교육 과목 구성율</a:t>
            </a:r>
          </a:p>
        </p:txBody>
      </p:sp>
      <p:graphicFrame>
        <p:nvGraphicFramePr>
          <p:cNvPr id="11" name="내용 개체 틀 10">
            <a:extLst>
              <a:ext uri="{FF2B5EF4-FFF2-40B4-BE49-F238E27FC236}">
                <a16:creationId xmlns:a16="http://schemas.microsoft.com/office/drawing/2014/main" id="{09D0E751-55A6-4253-AA03-647E97BCEA5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40503882"/>
              </p:ext>
            </p:extLst>
          </p:nvPr>
        </p:nvGraphicFramePr>
        <p:xfrm>
          <a:off x="681038" y="1539784"/>
          <a:ext cx="8543925" cy="4672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53F0560-EF9A-46CD-8450-DB2869120613}"/>
              </a:ext>
            </a:extLst>
          </p:cNvPr>
          <p:cNvSpPr/>
          <p:nvPr/>
        </p:nvSpPr>
        <p:spPr>
          <a:xfrm>
            <a:off x="3389122" y="2333738"/>
            <a:ext cx="2662207" cy="521590"/>
          </a:xfrm>
          <a:prstGeom prst="wedgeRoundRectCallout">
            <a:avLst>
              <a:gd name="adj1" fmla="val -61207"/>
              <a:gd name="adj2" fmla="val -2337"/>
              <a:gd name="adj3" fmla="val 16667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국어 과목 상대적 우위</a:t>
            </a:r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365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834</TotalTime>
  <Words>142</Words>
  <Application>Microsoft Office PowerPoint</Application>
  <PresentationFormat>A4 용지(210x297mm)</PresentationFormat>
  <Paragraphs>48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궁서</vt:lpstr>
      <vt:lpstr>돋움</vt:lpstr>
      <vt:lpstr>맑은 고딕</vt:lpstr>
      <vt:lpstr>Arial</vt:lpstr>
      <vt:lpstr>Calibri</vt:lpstr>
      <vt:lpstr>Wingdings</vt:lpstr>
      <vt:lpstr>Office 테마</vt:lpstr>
      <vt:lpstr>Children Education </vt:lpstr>
      <vt:lpstr>목차</vt:lpstr>
      <vt:lpstr>A. 자녀 교육</vt:lpstr>
      <vt:lpstr>B. 학습지 구독</vt:lpstr>
      <vt:lpstr>C. 사교육 과목 구성율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131</cp:revision>
  <cp:lastPrinted>2023-03-18T02:07:20Z</cp:lastPrinted>
  <dcterms:created xsi:type="dcterms:W3CDTF">2019-10-10T08:42:01Z</dcterms:created>
  <dcterms:modified xsi:type="dcterms:W3CDTF">2024-02-02T09:09:48Z</dcterms:modified>
</cp:coreProperties>
</file>