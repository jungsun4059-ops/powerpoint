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0" autoAdjust="0"/>
    <p:restoredTop sz="94660"/>
  </p:normalViewPr>
  <p:slideViewPr>
    <p:cSldViewPr snapToGrid="0">
      <p:cViewPr>
        <p:scale>
          <a:sx n="100" d="100"/>
          <a:sy n="100" d="100"/>
        </p:scale>
        <p:origin x="13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VR 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및 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MR 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시장규모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단위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:</a:t>
            </a:r>
            <a:r>
              <a:rPr lang="ko-KR" altLang="en-US" sz="2400" b="1">
                <a:latin typeface="궁서" panose="02030600000101010101" pitchFamily="18" charset="-127"/>
                <a:ea typeface="궁서" panose="02030600000101010101" pitchFamily="18" charset="-127"/>
              </a:rPr>
              <a:t>억원</a:t>
            </a:r>
            <a:r>
              <a:rPr lang="en-US" alt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)</a:t>
            </a:r>
            <a:endParaRPr lang="ko-KR" altLang="en-US" sz="2400" b="1"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 w="9525"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2014년</c:v>
                </c:pt>
                <c:pt idx="1">
                  <c:v>2015년</c:v>
                </c:pt>
                <c:pt idx="2">
                  <c:v>2016년</c:v>
                </c:pt>
                <c:pt idx="3">
                  <c:v>2017년</c:v>
                </c:pt>
                <c:pt idx="4">
                  <c:v>2018년</c:v>
                </c:pt>
              </c:strCache>
            </c:strRef>
          </c:cat>
          <c:val>
            <c:numRef>
              <c:f>Sheet1!$B$2:$F$2</c:f>
              <c:numCache>
                <c:formatCode>#,##0_ </c:formatCode>
                <c:ptCount val="5"/>
                <c:pt idx="0">
                  <c:v>20340</c:v>
                </c:pt>
                <c:pt idx="1">
                  <c:v>41000</c:v>
                </c:pt>
                <c:pt idx="2">
                  <c:v>74000</c:v>
                </c:pt>
                <c:pt idx="3">
                  <c:v>133000</c:v>
                </c:pt>
                <c:pt idx="4">
                  <c:v>240000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38-44C0-88FA-F2E75CE60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19414608"/>
        <c:axId val="96010824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MR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12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4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2C6-45B1-9327-724F83263E6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2014년</c:v>
                </c:pt>
                <c:pt idx="1">
                  <c:v>2015년</c:v>
                </c:pt>
                <c:pt idx="2">
                  <c:v>2016년</c:v>
                </c:pt>
                <c:pt idx="3">
                  <c:v>2017년</c:v>
                </c:pt>
                <c:pt idx="4">
                  <c:v>2018년</c:v>
                </c:pt>
              </c:strCache>
            </c:strRef>
          </c:cat>
          <c:val>
            <c:numRef>
              <c:f>Sheet1!$B$3:$F$3</c:f>
              <c:numCache>
                <c:formatCode>#,##0_ </c:formatCode>
                <c:ptCount val="5"/>
                <c:pt idx="0">
                  <c:v>2015</c:v>
                </c:pt>
                <c:pt idx="1">
                  <c:v>4500</c:v>
                </c:pt>
                <c:pt idx="2">
                  <c:v>7792</c:v>
                </c:pt>
                <c:pt idx="3">
                  <c:v>13226</c:v>
                </c:pt>
                <c:pt idx="4">
                  <c:v>22451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38-44C0-88FA-F2E75CE60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4407215"/>
        <c:axId val="1793003215"/>
      </c:lineChart>
      <c:catAx>
        <c:axId val="101941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960108240"/>
        <c:crosses val="autoZero"/>
        <c:auto val="1"/>
        <c:lblAlgn val="ctr"/>
        <c:lblOffset val="100"/>
        <c:noMultiLvlLbl val="0"/>
      </c:catAx>
      <c:valAx>
        <c:axId val="960108240"/>
        <c:scaling>
          <c:orientation val="minMax"/>
        </c:scaling>
        <c:delete val="0"/>
        <c:axPos val="l"/>
        <c:numFmt formatCode="#,##0_ 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1019414608"/>
        <c:crosses val="autoZero"/>
        <c:crossBetween val="between"/>
      </c:valAx>
      <c:valAx>
        <c:axId val="1793003215"/>
        <c:scaling>
          <c:orientation val="minMax"/>
          <c:max val="30000"/>
        </c:scaling>
        <c:delete val="0"/>
        <c:axPos val="r"/>
        <c:numFmt formatCode="#,##0_ 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1564407215"/>
        <c:crosses val="max"/>
        <c:crossBetween val="between"/>
        <c:majorUnit val="10000"/>
      </c:valAx>
      <c:catAx>
        <c:axId val="15644072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93003215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>
        <a:alpha val="93000"/>
      </a:srgbClr>
    </a:solidFill>
    <a:ln w="9525"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0.36102</cdr:x>
      <cdr:y>0.19512</cdr:y>
    </cdr:from>
    <cdr:to>
      <cdr:x>0.62635</cdr:x>
      <cdr:y>0.36848</cdr:y>
    </cdr:to>
    <cdr:sp macro="" textlink="">
      <cdr:nvSpPr>
        <cdr:cNvPr id="2" name="화살표: 오른쪽 1">
          <a:extLst xmlns:a="http://schemas.openxmlformats.org/drawingml/2006/main">
            <a:ext uri="{FF2B5EF4-FFF2-40B4-BE49-F238E27FC236}">
              <a16:creationId xmlns:a16="http://schemas.microsoft.com/office/drawing/2014/main" id="{03880632-3FDB-124E-39CC-FD3388924913}"/>
            </a:ext>
          </a:extLst>
        </cdr:cNvPr>
        <cdr:cNvSpPr/>
      </cdr:nvSpPr>
      <cdr:spPr>
        <a:xfrm xmlns:a="http://schemas.openxmlformats.org/drawingml/2006/main">
          <a:off x="3084512" y="849051"/>
          <a:ext cx="2266950" cy="754324"/>
        </a:xfrm>
        <a:prstGeom xmlns:a="http://schemas.openxmlformats.org/drawingml/2006/main" prst="rightArrow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2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ctr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지속적 성장세</a:t>
          </a:r>
          <a:endParaRPr lang="ko-KR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  목차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8" name="사각형: 잘린 한쪽 모서리 7">
            <a:extLst>
              <a:ext uri="{FF2B5EF4-FFF2-40B4-BE49-F238E27FC236}">
                <a16:creationId xmlns:a16="http://schemas.microsoft.com/office/drawing/2014/main" id="{DCD2DFE2-CE4A-9A9F-5C44-6F409BD87D80}"/>
              </a:ext>
            </a:extLst>
          </p:cNvPr>
          <p:cNvSpPr/>
          <p:nvPr/>
        </p:nvSpPr>
        <p:spPr>
          <a:xfrm>
            <a:off x="2566800" y="1789200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Ⅰ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74BA44-EBD6-1F52-B131-8EB65C54CCEE}"/>
              </a:ext>
            </a:extLst>
          </p:cNvPr>
          <p:cNvSpPr/>
          <p:nvPr/>
        </p:nvSpPr>
        <p:spPr>
          <a:xfrm>
            <a:off x="3981600" y="2250000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F6238-7614-0A9C-20D8-E40825D7FE43}"/>
              </a:ext>
            </a:extLst>
          </p:cNvPr>
          <p:cNvSpPr txBox="1"/>
          <p:nvPr/>
        </p:nvSpPr>
        <p:spPr>
          <a:xfrm>
            <a:off x="4089400" y="1789200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(MR)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이란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5" name="사각형: 잘린 한쪽 모서리 44">
            <a:extLst>
              <a:ext uri="{FF2B5EF4-FFF2-40B4-BE49-F238E27FC236}">
                <a16:creationId xmlns:a16="http://schemas.microsoft.com/office/drawing/2014/main" id="{ABCA6D75-D313-1220-016B-8D90C77EC69F}"/>
              </a:ext>
            </a:extLst>
          </p:cNvPr>
          <p:cNvSpPr/>
          <p:nvPr/>
        </p:nvSpPr>
        <p:spPr>
          <a:xfrm>
            <a:off x="2566800" y="2888064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Ⅱ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262D27F-97E3-3319-6A10-E0620C665B32}"/>
              </a:ext>
            </a:extLst>
          </p:cNvPr>
          <p:cNvSpPr/>
          <p:nvPr/>
        </p:nvSpPr>
        <p:spPr>
          <a:xfrm>
            <a:off x="3981600" y="3348864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3AF90C-AD6A-8C06-F0BF-B00EF70798A2}"/>
              </a:ext>
            </a:extLst>
          </p:cNvPr>
          <p:cNvSpPr txBox="1"/>
          <p:nvPr/>
        </p:nvSpPr>
        <p:spPr>
          <a:xfrm>
            <a:off x="4089400" y="2888064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VR, AR, 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기술 비교</a:t>
            </a:r>
          </a:p>
        </p:txBody>
      </p:sp>
      <p:sp>
        <p:nvSpPr>
          <p:cNvPr id="48" name="사각형: 잘린 한쪽 모서리 47">
            <a:extLst>
              <a:ext uri="{FF2B5EF4-FFF2-40B4-BE49-F238E27FC236}">
                <a16:creationId xmlns:a16="http://schemas.microsoft.com/office/drawing/2014/main" id="{29227316-2C62-6CE1-4E94-5232C0549EFA}"/>
              </a:ext>
            </a:extLst>
          </p:cNvPr>
          <p:cNvSpPr/>
          <p:nvPr/>
        </p:nvSpPr>
        <p:spPr>
          <a:xfrm>
            <a:off x="2566800" y="3986928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Ⅲ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D507D0-04E3-1EBD-BE4D-D95942EA7967}"/>
              </a:ext>
            </a:extLst>
          </p:cNvPr>
          <p:cNvSpPr/>
          <p:nvPr/>
        </p:nvSpPr>
        <p:spPr>
          <a:xfrm>
            <a:off x="3981600" y="4447728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291386-EE91-A3AE-15ED-4346CFD8FAA4}"/>
              </a:ext>
            </a:extLst>
          </p:cNvPr>
          <p:cNvSpPr txBox="1"/>
          <p:nvPr/>
        </p:nvSpPr>
        <p:spPr>
          <a:xfrm>
            <a:off x="4089400" y="3986928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글로벌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VR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및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MR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시장규모</a:t>
            </a:r>
          </a:p>
        </p:txBody>
      </p:sp>
      <p:sp>
        <p:nvSpPr>
          <p:cNvPr id="51" name="사각형: 잘린 한쪽 모서리 50">
            <a:extLst>
              <a:ext uri="{FF2B5EF4-FFF2-40B4-BE49-F238E27FC236}">
                <a16:creationId xmlns:a16="http://schemas.microsoft.com/office/drawing/2014/main" id="{DADFF4F5-30E8-DF4F-E0CE-5E1E0632C24F}"/>
              </a:ext>
            </a:extLst>
          </p:cNvPr>
          <p:cNvSpPr/>
          <p:nvPr/>
        </p:nvSpPr>
        <p:spPr>
          <a:xfrm>
            <a:off x="2566800" y="5085792"/>
            <a:ext cx="1414800" cy="640800"/>
          </a:xfrm>
          <a:prstGeom prst="snip1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Ⅳ</a:t>
            </a:r>
            <a:endParaRPr lang="ko-KR" altLang="en-US" sz="240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B23E5F5-F019-E9CC-474A-95C5616CC7AF}"/>
              </a:ext>
            </a:extLst>
          </p:cNvPr>
          <p:cNvSpPr/>
          <p:nvPr/>
        </p:nvSpPr>
        <p:spPr>
          <a:xfrm>
            <a:off x="3981600" y="5546592"/>
            <a:ext cx="4363200" cy="180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6E111B-06B4-10C3-1FA2-7EC4AC9AE7B7}"/>
              </a:ext>
            </a:extLst>
          </p:cNvPr>
          <p:cNvSpPr txBox="1"/>
          <p:nvPr/>
        </p:nvSpPr>
        <p:spPr>
          <a:xfrm>
            <a:off x="4089400" y="5085792"/>
            <a:ext cx="425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혼합현실 이해와 기술사례</a:t>
            </a:r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B373F6-7FE7-298D-CD2E-1A35F2DC58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t="5970" r="58703" b="73597"/>
          <a:stretch/>
        </p:blipFill>
        <p:spPr>
          <a:xfrm>
            <a:off x="560717" y="4447729"/>
            <a:ext cx="1624502" cy="127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Ⅰ. </a:t>
            </a:r>
            <a:r>
              <a:rPr lang="ko-KR" altLang="en-US"/>
              <a:t>혼합현실</a:t>
            </a:r>
            <a:r>
              <a:rPr lang="en-US" altLang="ko-KR"/>
              <a:t>(MR)</a:t>
            </a:r>
            <a:r>
              <a:rPr lang="ko-KR" altLang="en-US"/>
              <a:t>이란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1560251"/>
            <a:ext cx="8543925" cy="2193925"/>
          </a:xfrm>
        </p:spPr>
        <p:txBody>
          <a:bodyPr>
            <a:noAutofit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>
                <a:latin typeface="굴림" panose="020B0600000101010101" pitchFamily="50" charset="-127"/>
                <a:ea typeface="굴림" panose="020B0600000101010101" pitchFamily="50" charset="-127"/>
              </a:rPr>
              <a:t>Mixed Reality(MR)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reality created by mixing various methods</a:t>
            </a: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A word that refers to all the ways that exist between reality, virtual reality(VR) and augmented reality(AR)</a:t>
            </a:r>
            <a:endParaRPr lang="ko-KR" altLang="en-US" sz="20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3A12C3-3255-1BEA-C38F-100FA280D542}"/>
              </a:ext>
            </a:extLst>
          </p:cNvPr>
          <p:cNvSpPr txBox="1">
            <a:spLocks/>
          </p:cNvSpPr>
          <p:nvPr/>
        </p:nvSpPr>
        <p:spPr>
          <a:xfrm>
            <a:off x="681038" y="3919538"/>
            <a:ext cx="6919911" cy="21939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>
                <a:latin typeface="굴림" panose="020B0600000101010101" pitchFamily="50" charset="-127"/>
                <a:ea typeface="굴림" panose="020B0600000101010101" pitchFamily="50" charset="-127"/>
              </a:rPr>
              <a:t>혼합현실</a:t>
            </a:r>
            <a:endParaRPr lang="en-US" altLang="ko-KR" sz="2400" b="1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809625" lvl="1" indent="-3524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다양한 방식을 혼합해 만들어낸 현실로 현실과 가상현실</a:t>
            </a: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증강현실 사이에 존재할 수 있는 모든 방식을 통틀어 일컫는 말</a:t>
            </a:r>
          </a:p>
        </p:txBody>
      </p:sp>
      <p:pic>
        <p:nvPicPr>
          <p:cNvPr id="7" name="동영상">
            <a:hlinkClick r:id="" action="ppaction://media"/>
            <a:extLst>
              <a:ext uri="{FF2B5EF4-FFF2-40B4-BE49-F238E27FC236}">
                <a16:creationId xmlns:a16="http://schemas.microsoft.com/office/drawing/2014/main" id="{B03FB3DE-F142-C1BC-74F0-CF45168B8B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81341" y="4410075"/>
            <a:ext cx="1891258" cy="145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Ⅱ. VR, AR, MR </a:t>
            </a:r>
            <a:r>
              <a:rPr lang="ko-KR" altLang="en-US"/>
              <a:t>기술 비교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10940A5-9480-8A28-223B-5A3C6226D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085303"/>
              </p:ext>
            </p:extLst>
          </p:nvPr>
        </p:nvGraphicFramePr>
        <p:xfrm>
          <a:off x="1666875" y="2343150"/>
          <a:ext cx="7658100" cy="375285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26687207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74588730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605185899"/>
                    </a:ext>
                  </a:extLst>
                </a:gridCol>
              </a:tblGrid>
              <a:tr h="13957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세계를 차단하고 디지털 환경만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정보 위에 가상 정보를 업혀서 보여주는 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 정보 기반에 가상 정보를 융합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39021"/>
                  </a:ext>
                </a:extLst>
              </a:tr>
              <a:tr h="1178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뛰어남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우수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사실감</a:t>
                      </a:r>
                      <a:r>
                        <a:rPr lang="en-US" altLang="ko-KR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극대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795179"/>
                  </a:ext>
                </a:extLst>
              </a:tr>
              <a:tr h="117853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현실과 상호작용 약함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시야와 정보 분리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몰입감 떨어짐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데이터의 대용량</a:t>
                      </a:r>
                      <a:endParaRPr lang="en-US" altLang="ko-KR" sz="180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장비나 기술적 제약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573447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387CD04-B37A-301C-F57C-562C0FE10C04}"/>
              </a:ext>
            </a:extLst>
          </p:cNvPr>
          <p:cNvGrpSpPr/>
          <p:nvPr/>
        </p:nvGrpSpPr>
        <p:grpSpPr>
          <a:xfrm>
            <a:off x="1666875" y="1419225"/>
            <a:ext cx="2557462" cy="923925"/>
            <a:chOff x="1666875" y="1419225"/>
            <a:chExt cx="2543175" cy="923925"/>
          </a:xfrm>
        </p:grpSpPr>
        <p:sp>
          <p:nvSpPr>
            <p:cNvPr id="6" name="사각형: 잘린 한쪽 모서리 5">
              <a:extLst>
                <a:ext uri="{FF2B5EF4-FFF2-40B4-BE49-F238E27FC236}">
                  <a16:creationId xmlns:a16="http://schemas.microsoft.com/office/drawing/2014/main" id="{FEF59EC1-5EFB-956D-D020-021BE2A108F6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십자형 8">
              <a:extLst>
                <a:ext uri="{FF2B5EF4-FFF2-40B4-BE49-F238E27FC236}">
                  <a16:creationId xmlns:a16="http://schemas.microsoft.com/office/drawing/2014/main" id="{C711AFC1-D55E-2E97-46E5-48F720A6D3C1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가상현실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(VR)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C54C620-6EDF-D612-B9F2-35F3979339C7}"/>
              </a:ext>
            </a:extLst>
          </p:cNvPr>
          <p:cNvGrpSpPr/>
          <p:nvPr/>
        </p:nvGrpSpPr>
        <p:grpSpPr>
          <a:xfrm>
            <a:off x="4224337" y="1419225"/>
            <a:ext cx="2543175" cy="923925"/>
            <a:chOff x="1666875" y="1419225"/>
            <a:chExt cx="2543175" cy="923925"/>
          </a:xfrm>
        </p:grpSpPr>
        <p:sp>
          <p:nvSpPr>
            <p:cNvPr id="32" name="사각형: 잘린 한쪽 모서리 31">
              <a:extLst>
                <a:ext uri="{FF2B5EF4-FFF2-40B4-BE49-F238E27FC236}">
                  <a16:creationId xmlns:a16="http://schemas.microsoft.com/office/drawing/2014/main" id="{5D8C52E7-3386-F371-BA79-E7C91DCD8C12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십자형 32">
              <a:extLst>
                <a:ext uri="{FF2B5EF4-FFF2-40B4-BE49-F238E27FC236}">
                  <a16:creationId xmlns:a16="http://schemas.microsoft.com/office/drawing/2014/main" id="{2C7C478D-3C05-3899-3D08-725ABDC43802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증강현실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(AR)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346F9F6-90AB-6909-3F5D-FE3F7FE04AF3}"/>
              </a:ext>
            </a:extLst>
          </p:cNvPr>
          <p:cNvGrpSpPr/>
          <p:nvPr/>
        </p:nvGrpSpPr>
        <p:grpSpPr>
          <a:xfrm>
            <a:off x="6767512" y="1419225"/>
            <a:ext cx="2557463" cy="923925"/>
            <a:chOff x="1666875" y="1419225"/>
            <a:chExt cx="2543175" cy="923925"/>
          </a:xfrm>
        </p:grpSpPr>
        <p:sp>
          <p:nvSpPr>
            <p:cNvPr id="35" name="사각형: 잘린 한쪽 모서리 34">
              <a:extLst>
                <a:ext uri="{FF2B5EF4-FFF2-40B4-BE49-F238E27FC236}">
                  <a16:creationId xmlns:a16="http://schemas.microsoft.com/office/drawing/2014/main" id="{F8644F8D-E3AA-55E8-6CFE-3C179564F3AF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snip1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십자형 35">
              <a:extLst>
                <a:ext uri="{FF2B5EF4-FFF2-40B4-BE49-F238E27FC236}">
                  <a16:creationId xmlns:a16="http://schemas.microsoft.com/office/drawing/2014/main" id="{330423F2-B22C-0224-70D1-2D3C3EEA8B9F}"/>
                </a:ext>
              </a:extLst>
            </p:cNvPr>
            <p:cNvSpPr/>
            <p:nvPr/>
          </p:nvSpPr>
          <p:spPr>
            <a:xfrm>
              <a:off x="1666875" y="1419225"/>
              <a:ext cx="2543175" cy="923925"/>
            </a:xfrm>
            <a:prstGeom prst="plu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혼합현실</a:t>
              </a:r>
              <a:r>
                <a:rPr lang="en-US" altLang="ko-KR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(MR)</a:t>
              </a:r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7" name="화살표: 오각형 36">
            <a:extLst>
              <a:ext uri="{FF2B5EF4-FFF2-40B4-BE49-F238E27FC236}">
                <a16:creationId xmlns:a16="http://schemas.microsoft.com/office/drawing/2014/main" id="{59B72147-470E-53AC-72BD-095A0AA53E2A}"/>
              </a:ext>
            </a:extLst>
          </p:cNvPr>
          <p:cNvSpPr/>
          <p:nvPr/>
        </p:nvSpPr>
        <p:spPr>
          <a:xfrm flipH="1">
            <a:off x="352423" y="2343150"/>
            <a:ext cx="1314449" cy="1390650"/>
          </a:xfrm>
          <a:prstGeom prst="homePlate">
            <a:avLst>
              <a:gd name="adj" fmla="val 44203"/>
            </a:avLst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구현</a:t>
            </a:r>
            <a:endParaRPr lang="en-US" altLang="ko-KR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방식</a:t>
            </a:r>
          </a:p>
        </p:txBody>
      </p:sp>
      <p:sp>
        <p:nvSpPr>
          <p:cNvPr id="38" name="화살표: 오각형 37">
            <a:extLst>
              <a:ext uri="{FF2B5EF4-FFF2-40B4-BE49-F238E27FC236}">
                <a16:creationId xmlns:a16="http://schemas.microsoft.com/office/drawing/2014/main" id="{70A0C9D9-DDA2-C8EE-3C5C-55C078BE06AF}"/>
              </a:ext>
            </a:extLst>
          </p:cNvPr>
          <p:cNvSpPr/>
          <p:nvPr/>
        </p:nvSpPr>
        <p:spPr>
          <a:xfrm flipH="1">
            <a:off x="352422" y="3733801"/>
            <a:ext cx="1314449" cy="1181100"/>
          </a:xfrm>
          <a:prstGeom prst="homePlat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장점</a:t>
            </a:r>
          </a:p>
        </p:txBody>
      </p:sp>
      <p:sp>
        <p:nvSpPr>
          <p:cNvPr id="39" name="화살표: 오각형 38">
            <a:extLst>
              <a:ext uri="{FF2B5EF4-FFF2-40B4-BE49-F238E27FC236}">
                <a16:creationId xmlns:a16="http://schemas.microsoft.com/office/drawing/2014/main" id="{4CB6634E-8955-F6B0-D5BA-F66E08169DB5}"/>
              </a:ext>
            </a:extLst>
          </p:cNvPr>
          <p:cNvSpPr/>
          <p:nvPr/>
        </p:nvSpPr>
        <p:spPr>
          <a:xfrm flipH="1">
            <a:off x="352421" y="4914900"/>
            <a:ext cx="1314449" cy="1181100"/>
          </a:xfrm>
          <a:prstGeom prst="homePlate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단점</a:t>
            </a:r>
            <a:endParaRPr lang="en-US" altLang="ko-KR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 Ⅲ. </a:t>
            </a:r>
            <a:r>
              <a:rPr lang="ko-KR" altLang="en-US"/>
              <a:t>글로벌 </a:t>
            </a:r>
            <a:r>
              <a:rPr lang="en-US" altLang="ko-KR"/>
              <a:t>VR </a:t>
            </a:r>
            <a:r>
              <a:rPr lang="ko-KR" altLang="en-US"/>
              <a:t>및 </a:t>
            </a:r>
            <a:r>
              <a:rPr lang="en-US" altLang="ko-KR"/>
              <a:t>MR </a:t>
            </a:r>
            <a:r>
              <a:rPr lang="ko-KR" altLang="en-US"/>
              <a:t>시장규모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9974F648-BF9A-1170-C323-3A2CCB758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859551"/>
              </p:ext>
            </p:extLst>
          </p:nvPr>
        </p:nvGraphicFramePr>
        <p:xfrm>
          <a:off x="681038" y="1475998"/>
          <a:ext cx="8543925" cy="4648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2595</TotalTime>
  <Words>189</Words>
  <Application>Microsoft Office PowerPoint</Application>
  <PresentationFormat>A4 용지(210x297mm)</PresentationFormat>
  <Paragraphs>45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PowerPoint 프레젠테이션</vt:lpstr>
      <vt:lpstr>  목차</vt:lpstr>
      <vt:lpstr>  Ⅰ. 혼합현실(MR)이란?</vt:lpstr>
      <vt:lpstr>  Ⅱ. VR, AR, MR 기술 비교</vt:lpstr>
      <vt:lpstr>  Ⅲ. 글로벌 VR 및 MR 시장규모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9</cp:revision>
  <dcterms:created xsi:type="dcterms:W3CDTF">2023-12-06T01:53:31Z</dcterms:created>
  <dcterms:modified xsi:type="dcterms:W3CDTF">2024-02-01T08:12:41Z</dcterms:modified>
</cp:coreProperties>
</file>