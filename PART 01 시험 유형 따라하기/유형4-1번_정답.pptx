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2" r:id="rId6"/>
    <p:sldId id="265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D0A15-FC92-4F01-96A1-FB1948B422D4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1D6E6-4813-4D2A-B51F-CD2C0EBAD05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212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7AD81B74-0088-81CE-4CC2-A316828B1285}"/>
              </a:ext>
            </a:extLst>
          </p:cNvPr>
          <p:cNvSpPr/>
          <p:nvPr userDrawn="1"/>
        </p:nvSpPr>
        <p:spPr>
          <a:xfrm flipH="1">
            <a:off x="0" y="826476"/>
            <a:ext cx="9906000" cy="325523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물결 6">
            <a:extLst>
              <a:ext uri="{FF2B5EF4-FFF2-40B4-BE49-F238E27FC236}">
                <a16:creationId xmlns:a16="http://schemas.microsoft.com/office/drawing/2014/main" id="{DE88A014-E4E8-DB11-7C6B-DBE6799C32F2}"/>
              </a:ext>
            </a:extLst>
          </p:cNvPr>
          <p:cNvSpPr/>
          <p:nvPr userDrawn="1"/>
        </p:nvSpPr>
        <p:spPr>
          <a:xfrm>
            <a:off x="1089804" y="0"/>
            <a:ext cx="7726392" cy="1152000"/>
          </a:xfrm>
          <a:prstGeom prst="wav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E9410C-53BF-ED51-2608-8DC4A7245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AA3206-5E94-3FD4-94A5-012D62B6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2000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데이터 2"/>
          <p:cNvSpPr/>
          <p:nvPr/>
        </p:nvSpPr>
        <p:spPr>
          <a:xfrm>
            <a:off x="4186844" y="0"/>
            <a:ext cx="5719156" cy="6858000"/>
          </a:xfrm>
          <a:prstGeom prst="flowChartInputOutpu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5" y="236947"/>
            <a:ext cx="2181080" cy="806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655" y="2587800"/>
            <a:ext cx="7274400" cy="1411111"/>
          </a:xfrm>
          <a:effectLst>
            <a:reflection blurRad="6350" stA="52000" endA="300" endPos="35000" dir="5400000" sy="-100000" algn="bl" rotWithShape="0"/>
          </a:effectLst>
        </p:spPr>
        <p:txBody>
          <a:bodyPr>
            <a:prstTxWarp prst="textFadeLeft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  <a:r>
              <a:rPr lang="ko-KR" altLang="en-US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19" name="화살표: 오른쪽 18"/>
          <p:cNvSpPr/>
          <p:nvPr/>
        </p:nvSpPr>
        <p:spPr>
          <a:xfrm>
            <a:off x="1682147" y="2265875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11701" y="1851307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자녀 교육</a:t>
            </a:r>
          </a:p>
        </p:txBody>
      </p:sp>
      <p:sp>
        <p:nvSpPr>
          <p:cNvPr id="29" name="화살표: 오른쪽 28"/>
          <p:cNvSpPr/>
          <p:nvPr/>
        </p:nvSpPr>
        <p:spPr>
          <a:xfrm>
            <a:off x="1682147" y="4539299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1701" y="4070753"/>
            <a:ext cx="443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사교육 과목 구성율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화살표: 오른쪽 33"/>
          <p:cNvSpPr/>
          <p:nvPr/>
        </p:nvSpPr>
        <p:spPr>
          <a:xfrm>
            <a:off x="1682147" y="3404841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11701" y="2948475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학습지 구독</a:t>
            </a:r>
          </a:p>
        </p:txBody>
      </p:sp>
      <p:sp>
        <p:nvSpPr>
          <p:cNvPr id="39" name="화살표: 오른쪽 38"/>
          <p:cNvSpPr/>
          <p:nvPr/>
        </p:nvSpPr>
        <p:spPr>
          <a:xfrm>
            <a:off x="1682147" y="5673498"/>
            <a:ext cx="4925679" cy="25466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03388" y="5241652"/>
            <a:ext cx="4306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변화하는 교육 트렌드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98" b="67465"/>
          <a:stretch/>
        </p:blipFill>
        <p:spPr>
          <a:xfrm>
            <a:off x="7369955" y="1690478"/>
            <a:ext cx="1999172" cy="1775694"/>
          </a:xfrm>
          <a:prstGeom prst="rect">
            <a:avLst/>
          </a:prstGeom>
        </p:spPr>
      </p:pic>
      <p:sp>
        <p:nvSpPr>
          <p:cNvPr id="3" name="사다리꼴 2"/>
          <p:cNvSpPr/>
          <p:nvPr/>
        </p:nvSpPr>
        <p:spPr>
          <a:xfrm>
            <a:off x="998395" y="1815415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사다리꼴 27"/>
          <p:cNvSpPr/>
          <p:nvPr/>
        </p:nvSpPr>
        <p:spPr>
          <a:xfrm>
            <a:off x="998395" y="4088267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사다리꼴 32"/>
          <p:cNvSpPr/>
          <p:nvPr/>
        </p:nvSpPr>
        <p:spPr>
          <a:xfrm>
            <a:off x="998395" y="2954148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B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" name="사다리꼴 37"/>
          <p:cNvSpPr/>
          <p:nvPr/>
        </p:nvSpPr>
        <p:spPr>
          <a:xfrm>
            <a:off x="998395" y="5222386"/>
            <a:ext cx="1408702" cy="642604"/>
          </a:xfrm>
          <a:prstGeom prst="trapezoid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/>
              <a:t>자녀 교육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4147" y="1538968"/>
            <a:ext cx="8336984" cy="2151063"/>
          </a:xfrm>
          <a:prstGeom prst="rect">
            <a:avLst/>
          </a:prstGeom>
        </p:spPr>
        <p:txBody>
          <a:bodyPr/>
          <a:lstStyle/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</a:p>
          <a:p>
            <a:pPr marL="719138" lvl="1" indent="-3524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Children education develops humanity formation and social adaptability as a social being</a:t>
            </a:r>
          </a:p>
          <a:p>
            <a:pPr marL="719138" lvl="1" indent="-352425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These include personality traits and knowledge transfer</a:t>
            </a:r>
            <a:endParaRPr lang="ko-KR" altLang="en-US" sz="2000" dirty="0">
              <a:solidFill>
                <a:prstClr val="black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444147" y="3916459"/>
            <a:ext cx="6911000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돋움" panose="020B0600000101010101" pitchFamily="50" charset="-127"/>
                <a:ea typeface="돋움" panose="020B0600000101010101" pitchFamily="50" charset="-127"/>
              </a:rPr>
              <a:t>자녀 교육</a:t>
            </a:r>
            <a:endParaRPr lang="en-US" altLang="ko-KR" sz="24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719138" lvl="1" indent="-3444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교육은 자녀를 사회적 존재로서 인간성 형성과 사회 적응성을 기르는 데 중점을 두고 있으며 여기에는 성격 특성과 지식 전달을 포함하고 있음</a:t>
            </a:r>
            <a:endParaRPr lang="en-US" altLang="ko-KR" sz="2000" dirty="0">
              <a:solidFill>
                <a:prstClr val="black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96844" y="4516874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B. </a:t>
            </a:r>
            <a:r>
              <a:rPr lang="ko-KR" altLang="en-US" dirty="0">
                <a:cs typeface="+mn-cs"/>
              </a:rPr>
              <a:t>학습지 구독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52364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38445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824222" y="1536126"/>
            <a:ext cx="2595600" cy="842962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순서도: 지연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52364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사유</a:t>
            </a:r>
          </a:p>
        </p:txBody>
      </p:sp>
      <p:sp>
        <p:nvSpPr>
          <p:cNvPr id="13" name="순서도: 지연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238445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관심 분야</a:t>
            </a:r>
          </a:p>
        </p:txBody>
      </p:sp>
      <p:sp>
        <p:nvSpPr>
          <p:cNvPr id="14" name="순서도: 지연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6824222" y="1536125"/>
            <a:ext cx="1952917" cy="844089"/>
          </a:xfrm>
          <a:prstGeom prst="flowChartDelay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비고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509219" y="2369631"/>
            <a:ext cx="1143008" cy="1171556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미취학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자녀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 flipH="1">
            <a:off x="509216" y="4742077"/>
            <a:ext cx="1143009" cy="1180197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미구독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 flipH="1">
            <a:off x="509219" y="3551489"/>
            <a:ext cx="1143008" cy="1183436"/>
          </a:xfrm>
          <a:prstGeom prst="flowChartDocumen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초등생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자녀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6196738"/>
              </p:ext>
            </p:extLst>
          </p:nvPr>
        </p:nvGraphicFramePr>
        <p:xfrm>
          <a:off x="1647052" y="2378075"/>
          <a:ext cx="7778385" cy="355268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592795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1846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방문교사 신뢰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학습 효과가 있어서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한글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놀이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정서 발달 관련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브랜드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출판사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반복 학습의 효과성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1840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특정 내용의 보충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자녀가 배우고 싶어서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인지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논리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수리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외국어 관련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프로그램의 과학성</a:t>
                      </a:r>
                      <a:endParaRPr lang="en-US" altLang="ko-KR" sz="1800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교재 구성의 세밀함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184002"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다른 대체 교육 활용</a:t>
                      </a:r>
                      <a:r>
                        <a:rPr lang="en-US" altLang="ko-KR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baseline="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부모의 직접 교육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불확실한</a:t>
                      </a:r>
                      <a:r>
                        <a:rPr lang="en-US" altLang="ko-KR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 </a:t>
                      </a:r>
                      <a:r>
                        <a:rPr lang="ko-KR" altLang="en-US" sz="1800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신뢰도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6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838</TotalTime>
  <Words>127</Words>
  <Application>Microsoft Office PowerPoint</Application>
  <PresentationFormat>A4 용지(210x297mm)</PresentationFormat>
  <Paragraphs>44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Children Education </vt:lpstr>
      <vt:lpstr>목차</vt:lpstr>
      <vt:lpstr>A. 자녀 교육</vt:lpstr>
      <vt:lpstr>B. 학습지 구독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132</cp:revision>
  <cp:lastPrinted>2023-03-18T02:07:20Z</cp:lastPrinted>
  <dcterms:created xsi:type="dcterms:W3CDTF">2019-10-10T08:42:01Z</dcterms:created>
  <dcterms:modified xsi:type="dcterms:W3CDTF">2024-02-02T09:13:04Z</dcterms:modified>
</cp:coreProperties>
</file>